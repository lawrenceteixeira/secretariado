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2" r:id="rId6"/>
    <p:sldId id="263" r:id="rId7"/>
    <p:sldId id="287" r:id="rId8"/>
    <p:sldId id="260" r:id="rId9"/>
    <p:sldId id="261" r:id="rId10"/>
    <p:sldId id="264" r:id="rId11"/>
    <p:sldId id="265" r:id="rId12"/>
    <p:sldId id="285" r:id="rId13"/>
    <p:sldId id="267" r:id="rId14"/>
    <p:sldId id="286" r:id="rId15"/>
    <p:sldId id="268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0F0E79-115A-476B-8785-1B016EC5114B}" v="2" dt="2026-10-12T22:02:12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7627" autoAdjust="0"/>
  </p:normalViewPr>
  <p:slideViewPr>
    <p:cSldViewPr snapToGrid="0">
      <p:cViewPr varScale="1">
        <p:scale>
          <a:sx n="63" d="100"/>
          <a:sy n="63" d="100"/>
        </p:scale>
        <p:origin x="23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5T10:12:59.265" v="294" actId="47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modSp mod ord modNotesTx">
        <pc:chgData name="Lawrence Teixeira" userId="831f394bc9e513ba" providerId="LiveId" clId="{A77AB589-1CC8-4D5E-A735-B2803AC80452}" dt="2026-10-12T21:49:05.476" v="255"/>
        <pc:sldMkLst>
          <pc:docMk/>
          <pc:sldMk cId="200375111" sldId="263"/>
        </pc:sldMkLst>
        <pc:spChg chg="mod">
          <ac:chgData name="Lawrence Teixeira" userId="831f394bc9e513ba" providerId="LiveId" clId="{A77AB589-1CC8-4D5E-A735-B2803AC80452}" dt="2026-10-12T21:49:05.476" v="255"/>
          <ac:spMkLst>
            <pc:docMk/>
            <pc:sldMk cId="200375111" sldId="263"/>
            <ac:spMk id="13" creationId="{BBD0C58B-2E9A-4FD9-BF0B-12A8971E5749}"/>
          </ac:spMkLst>
        </pc:spChg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</pc:sldChg>
      <pc:sldChg chg="addSp delSp modSp mod">
        <pc:chgData name="Lawrence Teixeira" userId="831f394bc9e513ba" providerId="LiveId" clId="{A77AB589-1CC8-4D5E-A735-B2803AC80452}" dt="2026-10-12T23:25:28.209" v="292" actId="1038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23:25:28.209" v="292" actId="1038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add mod">
          <ac:chgData name="Lawrence Teixeira" userId="831f394bc9e513ba" providerId="LiveId" clId="{A77AB589-1CC8-4D5E-A735-B2803AC80452}" dt="2026-10-12T23:25:08.024" v="285" actId="1076"/>
          <ac:picMkLst>
            <pc:docMk/>
            <pc:sldMk cId="728597549" sldId="267"/>
            <ac:picMk id="17" creationId="{93F64562-DFDF-A1B7-FD62-50E3FF2CEF33}"/>
          </ac:picMkLst>
        </pc:picChg>
        <pc:picChg chg="mod">
          <ac:chgData name="Lawrence Teixeira" userId="831f394bc9e513ba" providerId="LiveId" clId="{A77AB589-1CC8-4D5E-A735-B2803AC80452}" dt="2026-10-12T23:25:22.805" v="287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5T10:12:56.713" v="293" actId="47"/>
        <pc:sldMkLst>
          <pc:docMk/>
          <pc:sldMk cId="1677406876" sldId="269"/>
        </pc:sldMkLst>
      </pc:sldChg>
      <pc:sldChg chg="del">
        <pc:chgData name="Lawrence Teixeira" userId="831f394bc9e513ba" providerId="LiveId" clId="{A77AB589-1CC8-4D5E-A735-B2803AC80452}" dt="2026-10-15T10:12:59.265" v="294" actId="47"/>
        <pc:sldMkLst>
          <pc:docMk/>
          <pc:sldMk cId="1727469967" sldId="270"/>
        </pc:sldMkLst>
      </pc:sldChg>
      <pc:sldChg chg="addSp modSp mod modNotesTx">
        <pc:chgData name="Lawrence Teixeira" userId="831f394bc9e513ba" providerId="LiveId" clId="{A77AB589-1CC8-4D5E-A735-B2803AC80452}" dt="2026-10-12T23:24:25.252" v="277" actId="1076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  <pc:picChg chg="add mod">
          <ac:chgData name="Lawrence Teixeira" userId="831f394bc9e513ba" providerId="LiveId" clId="{A77AB589-1CC8-4D5E-A735-B2803AC80452}" dt="2026-10-12T23:24:25.252" v="277" actId="1076"/>
          <ac:picMkLst>
            <pc:docMk/>
            <pc:sldMk cId="1428649063" sldId="275"/>
            <ac:picMk id="8" creationId="{890CBA5E-FED5-71F8-5472-E2FE042FC341}"/>
          </ac:picMkLst>
        </pc:pic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</pc:sldChg>
      <pc:sldChg chg="modNotesTx">
        <pc:chgData name="Lawrence Teixeira" userId="831f394bc9e513ba" providerId="LiveId" clId="{A77AB589-1CC8-4D5E-A735-B2803AC80452}" dt="2026-10-12T22:02:16.403" v="265" actId="6549"/>
        <pc:sldMkLst>
          <pc:docMk/>
          <pc:sldMk cId="0" sldId="285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  <a:p>
            <a:r>
              <a:t>Coautor do livro CIO &amp; CTO: Excelência Orçamentária, da Brasport.</a:t>
            </a:r>
          </a:p>
          <a:p>
            <a:r>
              <a:t>Contribuiu com três capítulos: IA na Identificação de Tendências e Oportunidades de Redução de Custos; IA na Governança; Transformação Digital e a Evolução do Papel do CIO/CTO.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br>
              <a:rPr lang="pt-BR" dirty="0"/>
            </a:br>
            <a:r>
              <a:rPr lang="en-US" sz="1200" b="1" i="0" kern="1200" dirty="0">
                <a:effectLst/>
              </a:rPr>
              <a:t>Prompt é </a:t>
            </a:r>
            <a:r>
              <a:rPr lang="en-US" sz="1200" b="1" i="0" kern="1200" dirty="0" err="1">
                <a:effectLst/>
              </a:rPr>
              <a:t>diferente</a:t>
            </a:r>
            <a:r>
              <a:rPr lang="en-US" sz="1200" b="1" i="0" kern="1200" dirty="0">
                <a:effectLst/>
              </a:rPr>
              <a:t> de </a:t>
            </a:r>
            <a:r>
              <a:rPr lang="en-US" sz="1200" b="1" i="0" kern="1200" dirty="0" err="1">
                <a:effectLst/>
              </a:rPr>
              <a:t>delegar</a:t>
            </a:r>
            <a:endParaRPr lang="en-US" sz="1200" b="1" i="0" kern="1200" dirty="0">
              <a:effectLst/>
            </a:endParaRP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maioria</a:t>
            </a:r>
            <a:r>
              <a:rPr lang="en-US" sz="1200" b="0" i="0" kern="1200" dirty="0">
                <a:effectLst/>
              </a:rPr>
              <a:t> das </a:t>
            </a:r>
            <a:r>
              <a:rPr lang="en-US" sz="1200" b="0" i="0" kern="1200" dirty="0" err="1">
                <a:effectLst/>
              </a:rPr>
              <a:t>pessoas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usa</a:t>
            </a:r>
            <a:r>
              <a:rPr lang="en-US" sz="1200" b="0" i="0" kern="1200" dirty="0">
                <a:effectLst/>
              </a:rPr>
              <a:t> IA no modo prompt: </a:t>
            </a:r>
            <a:r>
              <a:rPr lang="en-US" sz="1200" b="0" i="0" kern="1200" dirty="0" err="1">
                <a:effectLst/>
              </a:rPr>
              <a:t>abre</a:t>
            </a:r>
            <a:r>
              <a:rPr lang="en-US" sz="1200" b="0" i="0" kern="1200" dirty="0">
                <a:effectLst/>
              </a:rPr>
              <a:t> o chat, </a:t>
            </a:r>
            <a:r>
              <a:rPr lang="en-US" sz="1200" b="0" i="0" kern="1200" dirty="0" err="1">
                <a:effectLst/>
              </a:rPr>
              <a:t>pede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recebe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copia</a:t>
            </a:r>
            <a:r>
              <a:rPr lang="en-US" sz="1200" b="0" i="0" kern="1200" dirty="0">
                <a:effectLst/>
              </a:rPr>
              <a:t> e cola. </a:t>
            </a:r>
            <a:r>
              <a:rPr lang="en-US" sz="1200" b="0" i="0" kern="1200" dirty="0" err="1">
                <a:effectLst/>
              </a:rPr>
              <a:t>Funciona</a:t>
            </a:r>
            <a:r>
              <a:rPr lang="en-US" sz="1200" b="0" i="0" kern="1200" dirty="0">
                <a:effectLst/>
              </a:rPr>
              <a:t>, mas </a:t>
            </a:r>
            <a:r>
              <a:rPr lang="en-US" sz="1200" b="0" i="0" kern="1200" dirty="0" err="1">
                <a:effectLst/>
              </a:rPr>
              <a:t>tem</a:t>
            </a:r>
            <a:r>
              <a:rPr lang="en-US" sz="1200" b="0" i="0" kern="1200" dirty="0">
                <a:effectLst/>
              </a:rPr>
              <a:t> um </a:t>
            </a:r>
            <a:r>
              <a:rPr lang="en-US" sz="1200" b="0" i="0" kern="1200" dirty="0" err="1">
                <a:effectLst/>
              </a:rPr>
              <a:t>detalhe</a:t>
            </a:r>
            <a:r>
              <a:rPr lang="en-US" sz="1200" b="0" i="0" kern="1200" dirty="0">
                <a:effectLst/>
              </a:rPr>
              <a:t>. Toda </a:t>
            </a:r>
            <a:r>
              <a:rPr lang="en-US" sz="1200" b="0" i="0" kern="1200" dirty="0" err="1">
                <a:effectLst/>
              </a:rPr>
              <a:t>vez</a:t>
            </a:r>
            <a:r>
              <a:rPr lang="en-US" sz="1200" b="0" i="0" kern="1200" dirty="0">
                <a:effectLst/>
              </a:rPr>
              <a:t> quem </a:t>
            </a:r>
            <a:r>
              <a:rPr lang="en-US" sz="1200" b="0" i="0" kern="1200" dirty="0" err="1">
                <a:effectLst/>
              </a:rPr>
              <a:t>lembra</a:t>
            </a:r>
            <a:r>
              <a:rPr lang="en-US" sz="1200" b="0" i="0" kern="1200" dirty="0">
                <a:effectLst/>
              </a:rPr>
              <a:t>, quem </a:t>
            </a:r>
            <a:r>
              <a:rPr lang="en-US" sz="1200" b="0" i="0" kern="1200" dirty="0" err="1">
                <a:effectLst/>
              </a:rPr>
              <a:t>começa</a:t>
            </a:r>
            <a:r>
              <a:rPr lang="en-US" sz="1200" b="0" i="0" kern="1200" dirty="0">
                <a:effectLst/>
              </a:rPr>
              <a:t> e quem cobra é </a:t>
            </a:r>
            <a:r>
              <a:rPr lang="en-US" sz="1200" b="0" i="0" kern="1200" dirty="0" err="1">
                <a:effectLst/>
              </a:rPr>
              <a:t>você</a:t>
            </a:r>
            <a:r>
              <a:rPr lang="en-US" sz="1200" b="0" i="0" kern="1200" dirty="0">
                <a:effectLst/>
              </a:rPr>
              <a:t>.</a:t>
            </a:r>
          </a:p>
          <a:p>
            <a:pPr fontAlgn="base"/>
            <a:r>
              <a:rPr lang="en-US" sz="1200" b="0" i="0" kern="1200" dirty="0" err="1">
                <a:effectLst/>
              </a:rPr>
              <a:t>Delegar</a:t>
            </a:r>
            <a:r>
              <a:rPr lang="en-US" sz="1200" b="0" i="0" kern="1200" dirty="0">
                <a:effectLst/>
              </a:rPr>
              <a:t> é </a:t>
            </a:r>
            <a:r>
              <a:rPr lang="en-US" sz="1200" b="0" i="0" kern="1200" dirty="0" err="1">
                <a:effectLst/>
              </a:rPr>
              <a:t>outra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coisa</a:t>
            </a:r>
            <a:r>
              <a:rPr lang="en-US" sz="1200" b="0" i="0" kern="1200" dirty="0">
                <a:effectLst/>
              </a:rPr>
              <a:t>. É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uma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rotina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inteira</a:t>
            </a:r>
            <a:r>
              <a:rPr lang="en-US" sz="1200" b="0" i="0" kern="1200" dirty="0">
                <a:effectLst/>
              </a:rPr>
              <a:t> para um </a:t>
            </a:r>
            <a:r>
              <a:rPr lang="en-US" sz="1200" b="0" i="0" kern="1200" dirty="0" err="1">
                <a:effectLst/>
              </a:rPr>
              <a:t>agente</a:t>
            </a:r>
            <a:r>
              <a:rPr lang="en-US" sz="1200" b="0" i="0" kern="1200" dirty="0">
                <a:effectLst/>
              </a:rPr>
              <a:t>: </a:t>
            </a:r>
            <a:r>
              <a:rPr lang="en-US" sz="1200" b="0" i="0" kern="1200" dirty="0" err="1">
                <a:effectLst/>
              </a:rPr>
              <a:t>ele</a:t>
            </a:r>
            <a:r>
              <a:rPr lang="en-US" sz="1200" b="0" i="0" kern="1200" dirty="0">
                <a:effectLst/>
              </a:rPr>
              <a:t> sabe </a:t>
            </a:r>
            <a:r>
              <a:rPr lang="en-US" sz="1200" b="0" i="0" kern="1200" dirty="0" err="1">
                <a:effectLst/>
              </a:rPr>
              <a:t>quando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começar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buscar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e </a:t>
            </a:r>
            <a:r>
              <a:rPr lang="en-US" sz="1200" b="0" i="0" kern="1200" dirty="0" err="1">
                <a:effectLst/>
              </a:rPr>
              <a:t>onde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precisa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parar</a:t>
            </a:r>
            <a:r>
              <a:rPr lang="en-US" sz="1200" b="0" i="0" kern="1200" dirty="0">
                <a:effectLst/>
              </a:rPr>
              <a:t> e me chamar.</a:t>
            </a: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pergunta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mudou</a:t>
            </a:r>
            <a:r>
              <a:rPr lang="en-US" sz="1200" b="0" i="0" kern="1200" dirty="0">
                <a:effectLst/>
              </a:rPr>
              <a:t> meu </a:t>
            </a:r>
            <a:r>
              <a:rPr lang="en-US" sz="1200" b="0" i="0" kern="1200" dirty="0" err="1">
                <a:effectLst/>
              </a:rPr>
              <a:t>jeito</a:t>
            </a:r>
            <a:r>
              <a:rPr lang="en-US" sz="1200" b="0" i="0" kern="1200" dirty="0">
                <a:effectLst/>
              </a:rPr>
              <a:t> de </a:t>
            </a:r>
            <a:r>
              <a:rPr lang="en-US" sz="1200" b="0" i="0" kern="1200" dirty="0" err="1">
                <a:effectLst/>
              </a:rPr>
              <a:t>trabalhar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foi</a:t>
            </a:r>
            <a:r>
              <a:rPr lang="en-US" sz="1200" b="0" i="0" kern="1200" dirty="0">
                <a:effectLst/>
              </a:rPr>
              <a:t> simples: </a:t>
            </a:r>
            <a:r>
              <a:rPr lang="en-US" sz="1200" b="1" i="0" kern="1200" dirty="0">
                <a:effectLst/>
              </a:rPr>
              <a:t>qual </a:t>
            </a:r>
            <a:r>
              <a:rPr lang="en-US" sz="1200" b="1" i="0" kern="1200" dirty="0" err="1">
                <a:effectLst/>
              </a:rPr>
              <a:t>trabalho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eu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faço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toda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semana</a:t>
            </a:r>
            <a:r>
              <a:rPr lang="en-US" sz="1200" b="1" i="0" kern="1200" dirty="0">
                <a:effectLst/>
              </a:rPr>
              <a:t> do </a:t>
            </a:r>
            <a:r>
              <a:rPr lang="en-US" sz="1200" b="1" i="0" kern="1200" dirty="0" err="1">
                <a:effectLst/>
              </a:rPr>
              <a:t>mesmo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jeito</a:t>
            </a:r>
            <a:r>
              <a:rPr lang="en-US" sz="1200" b="1" i="0" kern="1200" dirty="0">
                <a:effectLst/>
              </a:rPr>
              <a:t>?</a:t>
            </a:r>
            <a:r>
              <a:rPr lang="en-US" sz="1200" b="0" i="0" kern="1200" dirty="0">
                <a:effectLst/>
              </a:rPr>
              <a:t> Esse é o </a:t>
            </a:r>
            <a:r>
              <a:rPr lang="en-US" sz="1200" b="0" i="0" kern="1200" dirty="0" err="1">
                <a:effectLst/>
              </a:rPr>
              <a:t>primeiro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candidato</a:t>
            </a:r>
            <a:r>
              <a:rPr lang="en-US" sz="1200" b="0" i="0" kern="1200" dirty="0">
                <a:effectLst/>
              </a:rPr>
              <a:t> a </a:t>
            </a:r>
            <a:r>
              <a:rPr lang="en-US" sz="1200" b="0" i="0" kern="1200" dirty="0" err="1">
                <a:effectLst/>
              </a:rPr>
              <a:t>sair</a:t>
            </a:r>
            <a:r>
              <a:rPr lang="en-US" sz="1200" b="0" i="0" kern="1200" dirty="0">
                <a:effectLst/>
              </a:rPr>
              <a:t> da </a:t>
            </a:r>
            <a:r>
              <a:rPr lang="en-US" sz="1200" b="0" i="0" kern="1200" dirty="0" err="1">
                <a:effectLst/>
              </a:rPr>
              <a:t>minha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mão</a:t>
            </a:r>
            <a:r>
              <a:rPr lang="en-US" sz="1200" b="0" i="0" kern="1200" dirty="0">
                <a:effectLst/>
              </a:rPr>
              <a:t>.</a:t>
            </a:r>
          </a:p>
          <a:p>
            <a:br>
              <a:rPr lang="pt-BR" dirty="0"/>
            </a:br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8,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8: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Cowork e assistentes persistentes têm diferença de ênfase, não uma fronteira rígida. Ambas as categorias podem usar ferramentas, executar ações e trabalhar de forma proativa, inclusive com agendamentos.</a:t>
            </a:r>
          </a:p>
          <a:p>
            <a:endParaRPr/>
          </a:p>
          <a:p>
            <a:r>
              <a:t>No Cowork, o ponto de partida costuma ser um trabalho com um resultado definido: analisar documentos, comparar fornecedores, preparar orçamento e produzir uma apresentação. O contexto vem principalmente de arquivos, instruções e sistemas.</a:t>
            </a:r>
          </a:p>
          <a:p>
            <a:endParaRPr/>
          </a:p>
          <a:p>
            <a:r>
              <a:t>No assistente persistente, a proposta central é a continuidade da assistência: manter contexto, considerar preferências, acompanhar atividades e identificar quando há algo a fazer ou uma decisão a pedir ao usuário. O horizonte pode ser de dias, semanas ou meses.</a:t>
            </a:r>
          </a:p>
          <a:p>
            <a:endParaRPr/>
          </a:p>
          <a:p>
            <a:r>
              <a:t>O mesmo evento ilustra as duas formas de delegação. O Cowork entrega a comparação, o orçamento e a apresentação. O assistente acompanha respostas, pendências e decisões ao longo da organização. Um assistente também pode usar ferramentas de trabalho para produzir esses materiais.</a:t>
            </a:r>
          </a:p>
          <a:p>
            <a:endParaRPr/>
          </a:p>
          <a:p>
            <a:r>
              <a:t>As abordagens podem coexistir e convergir. Proatividade e memória dependem da implementação. Permissões, privacidade, rastreabilidade, custos e supervisão humana permanecem essenciais.</a:t>
            </a:r>
          </a:p>
          <a:p>
            <a:endParaRPr/>
          </a:p>
          <a:p>
            <a:r>
              <a:t>Fonte: texto “Cowork vs. Assistentes de IA: qual é a diferença?”, fornecido por Lawrence Teixeira em 15/10/2026.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11,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6 e 8.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10/15/2026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10/15/2026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10/15/2026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image" Target="../media/image14.pn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2.jpeg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6.png"/><Relationship Id="rId10" Type="http://schemas.openxmlformats.org/officeDocument/2006/relationships/hyperlink" Target="https://play.google.com/store/apps/details?id=tech.butterfly.app" TargetMode="External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895975"/>
            <a:ext cx="666750" cy="641709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38800" y="5943600"/>
            <a:ext cx="1343025" cy="615086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  <p:sp>
        <p:nvSpPr>
          <p:cNvPr id="40" name="Coautoria do livro">
            <a:extLst>
              <a:ext uri="{FF2B5EF4-FFF2-40B4-BE49-F238E27FC236}">
                <a16:creationId xmlns:a16="http://schemas.microsoft.com/office/drawing/2014/main" id="{1197A02D-855A-4406-B374-14581AE92064}"/>
              </a:ext>
            </a:extLst>
          </p:cNvPr>
          <p:cNvSpPr>
            <a:spLocks noGrp="1"/>
          </p:cNvSpPr>
          <p:nvPr/>
        </p:nvSpPr>
        <p:spPr>
          <a:xfrm>
            <a:off x="7334250" y="5753100"/>
            <a:ext cx="4248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Coautor do livro</a:t>
            </a:r>
          </a:p>
        </p:txBody>
      </p:sp>
      <p:sp>
        <p:nvSpPr>
          <p:cNvPr id="41" name="Título do livro">
            <a:extLst>
              <a:ext uri="{FF2B5EF4-FFF2-40B4-BE49-F238E27FC236}">
                <a16:creationId xmlns:a16="http://schemas.microsoft.com/office/drawing/2014/main" id="{4F2C1664-7E3D-445A-8C6B-23D3A03539DE}"/>
              </a:ext>
            </a:extLst>
          </p:cNvPr>
          <p:cNvSpPr>
            <a:spLocks noGrp="1"/>
          </p:cNvSpPr>
          <p:nvPr/>
        </p:nvSpPr>
        <p:spPr>
          <a:xfrm>
            <a:off x="7334250" y="6029325"/>
            <a:ext cx="42481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&amp; CTO: Excelência Orçamentária</a:t>
            </a:r>
          </a:p>
        </p:txBody>
      </p:sp>
      <p:sp>
        <p:nvSpPr>
          <p:cNvPr id="42" name="Contribuições no livro">
            <a:extLst>
              <a:ext uri="{FF2B5EF4-FFF2-40B4-BE49-F238E27FC236}">
                <a16:creationId xmlns:a16="http://schemas.microsoft.com/office/drawing/2014/main" id="{F882C375-1626-41E4-B0B5-DA96138C9543}"/>
              </a:ext>
            </a:extLst>
          </p:cNvPr>
          <p:cNvSpPr>
            <a:spLocks noGrp="1"/>
          </p:cNvSpPr>
          <p:nvPr/>
        </p:nvSpPr>
        <p:spPr>
          <a:xfrm>
            <a:off x="7334250" y="6315075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Contribuições em IA, governança</a:t>
            </a:r>
          </a:p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e transformação digital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F91C4A7F-A04A-406B-836B-1961F4599F2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250" t="28900" r="40750" b="18300"/>
          <a:stretch>
            <a:fillRect/>
          </a:stretch>
        </p:blipFill>
        <p:spPr>
          <a:xfrm>
            <a:off x="10115550" y="3181350"/>
            <a:ext cx="14478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hlinkHover r:id="rId3" action="ppaction://hlinksldjump"/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21 e 24.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21 e 24.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  <p:sp>
        <p:nvSpPr>
          <p:cNvPr id="46" name="Fundo da imagem de detalhe">
            <a:extLst>
              <a:ext uri="{FF2B5EF4-FFF2-40B4-BE49-F238E27FC236}">
                <a16:creationId xmlns:a16="http://schemas.microsoft.com/office/drawing/2014/main" id="{93B42695-A858-4B03-B8CA-1201B7351B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A39EC2A3-C9FB-47EC-ABC9-6911B29C6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11" y="190500"/>
            <a:ext cx="10363178" cy="6110402"/>
          </a:xfrm>
          <a:prstGeom prst="rect">
            <a:avLst/>
          </a:prstGeom>
        </p:spPr>
      </p:pic>
      <p:sp>
        <p:nvSpPr>
          <p:cNvPr id="49" name="Retornar ao slide 6 - Topo">
            <a:hlinkHover r:id="rId4" action="ppaction://hlinksldjump"/>
            <a:extLst>
              <a:ext uri="{FF2B5EF4-FFF2-40B4-BE49-F238E27FC236}">
                <a16:creationId xmlns:a16="http://schemas.microsoft.com/office/drawing/2014/main" id="{653B0244-3582-4BC3-8C88-84D5D9BBCC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905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Retornar ao slide 6 - Esquerda">
            <a:hlinkHover r:id="rId4" action="ppaction://hlinksldjump"/>
            <a:extLst>
              <a:ext uri="{FF2B5EF4-FFF2-40B4-BE49-F238E27FC236}">
                <a16:creationId xmlns:a16="http://schemas.microsoft.com/office/drawing/2014/main" id="{8CCF75BE-E62A-489C-BDC4-B77A23C9B064}"/>
              </a:ext>
            </a:extLst>
          </p:cNvPr>
          <p:cNvSpPr>
            <a:spLocks noGrp="1"/>
          </p:cNvSpPr>
          <p:nvPr/>
        </p:nvSpPr>
        <p:spPr>
          <a:xfrm>
            <a:off x="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tornar ao slide 6 - Direita">
            <a:hlinkHover r:id="rId4" action="ppaction://hlinksldjump"/>
            <a:extLst>
              <a:ext uri="{FF2B5EF4-FFF2-40B4-BE49-F238E27FC236}">
                <a16:creationId xmlns:a16="http://schemas.microsoft.com/office/drawing/2014/main" id="{510C647A-D0FF-416B-90E8-AF7A2A7FD7D0}"/>
              </a:ext>
            </a:extLst>
          </p:cNvPr>
          <p:cNvSpPr>
            <a:spLocks noGrp="1"/>
          </p:cNvSpPr>
          <p:nvPr/>
        </p:nvSpPr>
        <p:spPr>
          <a:xfrm>
            <a:off x="1127760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tornar ao slide 6 - Base">
            <a:hlinkHover r:id="rId4" action="ppaction://hlinksldjump"/>
            <a:extLst>
              <a:ext uri="{FF2B5EF4-FFF2-40B4-BE49-F238E27FC236}">
                <a16:creationId xmlns:a16="http://schemas.microsoft.com/office/drawing/2014/main" id="{F0679A13-5CD2-4274-982A-53E7671E87E8}"/>
              </a:ext>
            </a:extLst>
          </p:cNvPr>
          <p:cNvSpPr>
            <a:spLocks noGrp="1"/>
          </p:cNvSpPr>
          <p:nvPr/>
        </p:nvSpPr>
        <p:spPr>
          <a:xfrm>
            <a:off x="0" y="6305550"/>
            <a:ext cx="12192000" cy="5524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Instrução para fechar detalhe">
            <a:hlinkHover r:id="rId4" action="ppaction://hlinksldjump"/>
            <a:extLst>
              <a:ext uri="{FF2B5EF4-FFF2-40B4-BE49-F238E27FC236}">
                <a16:creationId xmlns:a16="http://schemas.microsoft.com/office/drawing/2014/main" id="{1601526B-3F97-450D-A764-04C036FAE2E1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10972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Mova o mouse para fora do gráfico para voltar ao slide 6.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8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0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802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96146"/>
            <a:ext cx="583868" cy="543193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F64562-DFDF-A1B7-FD62-50E3FF2CE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6329" y="1921585"/>
            <a:ext cx="562051" cy="56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">
            <a:extLst>
              <a:ext uri="{FF2B5EF4-FFF2-40B4-BE49-F238E27FC236}">
                <a16:creationId xmlns:a16="http://schemas.microsoft.com/office/drawing/2014/main" id="{4CAB7668-3EB6-480F-B108-8C089F373DD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</a:t>
            </a:r>
          </a:p>
        </p:txBody>
      </p:sp>
      <p:sp>
        <p:nvSpPr>
          <p:cNvPr id="2" name="Subtítulo">
            <a:extLst>
              <a:ext uri="{FF2B5EF4-FFF2-40B4-BE49-F238E27FC236}">
                <a16:creationId xmlns:a16="http://schemas.microsoft.com/office/drawing/2014/main" id="{B0ED8C74-7D46-4C65-B68D-98DDBCE9BEE9}"/>
              </a:ext>
            </a:extLst>
          </p:cNvPr>
          <p:cNvSpPr>
            <a:spLocks noGrp="1"/>
          </p:cNvSpPr>
          <p:nvPr/>
        </p:nvSpPr>
        <p:spPr>
          <a:xfrm>
            <a:off x="612648" y="1077373"/>
            <a:ext cx="1042416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Ambos executam ações. A diferença está no foco e na continuidade.</a:t>
            </a:r>
          </a:p>
        </p:txBody>
      </p:sp>
      <p:sp>
        <p:nvSpPr>
          <p:cNvPr id="3" name="Cartão Cowork">
            <a:extLst>
              <a:ext uri="{FF2B5EF4-FFF2-40B4-BE49-F238E27FC236}">
                <a16:creationId xmlns:a16="http://schemas.microsoft.com/office/drawing/2014/main" id="{B36B7252-CAFA-46DE-9C13-FDA6D20870F5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Faixa Cowork">
            <a:extLst>
              <a:ext uri="{FF2B5EF4-FFF2-40B4-BE49-F238E27FC236}">
                <a16:creationId xmlns:a16="http://schemas.microsoft.com/office/drawing/2014/main" id="{58CF266D-70F7-4449-832B-D868B4422B04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2004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ome Cowork">
            <a:extLst>
              <a:ext uri="{FF2B5EF4-FFF2-40B4-BE49-F238E27FC236}">
                <a16:creationId xmlns:a16="http://schemas.microsoft.com/office/drawing/2014/main" id="{0ADD0A97-0850-4436-863B-85FE112E0582}"/>
              </a:ext>
            </a:extLst>
          </p:cNvPr>
          <p:cNvSpPr>
            <a:spLocks noGrp="1"/>
          </p:cNvSpPr>
          <p:nvPr/>
        </p:nvSpPr>
        <p:spPr>
          <a:xfrm>
            <a:off x="8077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</a:t>
            </a:r>
          </a:p>
        </p:txBody>
      </p:sp>
      <p:sp>
        <p:nvSpPr>
          <p:cNvPr id="6" name="Foco Cowork">
            <a:extLst>
              <a:ext uri="{FF2B5EF4-FFF2-40B4-BE49-F238E27FC236}">
                <a16:creationId xmlns:a16="http://schemas.microsoft.com/office/drawing/2014/main" id="{E91BE7A2-4057-4DAE-913E-D43D9410A7D2}"/>
              </a:ext>
            </a:extLst>
          </p:cNvPr>
          <p:cNvSpPr>
            <a:spLocks noGrp="1"/>
          </p:cNvSpPr>
          <p:nvPr/>
        </p:nvSpPr>
        <p:spPr>
          <a:xfrm>
            <a:off x="8077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ENTREGAR UM TRABALHO</a:t>
            </a:r>
          </a:p>
        </p:txBody>
      </p:sp>
      <p:sp>
        <p:nvSpPr>
          <p:cNvPr id="7" name="Separador Cowork">
            <a:extLst>
              <a:ext uri="{FF2B5EF4-FFF2-40B4-BE49-F238E27FC236}">
                <a16:creationId xmlns:a16="http://schemas.microsoft.com/office/drawing/2014/main" id="{BCE5E870-AE03-4B6F-BCBB-EA5F8F7DCBE4}"/>
              </a:ext>
            </a:extLst>
          </p:cNvPr>
          <p:cNvSpPr>
            <a:spLocks noGrp="1"/>
          </p:cNvSpPr>
          <p:nvPr/>
        </p:nvSpPr>
        <p:spPr>
          <a:xfrm>
            <a:off x="8077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Descrição Cowork">
            <a:extLst>
              <a:ext uri="{FF2B5EF4-FFF2-40B4-BE49-F238E27FC236}">
                <a16:creationId xmlns:a16="http://schemas.microsoft.com/office/drawing/2014/main" id="{E8547E66-6A12-4C20-AFD1-D9C4F68B8B91}"/>
              </a:ext>
            </a:extLst>
          </p:cNvPr>
          <p:cNvSpPr>
            <a:spLocks noGrp="1"/>
          </p:cNvSpPr>
          <p:nvPr/>
        </p:nvSpPr>
        <p:spPr>
          <a:xfrm>
            <a:off x="8077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 ou projeto, com resultado definido.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arquivos, instruções e sistemas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planejar e executar.</a:t>
            </a:r>
          </a:p>
        </p:txBody>
      </p:sp>
      <p:sp>
        <p:nvSpPr>
          <p:cNvPr id="9" name="Exemplo rótulo Cowork">
            <a:extLst>
              <a:ext uri="{FF2B5EF4-FFF2-40B4-BE49-F238E27FC236}">
                <a16:creationId xmlns:a16="http://schemas.microsoft.com/office/drawing/2014/main" id="{C470D4A8-8FC8-46D1-84AF-0904D4E10A3F}"/>
              </a:ext>
            </a:extLst>
          </p:cNvPr>
          <p:cNvSpPr>
            <a:spLocks noGrp="1"/>
          </p:cNvSpPr>
          <p:nvPr/>
        </p:nvSpPr>
        <p:spPr>
          <a:xfrm>
            <a:off x="8077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0" name="Exemplo Cowork">
            <a:extLst>
              <a:ext uri="{FF2B5EF4-FFF2-40B4-BE49-F238E27FC236}">
                <a16:creationId xmlns:a16="http://schemas.microsoft.com/office/drawing/2014/main" id="{7767681A-E39A-4D3D-9133-4B114FE9F30D}"/>
              </a:ext>
            </a:extLst>
          </p:cNvPr>
          <p:cNvSpPr>
            <a:spLocks noGrp="1"/>
          </p:cNvSpPr>
          <p:nvPr/>
        </p:nvSpPr>
        <p:spPr>
          <a:xfrm>
            <a:off x="8077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“Compare os fornecedores e prepare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orçamento e a apresentação do evento.”</a:t>
            </a:r>
          </a:p>
        </p:txBody>
      </p:sp>
      <p:sp>
        <p:nvSpPr>
          <p:cNvPr id="11" name="Resultado Cowork">
            <a:extLst>
              <a:ext uri="{FF2B5EF4-FFF2-40B4-BE49-F238E27FC236}">
                <a16:creationId xmlns:a16="http://schemas.microsoft.com/office/drawing/2014/main" id="{5D915583-E2C2-4DE5-A0FA-8162A41A5046}"/>
              </a:ext>
            </a:extLst>
          </p:cNvPr>
          <p:cNvSpPr>
            <a:spLocks noGrp="1"/>
          </p:cNvSpPr>
          <p:nvPr/>
        </p:nvSpPr>
        <p:spPr>
          <a:xfrm>
            <a:off x="8077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análise e materiais prontos.</a:t>
            </a:r>
          </a:p>
        </p:txBody>
      </p:sp>
      <p:sp>
        <p:nvSpPr>
          <p:cNvPr id="12" name="Cartão Assistente de IA persistente">
            <a:extLst>
              <a:ext uri="{FF2B5EF4-FFF2-40B4-BE49-F238E27FC236}">
                <a16:creationId xmlns:a16="http://schemas.microsoft.com/office/drawing/2014/main" id="{78FC795B-CF79-4AA4-B3D2-B1B505515495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Faixa Assistente de IA persistente">
            <a:extLst>
              <a:ext uri="{FF2B5EF4-FFF2-40B4-BE49-F238E27FC236}">
                <a16:creationId xmlns:a16="http://schemas.microsoft.com/office/drawing/2014/main" id="{7A0FDF25-0A59-4633-AC74-5DC4C1884F7C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2004"/>
          </a:xfrm>
          <a:prstGeom prst="rect">
            <a:avLst/>
          </a:prstGeom>
          <a:solidFill>
            <a:srgbClr val="21647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Nome Assistente de IA persistente">
            <a:extLst>
              <a:ext uri="{FF2B5EF4-FFF2-40B4-BE49-F238E27FC236}">
                <a16:creationId xmlns:a16="http://schemas.microsoft.com/office/drawing/2014/main" id="{9E57927F-3008-4810-B29E-FCBD5468F6E7}"/>
              </a:ext>
            </a:extLst>
          </p:cNvPr>
          <p:cNvSpPr>
            <a:spLocks noGrp="1"/>
          </p:cNvSpPr>
          <p:nvPr/>
        </p:nvSpPr>
        <p:spPr>
          <a:xfrm>
            <a:off x="64465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 de IA persistente</a:t>
            </a:r>
          </a:p>
        </p:txBody>
      </p:sp>
      <p:sp>
        <p:nvSpPr>
          <p:cNvPr id="15" name="Foco Assistente de IA persistente">
            <a:extLst>
              <a:ext uri="{FF2B5EF4-FFF2-40B4-BE49-F238E27FC236}">
                <a16:creationId xmlns:a16="http://schemas.microsoft.com/office/drawing/2014/main" id="{FF038B29-ED86-4D18-B602-18E28D487CA9}"/>
              </a:ext>
            </a:extLst>
          </p:cNvPr>
          <p:cNvSpPr>
            <a:spLocks noGrp="1"/>
          </p:cNvSpPr>
          <p:nvPr/>
        </p:nvSpPr>
        <p:spPr>
          <a:xfrm>
            <a:off x="64465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ACOMPANHAR RESPONSABILIDADES</a:t>
            </a:r>
          </a:p>
        </p:txBody>
      </p:sp>
      <p:sp>
        <p:nvSpPr>
          <p:cNvPr id="16" name="Separador Assistente de IA persistente">
            <a:extLst>
              <a:ext uri="{FF2B5EF4-FFF2-40B4-BE49-F238E27FC236}">
                <a16:creationId xmlns:a16="http://schemas.microsoft.com/office/drawing/2014/main" id="{A17216D5-12D4-41FF-B98E-3F3F775C8690}"/>
              </a:ext>
            </a:extLst>
          </p:cNvPr>
          <p:cNvSpPr>
            <a:spLocks noGrp="1"/>
          </p:cNvSpPr>
          <p:nvPr/>
        </p:nvSpPr>
        <p:spPr>
          <a:xfrm>
            <a:off x="64465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Descrição Assistente de IA persistente">
            <a:extLst>
              <a:ext uri="{FF2B5EF4-FFF2-40B4-BE49-F238E27FC236}">
                <a16:creationId xmlns:a16="http://schemas.microsoft.com/office/drawing/2014/main" id="{EBD84290-6E74-47E7-994C-22A8F72634EB}"/>
              </a:ext>
            </a:extLst>
          </p:cNvPr>
          <p:cNvSpPr>
            <a:spLocks noGrp="1"/>
          </p:cNvSpPr>
          <p:nvPr/>
        </p:nvSpPr>
        <p:spPr>
          <a:xfrm>
            <a:off x="64465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Continuidade por dias, semanas ou meses.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Preserva contexto e preferências,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 atividades e sinaliza pendências.</a:t>
            </a:r>
          </a:p>
        </p:txBody>
      </p:sp>
      <p:sp>
        <p:nvSpPr>
          <p:cNvPr id="18" name="Exemplo rótulo Assistente de IA persistente">
            <a:extLst>
              <a:ext uri="{FF2B5EF4-FFF2-40B4-BE49-F238E27FC236}">
                <a16:creationId xmlns:a16="http://schemas.microsoft.com/office/drawing/2014/main" id="{4C7ADF3C-DF03-44D4-A1DD-8D0080473D14}"/>
              </a:ext>
            </a:extLst>
          </p:cNvPr>
          <p:cNvSpPr>
            <a:spLocks noGrp="1"/>
          </p:cNvSpPr>
          <p:nvPr/>
        </p:nvSpPr>
        <p:spPr>
          <a:xfrm>
            <a:off x="64465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9" name="Exemplo Assistente de IA persistente">
            <a:extLst>
              <a:ext uri="{FF2B5EF4-FFF2-40B4-BE49-F238E27FC236}">
                <a16:creationId xmlns:a16="http://schemas.microsoft.com/office/drawing/2014/main" id="{7110FCCC-7B71-413C-9393-912FF19A0FD9}"/>
              </a:ext>
            </a:extLst>
          </p:cNvPr>
          <p:cNvSpPr>
            <a:spLocks noGrp="1"/>
          </p:cNvSpPr>
          <p:nvPr/>
        </p:nvSpPr>
        <p:spPr>
          <a:xfrm>
            <a:off x="64465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“Acompanhe as respostas dos fornecedores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me avise quando houver decisões.”</a:t>
            </a:r>
          </a:p>
        </p:txBody>
      </p:sp>
      <p:sp>
        <p:nvSpPr>
          <p:cNvPr id="20" name="Resultado Assistente de IA persistente">
            <a:extLst>
              <a:ext uri="{FF2B5EF4-FFF2-40B4-BE49-F238E27FC236}">
                <a16:creationId xmlns:a16="http://schemas.microsoft.com/office/drawing/2014/main" id="{2C62DDC8-C573-42BB-A704-5BBD841DB0EA}"/>
              </a:ext>
            </a:extLst>
          </p:cNvPr>
          <p:cNvSpPr>
            <a:spLocks noGrp="1"/>
          </p:cNvSpPr>
          <p:nvPr/>
        </p:nvSpPr>
        <p:spPr>
          <a:xfrm>
            <a:off x="64465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acompanhamento, alertas e ações.</a:t>
            </a:r>
          </a:p>
        </p:txBody>
      </p:sp>
      <p:sp>
        <p:nvSpPr>
          <p:cNvPr id="21" name="Faixa de conclusão">
            <a:extLst>
              <a:ext uri="{FF2B5EF4-FFF2-40B4-BE49-F238E27FC236}">
                <a16:creationId xmlns:a16="http://schemas.microsoft.com/office/drawing/2014/main" id="{A9890B52-0DAF-415D-9B5A-3C0546CA1095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11003280" cy="396240"/>
          </a:xfrm>
          <a:prstGeom prst="rect">
            <a:avLst/>
          </a:prstGeom>
          <a:solidFill>
            <a:srgbClr val="EFECE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Marca da conclusão">
            <a:extLst>
              <a:ext uri="{FF2B5EF4-FFF2-40B4-BE49-F238E27FC236}">
                <a16:creationId xmlns:a16="http://schemas.microsoft.com/office/drawing/2014/main" id="{D27C6F58-EF75-49B4-B12B-EE9B71CC354F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32004" cy="396240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Conclusão">
            <a:extLst>
              <a:ext uri="{FF2B5EF4-FFF2-40B4-BE49-F238E27FC236}">
                <a16:creationId xmlns:a16="http://schemas.microsoft.com/office/drawing/2014/main" id="{7C087111-4C41-43BB-BBEB-F42B34FCEA2B}"/>
              </a:ext>
            </a:extLst>
          </p:cNvPr>
          <p:cNvSpPr>
            <a:spLocks noGrp="1"/>
          </p:cNvSpPr>
          <p:nvPr/>
        </p:nvSpPr>
        <p:spPr>
          <a:xfrm>
            <a:off x="762000" y="5968365"/>
            <a:ext cx="1057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 categorias podem se combinar. Você define acessos, limites e aprovações.</a:t>
            </a:r>
          </a:p>
        </p:txBody>
      </p:sp>
      <p:sp>
        <p:nvSpPr>
          <p:cNvPr id="24" name="Número do slide">
            <a:extLst>
              <a:ext uri="{FF2B5EF4-FFF2-40B4-BE49-F238E27FC236}">
                <a16:creationId xmlns:a16="http://schemas.microsoft.com/office/drawing/2014/main" id="{ED9600A6-B854-4554-ABDD-B736A50B32F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24758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0CBA5E-FED5-71F8-5472-E2FE042FC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309" y="876300"/>
            <a:ext cx="245745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8)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6)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8.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14012</Words>
  <Application>Microsoft Office PowerPoint</Application>
  <DocSecurity>0</DocSecurity>
  <PresentationFormat>Widescreen</PresentationFormat>
  <Paragraphs>834</Paragraphs>
  <Slides>23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2026-10-15T10:13:02Z</dcterms:modified>
</cp:coreProperties>
</file>