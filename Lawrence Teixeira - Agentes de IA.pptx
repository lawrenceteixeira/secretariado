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harts/chart1.xml" ContentType="application/vnd.openxmlformats-officedocument.drawingml.chart+xml"/>
  <Override PartName="/ppt/notesSlides/notesSlide4.xml" ContentType="application/vnd.openxmlformats-officedocument.presentationml.notesSlide+xml"/>
  <Override PartName="/ppt/charts/chart2.xml" ContentType="application/vnd.openxmlformats-officedocument.drawingml.chart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24.xml" ContentType="application/vnd.openxmlformats-officedocument.presentationml.slide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5"/>
  </p:notesMasterIdLst>
  <p:sldIdLst>
    <p:sldId id="256" r:id="rId2"/>
    <p:sldId id="257" r:id="rId3"/>
    <p:sldId id="288" r:id="rId32"/>
    <p:sldId id="258" r:id="rId4"/>
    <p:sldId id="259" r:id="rId5"/>
    <p:sldId id="262" r:id="rId6"/>
    <p:sldId id="263" r:id="rId7"/>
    <p:sldId id="287" r:id="rId8"/>
    <p:sldId id="260" r:id="rId9"/>
    <p:sldId id="261" r:id="rId10"/>
    <p:sldId id="264" r:id="rId11"/>
    <p:sldId id="265" r:id="rId12"/>
    <p:sldId id="285" r:id="rId13"/>
    <p:sldId id="267" r:id="rId14"/>
    <p:sldId id="286" r:id="rId15"/>
    <p:sldId id="268" r:id="rId16"/>
    <p:sldId id="275" r:id="rId17"/>
    <p:sldId id="276" r:id="rId18"/>
    <p:sldId id="278" r:id="rId19"/>
    <p:sldId id="279" r:id="rId20"/>
    <p:sldId id="280" r:id="rId21"/>
    <p:sldId id="281" r:id="rId22"/>
    <p:sldId id="282" r:id="rId23"/>
    <p:sldId id="284" r:id="rId24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60F0E79-115A-476B-8785-1B016EC5114B}" v="2" dt="2026-10-12T22:02:12.75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57627" autoAdjust="0"/>
  </p:normalViewPr>
  <p:slideViewPr>
    <p:cSldViewPr snapToGrid="0">
      <p:cViewPr varScale="1">
        <p:scale>
          <a:sx n="63" d="100"/>
          <a:sy n="63" d="100"/>
        </p:scale>
        <p:origin x="2394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Relationship Id="rId30" Type="http://schemas.microsoft.com/office/2016/11/relationships/changesInfo" Target="changesInfos/changesInfo1.xml"/><Relationship Id="rId32" Type="http://schemas.openxmlformats.org/officeDocument/2006/relationships/slide" Target="slides/slide24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Lawrence Teixeira" userId="831f394bc9e513ba" providerId="LiveId" clId="{A77AB589-1CC8-4D5E-A735-B2803AC80452}"/>
    <pc:docChg chg="undo custSel delSld modSld sldOrd">
      <pc:chgData name="Lawrence Teixeira" userId="831f394bc9e513ba" providerId="LiveId" clId="{A77AB589-1CC8-4D5E-A735-B2803AC80452}" dt="2026-10-15T10:12:59.265" v="294" actId="47"/>
      <pc:docMkLst>
        <pc:docMk/>
      </pc:docMkLst>
      <pc:sldChg chg="modSp mod">
        <pc:chgData name="Lawrence Teixeira" userId="831f394bc9e513ba" providerId="LiveId" clId="{A77AB589-1CC8-4D5E-A735-B2803AC80452}" dt="2026-10-12T10:48:59.829" v="1" actId="1076"/>
        <pc:sldMkLst>
          <pc:docMk/>
          <pc:sldMk cId="1677974342" sldId="259"/>
        </pc:sldMkLst>
        <pc:spChg chg="mod">
          <ac:chgData name="Lawrence Teixeira" userId="831f394bc9e513ba" providerId="LiveId" clId="{A77AB589-1CC8-4D5E-A735-B2803AC80452}" dt="2026-10-12T10:48:59.829" v="1" actId="1076"/>
          <ac:spMkLst>
            <pc:docMk/>
            <pc:sldMk cId="1677974342" sldId="259"/>
            <ac:spMk id="25" creationId="{DAFFECF2-5181-4401-8E0C-A2A7675573E3}"/>
          </ac:spMkLst>
        </pc:spChg>
      </pc:sldChg>
      <pc:sldChg chg="ord">
        <pc:chgData name="Lawrence Teixeira" userId="831f394bc9e513ba" providerId="LiveId" clId="{A77AB589-1CC8-4D5E-A735-B2803AC80452}" dt="2026-10-12T16:36:38.333" v="157"/>
        <pc:sldMkLst>
          <pc:docMk/>
          <pc:sldMk cId="1600664216" sldId="262"/>
        </pc:sldMkLst>
      </pc:sldChg>
      <pc:sldChg chg="modSp mod ord modNotesTx">
        <pc:chgData name="Lawrence Teixeira" userId="831f394bc9e513ba" providerId="LiveId" clId="{A77AB589-1CC8-4D5E-A735-B2803AC80452}" dt="2026-10-12T21:49:05.476" v="255"/>
        <pc:sldMkLst>
          <pc:docMk/>
          <pc:sldMk cId="200375111" sldId="263"/>
        </pc:sldMkLst>
        <pc:spChg chg="mod">
          <ac:chgData name="Lawrence Teixeira" userId="831f394bc9e513ba" providerId="LiveId" clId="{A77AB589-1CC8-4D5E-A735-B2803AC80452}" dt="2026-10-12T21:49:05.476" v="255"/>
          <ac:spMkLst>
            <pc:docMk/>
            <pc:sldMk cId="200375111" sldId="263"/>
            <ac:spMk id="13" creationId="{BBD0C58B-2E9A-4FD9-BF0B-12A8971E5749}"/>
          </ac:spMkLst>
        </pc:spChg>
      </pc:sldChg>
      <pc:sldChg chg="addSp delSp modSp mod">
        <pc:chgData name="Lawrence Teixeira" userId="831f394bc9e513ba" providerId="LiveId" clId="{A77AB589-1CC8-4D5E-A735-B2803AC80452}" dt="2026-10-12T18:37:35.616" v="215" actId="931"/>
        <pc:sldMkLst>
          <pc:docMk/>
          <pc:sldMk cId="386876450" sldId="265"/>
        </pc:sldMkLst>
        <pc:spChg chg="add del">
          <ac:chgData name="Lawrence Teixeira" userId="831f394bc9e513ba" providerId="LiveId" clId="{A77AB589-1CC8-4D5E-A735-B2803AC80452}" dt="2026-10-12T17:23:36.465" v="208" actId="478"/>
          <ac:spMkLst>
            <pc:docMk/>
            <pc:sldMk cId="386876450" sldId="265"/>
            <ac:spMk id="33" creationId="{48752D1C-CD3C-4B95-8FAA-36F2338EB91C}"/>
          </ac:spMkLst>
        </pc:spChg>
        <pc:picChg chg="add mod">
          <ac:chgData name="Lawrence Teixeira" userId="831f394bc9e513ba" providerId="LiveId" clId="{A77AB589-1CC8-4D5E-A735-B2803AC80452}" dt="2026-10-12T18:37:35.616" v="215" actId="931"/>
          <ac:picMkLst>
            <pc:docMk/>
            <pc:sldMk cId="386876450" sldId="265"/>
            <ac:picMk id="3" creationId="{A289A820-AE06-361E-C031-075DD99755AE}"/>
          </ac:picMkLst>
        </pc:picChg>
      </pc:sldChg>
      <pc:sldChg chg="addSp delSp modSp mod">
        <pc:chgData name="Lawrence Teixeira" userId="831f394bc9e513ba" providerId="LiveId" clId="{A77AB589-1CC8-4D5E-A735-B2803AC80452}" dt="2026-10-12T23:25:28.209" v="292" actId="1038"/>
        <pc:sldMkLst>
          <pc:docMk/>
          <pc:sldMk cId="728597549" sldId="267"/>
        </pc:sldMkLst>
        <pc:spChg chg="mod">
          <ac:chgData name="Lawrence Teixeira" userId="831f394bc9e513ba" providerId="LiveId" clId="{A77AB589-1CC8-4D5E-A735-B2803AC80452}" dt="2026-10-12T16:37:41.902" v="171" actId="6549"/>
          <ac:spMkLst>
            <pc:docMk/>
            <pc:sldMk cId="728597549" sldId="267"/>
            <ac:spMk id="2" creationId="{3222403F-9AEA-44FA-BB31-C9984904084A}"/>
          </ac:spMkLst>
        </pc:spChg>
        <pc:spChg chg="mod">
          <ac:chgData name="Lawrence Teixeira" userId="831f394bc9e513ba" providerId="LiveId" clId="{A77AB589-1CC8-4D5E-A735-B2803AC80452}" dt="2026-10-12T17:50:37.933" v="213" actId="1076"/>
          <ac:spMkLst>
            <pc:docMk/>
            <pc:sldMk cId="728597549" sldId="267"/>
            <ac:spMk id="55" creationId="{B81A646C-6E16-4B1E-91EE-A8F9330C85BC}"/>
          </ac:spMkLst>
        </pc:spChg>
        <pc:spChg chg="mod">
          <ac:chgData name="Lawrence Teixeira" userId="831f394bc9e513ba" providerId="LiveId" clId="{A77AB589-1CC8-4D5E-A735-B2803AC80452}" dt="2026-10-12T17:50:37.933" v="213" actId="1076"/>
          <ac:spMkLst>
            <pc:docMk/>
            <pc:sldMk cId="728597549" sldId="267"/>
            <ac:spMk id="56" creationId="{AA56566C-8FB1-4A76-ADA0-F185FC6B487D}"/>
          </ac:spMkLst>
        </pc:spChg>
        <pc:spChg chg="mod">
          <ac:chgData name="Lawrence Teixeira" userId="831f394bc9e513ba" providerId="LiveId" clId="{A77AB589-1CC8-4D5E-A735-B2803AC80452}" dt="2026-10-12T23:25:28.209" v="292" actId="1038"/>
          <ac:spMkLst>
            <pc:docMk/>
            <pc:sldMk cId="728597549" sldId="267"/>
            <ac:spMk id="57" creationId="{17F9B1C2-2DEF-4377-AE1D-84A55F627BAA}"/>
          </ac:spMkLst>
        </pc:spChg>
        <pc:spChg chg="mod">
          <ac:chgData name="Lawrence Teixeira" userId="831f394bc9e513ba" providerId="LiveId" clId="{A77AB589-1CC8-4D5E-A735-B2803AC80452}" dt="2026-10-12T17:50:37.933" v="213" actId="1076"/>
          <ac:spMkLst>
            <pc:docMk/>
            <pc:sldMk cId="728597549" sldId="267"/>
            <ac:spMk id="58" creationId="{1BE0C135-F030-46D7-AA35-F6BE87502D95}"/>
          </ac:spMkLst>
        </pc:spChg>
        <pc:spChg chg="mod">
          <ac:chgData name="Lawrence Teixeira" userId="831f394bc9e513ba" providerId="LiveId" clId="{A77AB589-1CC8-4D5E-A735-B2803AC80452}" dt="2026-10-12T17:50:37.933" v="213" actId="1076"/>
          <ac:spMkLst>
            <pc:docMk/>
            <pc:sldMk cId="728597549" sldId="267"/>
            <ac:spMk id="59" creationId="{5238C85C-3B76-4F61-9742-EF98341B0B43}"/>
          </ac:spMkLst>
        </pc:spChg>
        <pc:picChg chg="add mod">
          <ac:chgData name="Lawrence Teixeira" userId="831f394bc9e513ba" providerId="LiveId" clId="{A77AB589-1CC8-4D5E-A735-B2803AC80452}" dt="2026-10-12T23:25:08.024" v="285" actId="1076"/>
          <ac:picMkLst>
            <pc:docMk/>
            <pc:sldMk cId="728597549" sldId="267"/>
            <ac:picMk id="17" creationId="{93F64562-DFDF-A1B7-FD62-50E3FF2CEF33}"/>
          </ac:picMkLst>
        </pc:picChg>
        <pc:picChg chg="mod">
          <ac:chgData name="Lawrence Teixeira" userId="831f394bc9e513ba" providerId="LiveId" clId="{A77AB589-1CC8-4D5E-A735-B2803AC80452}" dt="2026-10-12T23:25:22.805" v="287" actId="1076"/>
          <ac:picMkLst>
            <pc:docMk/>
            <pc:sldMk cId="728597549" sldId="267"/>
            <ac:picMk id="137" creationId="{00000000-0000-0000-0000-000000000000}"/>
          </ac:picMkLst>
        </pc:picChg>
        <pc:picChg chg="mod">
          <ac:chgData name="Lawrence Teixeira" userId="831f394bc9e513ba" providerId="LiveId" clId="{A77AB589-1CC8-4D5E-A735-B2803AC80452}" dt="2026-10-12T17:50:37.933" v="213" actId="1076"/>
          <ac:picMkLst>
            <pc:docMk/>
            <pc:sldMk cId="728597549" sldId="267"/>
            <ac:picMk id="138" creationId="{00000000-0000-0000-0000-000000000000}"/>
          </ac:picMkLst>
        </pc:picChg>
      </pc:sldChg>
      <pc:sldChg chg="addSp modSp mod">
        <pc:chgData name="Lawrence Teixeira" userId="831f394bc9e513ba" providerId="LiveId" clId="{A77AB589-1CC8-4D5E-A735-B2803AC80452}" dt="2026-10-12T19:07:10.240" v="218" actId="1076"/>
        <pc:sldMkLst>
          <pc:docMk/>
          <pc:sldMk cId="1178625307" sldId="268"/>
        </pc:sldMkLst>
        <pc:picChg chg="add mod">
          <ac:chgData name="Lawrence Teixeira" userId="831f394bc9e513ba" providerId="LiveId" clId="{A77AB589-1CC8-4D5E-A735-B2803AC80452}" dt="2026-10-12T19:07:10.240" v="218" actId="1076"/>
          <ac:picMkLst>
            <pc:docMk/>
            <pc:sldMk cId="1178625307" sldId="268"/>
            <ac:picMk id="8" creationId="{BDCA82D5-1439-0642-3F52-66D68FFACBE3}"/>
          </ac:picMkLst>
        </pc:picChg>
      </pc:sldChg>
      <pc:sldChg chg="del">
        <pc:chgData name="Lawrence Teixeira" userId="831f394bc9e513ba" providerId="LiveId" clId="{A77AB589-1CC8-4D5E-A735-B2803AC80452}" dt="2026-10-15T10:12:56.713" v="293" actId="47"/>
        <pc:sldMkLst>
          <pc:docMk/>
          <pc:sldMk cId="1677406876" sldId="269"/>
        </pc:sldMkLst>
      </pc:sldChg>
      <pc:sldChg chg="del">
        <pc:chgData name="Lawrence Teixeira" userId="831f394bc9e513ba" providerId="LiveId" clId="{A77AB589-1CC8-4D5E-A735-B2803AC80452}" dt="2026-10-15T10:12:59.265" v="294" actId="47"/>
        <pc:sldMkLst>
          <pc:docMk/>
          <pc:sldMk cId="1727469967" sldId="270"/>
        </pc:sldMkLst>
      </pc:sldChg>
      <pc:sldChg chg="addSp modSp mod modNotesTx">
        <pc:chgData name="Lawrence Teixeira" userId="831f394bc9e513ba" providerId="LiveId" clId="{A77AB589-1CC8-4D5E-A735-B2803AC80452}" dt="2026-10-12T23:24:25.252" v="277" actId="1076"/>
        <pc:sldMkLst>
          <pc:docMk/>
          <pc:sldMk cId="1428649063" sldId="275"/>
        </pc:sldMkLst>
        <pc:spChg chg="mod">
          <ac:chgData name="Lawrence Teixeira" userId="831f394bc9e513ba" providerId="LiveId" clId="{A77AB589-1CC8-4D5E-A735-B2803AC80452}" dt="2026-10-12T15:58:02.093" v="76" actId="1076"/>
          <ac:spMkLst>
            <pc:docMk/>
            <pc:sldMk cId="1428649063" sldId="275"/>
            <ac:spMk id="4" creationId="{56BF9A62-5BBD-442E-ADB8-ECF7D0AC61F1}"/>
          </ac:spMkLst>
        </pc:spChg>
        <pc:picChg chg="add mod">
          <ac:chgData name="Lawrence Teixeira" userId="831f394bc9e513ba" providerId="LiveId" clId="{A77AB589-1CC8-4D5E-A735-B2803AC80452}" dt="2026-10-12T23:24:25.252" v="277" actId="1076"/>
          <ac:picMkLst>
            <pc:docMk/>
            <pc:sldMk cId="1428649063" sldId="275"/>
            <ac:picMk id="8" creationId="{890CBA5E-FED5-71F8-5472-E2FE042FC341}"/>
          </ac:picMkLst>
        </pc:picChg>
      </pc:sldChg>
      <pc:sldChg chg="delSp mod">
        <pc:chgData name="Lawrence Teixeira" userId="831f394bc9e513ba" providerId="LiveId" clId="{A77AB589-1CC8-4D5E-A735-B2803AC80452}" dt="2026-10-12T16:02:27.181" v="84" actId="478"/>
        <pc:sldMkLst>
          <pc:docMk/>
          <pc:sldMk cId="359709624" sldId="278"/>
        </pc:sldMkLst>
      </pc:sldChg>
      <pc:sldChg chg="modNotesTx">
        <pc:chgData name="Lawrence Teixeira" userId="831f394bc9e513ba" providerId="LiveId" clId="{A77AB589-1CC8-4D5E-A735-B2803AC80452}" dt="2026-10-12T22:02:16.403" v="265" actId="6549"/>
        <pc:sldMkLst>
          <pc:docMk/>
          <pc:sldMk cId="0" sldId="285"/>
        </pc:sldMkLst>
      </pc:sldChg>
    </pc:docChg>
  </pc:docChgLst>
</pc:chgInfo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en-US"/>
  <c:roundedCorners val="1"/>
  <c:style val="2"/>
  <c:chart>
    <c:title>
      <c:tx>
        <c:rich>
          <a:bodyPr/>
          <a:lstStyle/>
          <a:p>
            <a:r>
              <a:rPr lang="pt-BR" sz="1425" b="0" i="0" u="none">
                <a:solidFill>
                  <a:srgbClr val="666660"/>
                </a:solidFill>
                <a:latin typeface="Liberation Sans"/>
                <a:ea typeface="Liberation Sans"/>
                <a:cs typeface="Liberation Sans"/>
              </a:rPr>
              <a:t>Mercado global só de agentes de IA, em US$ bilhões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Mercado de agentes de IA (US$ bi)</c:v>
                </c:pt>
              </c:strCache>
            </c:strRef>
          </c:tx>
          <c:spPr>
            <a:solidFill>
              <a:srgbClr val="D24726"/>
            </a:solidFill>
          </c:spPr>
          <c:invertIfNegative val="1"/>
          <c:dLbls>
            <c:numFmt formatCode="0.0&quot; bi&quot;" sourceLinked="0"/>
            <c:spPr>
              <a:noFill/>
              <a:ln>
                <a:noFill/>
              </a:ln>
            </c:spPr>
            <c:txPr>
              <a:bodyPr anchorCtr="1"/>
              <a:lstStyle/>
              <a:p>
                <a:pPr>
                  <a:defRPr sz="1300" b="1" i="0" u="none">
                    <a:solidFill>
                      <a:srgbClr val="262626"/>
                    </a:solidFill>
                    <a:latin typeface="Liberation Sans"/>
                    <a:ea typeface="Liberation Sans"/>
                    <a:cs typeface="Liberation Sans"/>
                  </a:defRPr>
                </a:pPr>
                <a:endParaRPr lang="pt-B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Sheet1!$A$2:$A$7</c:f>
              <c:strCache>
                <c:ptCount val="6"/>
                <c:pt idx="0">
                  <c:v>2025</c:v>
                </c:pt>
                <c:pt idx="1">
                  <c:v>2026</c:v>
                </c:pt>
                <c:pt idx="2">
                  <c:v>2027</c:v>
                </c:pt>
                <c:pt idx="3">
                  <c:v>2028</c:v>
                </c:pt>
                <c:pt idx="4">
                  <c:v>2029</c:v>
                </c:pt>
                <c:pt idx="5">
                  <c:v>2030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7.84</c:v>
                </c:pt>
                <c:pt idx="1">
                  <c:v>11.47</c:v>
                </c:pt>
                <c:pt idx="2">
                  <c:v>16.78</c:v>
                </c:pt>
                <c:pt idx="3">
                  <c:v>24.55</c:v>
                </c:pt>
                <c:pt idx="4">
                  <c:v>35.92</c:v>
                </c:pt>
                <c:pt idx="5">
                  <c:v>52.62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0-8226-4D5A-B3F7-36F44802FBB4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45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>
            <a:solidFill>
              <a:srgbClr val="A6A6A6"/>
            </a:solidFill>
            <a:prstDash val="solid"/>
          </a:ln>
        </c:spPr>
        <c:txPr>
          <a:bodyPr anchorCtr="1"/>
          <a:lstStyle/>
          <a:p>
            <a:pPr>
              <a:defRPr sz="1300" b="0" i="0" u="none">
                <a:solidFill>
                  <a:srgbClr val="595959"/>
                </a:solidFill>
                <a:latin typeface="Liberation Sans"/>
                <a:ea typeface="Liberation Sans"/>
                <a:cs typeface="Liberation Sans"/>
              </a:defRPr>
            </a:pPr>
            <a:endParaRPr lang="pt-BR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crossAx val="2094734554"/>
        <c:crosses val="autoZero"/>
        <c:crossBetween val="between"/>
      </c:valAx>
      <c:spPr>
        <a:solidFill>
          <a:srgbClr val="FAF9F6"/>
        </a:solidFill>
        <a:ln>
          <a:noFill/>
        </a:ln>
      </c:spPr>
    </c:plotArea>
    <c:plotVisOnly val="1"/>
    <c:dispBlanksAs val="zero"/>
    <c:showDLblsOverMax val="1"/>
  </c:chart>
  <c:spPr>
    <a:noFill/>
    <a:ln>
      <a:noFill/>
    </a:ln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en-US"/>
  <c:roundedCorners val="1"/>
  <c:style val="2"/>
  <c:chart>
    <c:title>
      <c:tx>
        <c:rich>
          <a:bodyPr/>
          <a:lstStyle/>
          <a:p>
            <a:r>
              <a:rPr lang="pt-BR" sz="1500" b="0" i="0" u="none">
                <a:solidFill>
                  <a:srgbClr val="666660"/>
                </a:solidFill>
                <a:latin typeface="Liberation Sans"/>
                <a:ea typeface="Liberation Sans"/>
                <a:cs typeface="Liberation Sans"/>
              </a:rPr>
              <a:t>ChatGPT: usuários ativos por semana (milhões)</a:t>
            </a:r>
          </a:p>
        </c:rich>
      </c:tx>
      <c:overlay val="0"/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ChatGPT — usuários semanais (milhões)</c:v>
                </c:pt>
              </c:strCache>
            </c:strRef>
          </c:tx>
          <c:spPr>
            <a:ln w="50800">
              <a:solidFill>
                <a:srgbClr val="D24726"/>
              </a:solidFill>
              <a:prstDash val="solid"/>
            </a:ln>
          </c:spPr>
          <c:marker>
            <c:symbol val="circle"/>
            <c:size val="10"/>
            <c:spPr>
              <a:solidFill>
                <a:srgbClr val="D24726"/>
              </a:solidFill>
              <a:ln w="9525">
                <a:solidFill>
                  <a:srgbClr val="D24726"/>
                </a:solidFill>
                <a:prstDash val="solid"/>
              </a:ln>
            </c:spPr>
          </c:marker>
          <c:dLbls>
            <c:numFmt formatCode="0" sourceLinked="0"/>
            <c:spPr>
              <a:noFill/>
              <a:ln>
                <a:noFill/>
              </a:ln>
            </c:spPr>
            <c:txPr>
              <a:bodyPr anchorCtr="1"/>
              <a:lstStyle/>
              <a:p>
                <a:pPr>
                  <a:defRPr sz="1300" b="1" i="0" u="none">
                    <a:solidFill>
                      <a:srgbClr val="262626"/>
                    </a:solidFill>
                    <a:latin typeface="Liberation Sans"/>
                    <a:ea typeface="Liberation Sans"/>
                    <a:cs typeface="Liberation Sans"/>
                  </a:defRPr>
                </a:pPr>
                <a:endParaRPr lang="pt-B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fev/2025</c:v>
                </c:pt>
                <c:pt idx="1">
                  <c:v>out/2025</c:v>
                </c:pt>
                <c:pt idx="2">
                  <c:v>fev/2026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400</c:v>
                </c:pt>
                <c:pt idx="1">
                  <c:v>800</c:v>
                </c:pt>
                <c:pt idx="2">
                  <c:v>900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BA38-48B3-B622-95994FD5CBA4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>
            <a:solidFill>
              <a:srgbClr val="A6A6A6"/>
            </a:solidFill>
            <a:prstDash val="solid"/>
          </a:ln>
        </c:spPr>
        <c:txPr>
          <a:bodyPr anchorCtr="1"/>
          <a:lstStyle/>
          <a:p>
            <a:pPr>
              <a:defRPr sz="1300" b="0" i="0" u="none">
                <a:solidFill>
                  <a:srgbClr val="595959"/>
                </a:solidFill>
                <a:latin typeface="Liberation Sans"/>
                <a:ea typeface="Liberation Sans"/>
                <a:cs typeface="Liberation Sans"/>
              </a:defRPr>
            </a:pPr>
            <a:endParaRPr lang="pt-BR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050"/>
          <c:min val="0"/>
        </c:scaling>
        <c:delete val="1"/>
        <c:axPos val="l"/>
        <c:numFmt formatCode="General" sourceLinked="0"/>
        <c:majorTickMark val="out"/>
        <c:minorTickMark val="none"/>
        <c:tickLblPos val="nextTo"/>
        <c:crossAx val="2094734554"/>
        <c:crosses val="autoZero"/>
        <c:crossBetween val="between"/>
      </c:valAx>
      <c:spPr>
        <a:solidFill>
          <a:srgbClr val="FAF9F6"/>
        </a:solidFill>
        <a:ln>
          <a:noFill/>
        </a:ln>
      </c:spPr>
    </c:plotArea>
    <c:plotVisOnly val="1"/>
    <c:dispBlanksAs val="zero"/>
    <c:showDLblsOverMax val="1"/>
  </c:chart>
  <c:spPr>
    <a:noFill/>
    <a:ln>
      <a:noFill/>
    </a:ln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00:00–01:00 | Abertura Apresente o objetivo da oficina: delegar trabalho digital com fontes, critérios e limites, e conferir a entrega. Pergunte quem já usa IA em alguma tarefa de secretariado. Não gastar a abertura lendo currículo. O encontro combina fundamento técnico e prática. As demonstrações com o Claude usam dados fictícios; a final, com o Jarvis, é um caso real combinado com um convidado, sem caixa de entrada ou agenda pessoais no telão. A demonstração final terá conversa por voz moderada pelo apresentador. Contexto profissional de Lawrence: experiência em tecnologia, dados, automação e agentes. As marcas CIO RJ e ACRJ e o contato vêm do material original. A fotografia é uma ilustração gerada para a oficina, não um registro de um escritório real.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01:00–04:00 | Trajetória</a:t>
            </a:r>
          </a:p>
          <a:p>
            <a:r>
              <a:t>Mais de 30 anos de experiência em TI. CTO e IT System Director no Licks Attorneys desde setembro de 2018. Anteriormente CIO e IT Director da ClarkeModet (1999–2018). MBA em Inteligência Artificial no Ibmec (2021–2022). Vice-presidente do CIORJ desde maio de 2026 e conselheiro do Conselho de Inovação e Transformação Digital da ACRJ desde maio de 2026. Relacionar essa experiência à aplicação de tecnologia em rotinas administrativas.</a:t>
            </a:r>
          </a:p>
          <a:p>
            <a:endParaRPr/>
          </a:p>
          <a:p>
            <a:r>
              <a:t>Fontes: </a:t>
            </a:r>
          </a:p>
          <a:p>
            <a:r>
              <a:t>https://lawrence.eti.br</a:t>
            </a:r>
          </a:p>
          <a:p>
            <a:r>
              <a:t>https://www.linkedin.com/in/lawrenceteixeira</a:t>
            </a:r>
          </a:p>
          <a:p>
            <a:r>
              <a:t>Coautor do livro CIO &amp; CTO: Excelência Orçamentária, da Brasport.</a:t>
            </a:r>
          </a:p>
          <a:p>
            <a:r>
              <a:t>Contribuiu com três capítulos: IA na Identificação de Tendências e Oportunidades de Redução de Custos; IA na Governança; Transformação Digital e a Evolução do Papel do CIO/CTO.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dirty="0"/>
              <a:t>04:00–06:00 | Mercado.</a:t>
            </a:r>
          </a:p>
          <a:p>
            <a:r>
              <a:rPr dirty="0"/>
              <a:t>"</a:t>
            </a:r>
            <a:r>
              <a:rPr dirty="0" err="1"/>
              <a:t>Começando</a:t>
            </a:r>
            <a:r>
              <a:rPr dirty="0"/>
              <a:t> </a:t>
            </a:r>
            <a:r>
              <a:rPr dirty="0" err="1"/>
              <a:t>pelo</a:t>
            </a:r>
            <a:r>
              <a:rPr dirty="0"/>
              <a:t> </a:t>
            </a:r>
            <a:r>
              <a:rPr dirty="0" err="1"/>
              <a:t>dinheiro</a:t>
            </a:r>
            <a:r>
              <a:rPr dirty="0"/>
              <a:t>, </a:t>
            </a:r>
            <a:r>
              <a:rPr dirty="0" err="1"/>
              <a:t>porque</a:t>
            </a:r>
            <a:r>
              <a:rPr dirty="0"/>
              <a:t> é </a:t>
            </a:r>
            <a:r>
              <a:rPr dirty="0" err="1"/>
              <a:t>ele</a:t>
            </a:r>
            <a:r>
              <a:rPr dirty="0"/>
              <a:t> </a:t>
            </a:r>
            <a:r>
              <a:rPr dirty="0" err="1"/>
              <a:t>que</a:t>
            </a:r>
            <a:r>
              <a:rPr dirty="0"/>
              <a:t> </a:t>
            </a:r>
            <a:r>
              <a:rPr dirty="0" err="1"/>
              <a:t>explica</a:t>
            </a:r>
            <a:r>
              <a:rPr dirty="0"/>
              <a:t> </a:t>
            </a:r>
            <a:r>
              <a:rPr dirty="0" err="1"/>
              <a:t>por</a:t>
            </a:r>
            <a:r>
              <a:rPr dirty="0"/>
              <a:t> </a:t>
            </a:r>
            <a:r>
              <a:rPr dirty="0" err="1"/>
              <a:t>que</a:t>
            </a:r>
            <a:r>
              <a:rPr dirty="0"/>
              <a:t> </a:t>
            </a:r>
            <a:r>
              <a:rPr dirty="0" err="1"/>
              <a:t>vocês</a:t>
            </a:r>
            <a:r>
              <a:rPr dirty="0"/>
              <a:t> </a:t>
            </a:r>
            <a:r>
              <a:rPr dirty="0" err="1"/>
              <a:t>vão</a:t>
            </a:r>
            <a:r>
              <a:rPr dirty="0"/>
              <a:t> </a:t>
            </a:r>
            <a:r>
              <a:rPr dirty="0" err="1"/>
              <a:t>ver</a:t>
            </a:r>
            <a:r>
              <a:rPr dirty="0"/>
              <a:t> IA </a:t>
            </a:r>
            <a:r>
              <a:rPr dirty="0" err="1"/>
              <a:t>em</a:t>
            </a:r>
            <a:r>
              <a:rPr dirty="0"/>
              <a:t> </a:t>
            </a:r>
            <a:r>
              <a:rPr dirty="0" err="1"/>
              <a:t>todo</a:t>
            </a:r>
            <a:r>
              <a:rPr dirty="0"/>
              <a:t> </a:t>
            </a:r>
            <a:r>
              <a:rPr dirty="0" err="1"/>
              <a:t>lugar</a:t>
            </a:r>
            <a:r>
              <a:rPr dirty="0"/>
              <a:t>. O Gartner </a:t>
            </a:r>
            <a:r>
              <a:rPr dirty="0" err="1"/>
              <a:t>estima</a:t>
            </a:r>
            <a:r>
              <a:rPr dirty="0"/>
              <a:t> </a:t>
            </a:r>
            <a:r>
              <a:rPr dirty="0" err="1"/>
              <a:t>que</a:t>
            </a:r>
            <a:r>
              <a:rPr dirty="0"/>
              <a:t> o </a:t>
            </a:r>
            <a:r>
              <a:rPr dirty="0" err="1"/>
              <a:t>mundo</a:t>
            </a:r>
            <a:r>
              <a:rPr dirty="0"/>
              <a:t> </a:t>
            </a:r>
            <a:r>
              <a:rPr dirty="0" err="1"/>
              <a:t>vai</a:t>
            </a:r>
            <a:r>
              <a:rPr dirty="0"/>
              <a:t> </a:t>
            </a:r>
            <a:r>
              <a:rPr dirty="0" err="1"/>
              <a:t>gastar</a:t>
            </a:r>
            <a:r>
              <a:rPr dirty="0"/>
              <a:t> 2,7 </a:t>
            </a:r>
            <a:r>
              <a:rPr dirty="0" err="1"/>
              <a:t>trilhões</a:t>
            </a:r>
            <a:r>
              <a:rPr dirty="0"/>
              <a:t> de </a:t>
            </a:r>
            <a:r>
              <a:rPr dirty="0" err="1"/>
              <a:t>dólares</a:t>
            </a:r>
            <a:r>
              <a:rPr dirty="0"/>
              <a:t> com IA </a:t>
            </a:r>
            <a:r>
              <a:rPr dirty="0" err="1"/>
              <a:t>em</a:t>
            </a:r>
            <a:r>
              <a:rPr dirty="0"/>
              <a:t> 2026 — </a:t>
            </a:r>
            <a:r>
              <a:rPr dirty="0" err="1"/>
              <a:t>quase</a:t>
            </a:r>
            <a:r>
              <a:rPr dirty="0"/>
              <a:t> 50% a </a:t>
            </a:r>
            <a:r>
              <a:rPr dirty="0" err="1"/>
              <a:t>mais</a:t>
            </a:r>
            <a:r>
              <a:rPr dirty="0"/>
              <a:t> </a:t>
            </a:r>
            <a:r>
              <a:rPr dirty="0" err="1"/>
              <a:t>que</a:t>
            </a:r>
            <a:r>
              <a:rPr dirty="0"/>
              <a:t> </a:t>
            </a:r>
            <a:r>
              <a:rPr dirty="0" err="1"/>
              <a:t>em</a:t>
            </a:r>
            <a:r>
              <a:rPr dirty="0"/>
              <a:t> 2025. A </a:t>
            </a:r>
            <a:r>
              <a:rPr dirty="0" err="1"/>
              <a:t>maior</a:t>
            </a:r>
            <a:r>
              <a:rPr dirty="0"/>
              <a:t> </a:t>
            </a:r>
            <a:r>
              <a:rPr dirty="0" err="1"/>
              <a:t>parte</a:t>
            </a:r>
            <a:r>
              <a:rPr dirty="0"/>
              <a:t> </a:t>
            </a:r>
            <a:r>
              <a:rPr dirty="0" err="1"/>
              <a:t>ainda</a:t>
            </a:r>
            <a:r>
              <a:rPr dirty="0"/>
              <a:t> </a:t>
            </a:r>
            <a:r>
              <a:rPr dirty="0" err="1"/>
              <a:t>vai</a:t>
            </a:r>
            <a:r>
              <a:rPr dirty="0"/>
              <a:t> para </a:t>
            </a:r>
            <a:r>
              <a:rPr dirty="0" err="1"/>
              <a:t>infraestrutura</a:t>
            </a:r>
            <a:r>
              <a:rPr dirty="0"/>
              <a:t>: chips, </a:t>
            </a:r>
            <a:r>
              <a:rPr dirty="0" err="1"/>
              <a:t>servidores</a:t>
            </a:r>
            <a:r>
              <a:rPr dirty="0"/>
              <a:t> e </a:t>
            </a:r>
            <a:r>
              <a:rPr dirty="0" err="1"/>
              <a:t>nuvem</a:t>
            </a:r>
            <a:r>
              <a:rPr dirty="0"/>
              <a:t>.</a:t>
            </a:r>
          </a:p>
          <a:p>
            <a:r>
              <a:rPr dirty="0"/>
              <a:t>Esse </a:t>
            </a:r>
            <a:r>
              <a:rPr dirty="0" err="1"/>
              <a:t>número</a:t>
            </a:r>
            <a:r>
              <a:rPr dirty="0"/>
              <a:t> é a IA </a:t>
            </a:r>
            <a:r>
              <a:rPr dirty="0" err="1"/>
              <a:t>inteira</a:t>
            </a:r>
            <a:r>
              <a:rPr dirty="0"/>
              <a:t>. As barras </a:t>
            </a:r>
            <a:r>
              <a:rPr dirty="0" err="1"/>
              <a:t>mostram</a:t>
            </a:r>
            <a:r>
              <a:rPr dirty="0"/>
              <a:t> </a:t>
            </a:r>
            <a:r>
              <a:rPr dirty="0" err="1"/>
              <a:t>só</a:t>
            </a:r>
            <a:r>
              <a:rPr dirty="0"/>
              <a:t> um </a:t>
            </a:r>
            <a:r>
              <a:rPr dirty="0" err="1"/>
              <a:t>recorte</a:t>
            </a:r>
            <a:r>
              <a:rPr dirty="0"/>
              <a:t>, o mercado de </a:t>
            </a:r>
            <a:r>
              <a:rPr dirty="0" err="1"/>
              <a:t>agentes</a:t>
            </a:r>
            <a:r>
              <a:rPr dirty="0"/>
              <a:t> de IA, </a:t>
            </a:r>
            <a:r>
              <a:rPr dirty="0" err="1"/>
              <a:t>que</a:t>
            </a:r>
            <a:r>
              <a:rPr dirty="0"/>
              <a:t> é o </a:t>
            </a:r>
            <a:r>
              <a:rPr dirty="0" err="1"/>
              <a:t>tema</a:t>
            </a:r>
            <a:r>
              <a:rPr dirty="0"/>
              <a:t> de </a:t>
            </a:r>
            <a:r>
              <a:rPr dirty="0" err="1"/>
              <a:t>hoje</a:t>
            </a:r>
            <a:r>
              <a:rPr dirty="0"/>
              <a:t>: </a:t>
            </a:r>
            <a:r>
              <a:rPr dirty="0" err="1"/>
              <a:t>segundo</a:t>
            </a:r>
            <a:r>
              <a:rPr dirty="0"/>
              <a:t> a </a:t>
            </a:r>
            <a:r>
              <a:rPr dirty="0" err="1"/>
              <a:t>MarketsandMarkets</a:t>
            </a:r>
            <a:r>
              <a:rPr dirty="0"/>
              <a:t>, </a:t>
            </a:r>
            <a:r>
              <a:rPr dirty="0" err="1"/>
              <a:t>deve</a:t>
            </a:r>
            <a:r>
              <a:rPr dirty="0"/>
              <a:t> </a:t>
            </a:r>
            <a:r>
              <a:rPr dirty="0" err="1"/>
              <a:t>sair</a:t>
            </a:r>
            <a:r>
              <a:rPr dirty="0"/>
              <a:t> de 7,8 </a:t>
            </a:r>
            <a:r>
              <a:rPr dirty="0" err="1"/>
              <a:t>bilhões</a:t>
            </a:r>
            <a:r>
              <a:rPr dirty="0"/>
              <a:t> de </a:t>
            </a:r>
            <a:r>
              <a:rPr dirty="0" err="1"/>
              <a:t>dólares</a:t>
            </a:r>
            <a:r>
              <a:rPr dirty="0"/>
              <a:t> </a:t>
            </a:r>
            <a:r>
              <a:rPr dirty="0" err="1"/>
              <a:t>em</a:t>
            </a:r>
            <a:r>
              <a:rPr dirty="0"/>
              <a:t> 2025 para </a:t>
            </a:r>
            <a:r>
              <a:rPr dirty="0" err="1"/>
              <a:t>mais</a:t>
            </a:r>
            <a:r>
              <a:rPr dirty="0"/>
              <a:t> de 50 </a:t>
            </a:r>
            <a:r>
              <a:rPr dirty="0" err="1"/>
              <a:t>bilhões</a:t>
            </a:r>
            <a:r>
              <a:rPr dirty="0"/>
              <a:t> </a:t>
            </a:r>
            <a:r>
              <a:rPr dirty="0" err="1"/>
              <a:t>em</a:t>
            </a:r>
            <a:r>
              <a:rPr dirty="0"/>
              <a:t> 2030 — </a:t>
            </a:r>
            <a:r>
              <a:rPr dirty="0" err="1"/>
              <a:t>crescimento</a:t>
            </a:r>
            <a:r>
              <a:rPr dirty="0"/>
              <a:t> de 46% </a:t>
            </a:r>
            <a:r>
              <a:rPr dirty="0" err="1"/>
              <a:t>ao</a:t>
            </a:r>
            <a:r>
              <a:rPr dirty="0"/>
              <a:t> </a:t>
            </a:r>
            <a:r>
              <a:rPr dirty="0" err="1"/>
              <a:t>ano</a:t>
            </a:r>
            <a:r>
              <a:rPr dirty="0"/>
              <a:t>. Por </a:t>
            </a:r>
            <a:r>
              <a:rPr dirty="0" err="1"/>
              <a:t>isso</a:t>
            </a:r>
            <a:r>
              <a:rPr dirty="0"/>
              <a:t> a barra de 2026, 11,5 </a:t>
            </a:r>
            <a:r>
              <a:rPr dirty="0" err="1"/>
              <a:t>bilhões</a:t>
            </a:r>
            <a:r>
              <a:rPr dirty="0"/>
              <a:t>, </a:t>
            </a:r>
            <a:r>
              <a:rPr dirty="0" err="1"/>
              <a:t>não</a:t>
            </a:r>
            <a:r>
              <a:rPr dirty="0"/>
              <a:t> bate com </a:t>
            </a:r>
            <a:r>
              <a:rPr dirty="0" err="1"/>
              <a:t>os</a:t>
            </a:r>
            <a:r>
              <a:rPr dirty="0"/>
              <a:t> 2,7 </a:t>
            </a:r>
            <a:r>
              <a:rPr dirty="0" err="1"/>
              <a:t>trilhões</a:t>
            </a:r>
            <a:r>
              <a:rPr dirty="0"/>
              <a:t>: </a:t>
            </a:r>
            <a:r>
              <a:rPr dirty="0" err="1"/>
              <a:t>são</a:t>
            </a:r>
            <a:r>
              <a:rPr dirty="0"/>
              <a:t> </a:t>
            </a:r>
            <a:r>
              <a:rPr dirty="0" err="1"/>
              <a:t>medidas</a:t>
            </a:r>
            <a:r>
              <a:rPr dirty="0"/>
              <a:t> </a:t>
            </a:r>
            <a:r>
              <a:rPr dirty="0" err="1"/>
              <a:t>diferentes</a:t>
            </a:r>
            <a:r>
              <a:rPr dirty="0"/>
              <a:t>.</a:t>
            </a:r>
          </a:p>
          <a:p>
            <a:r>
              <a:rPr dirty="0"/>
              <a:t>Do </a:t>
            </a:r>
            <a:r>
              <a:rPr dirty="0" err="1"/>
              <a:t>lado</a:t>
            </a:r>
            <a:r>
              <a:rPr dirty="0"/>
              <a:t> do </a:t>
            </a:r>
            <a:r>
              <a:rPr dirty="0" err="1"/>
              <a:t>uso</a:t>
            </a:r>
            <a:r>
              <a:rPr dirty="0"/>
              <a:t>: </a:t>
            </a:r>
            <a:r>
              <a:rPr dirty="0" err="1"/>
              <a:t>em</a:t>
            </a:r>
            <a:r>
              <a:rPr dirty="0"/>
              <a:t> </a:t>
            </a:r>
            <a:r>
              <a:rPr dirty="0" err="1"/>
              <a:t>fevereiro</a:t>
            </a:r>
            <a:r>
              <a:rPr dirty="0"/>
              <a:t> a OpenAI </a:t>
            </a:r>
            <a:r>
              <a:rPr dirty="0" err="1"/>
              <a:t>informou</a:t>
            </a:r>
            <a:r>
              <a:rPr dirty="0"/>
              <a:t> </a:t>
            </a:r>
            <a:r>
              <a:rPr dirty="0" err="1"/>
              <a:t>mais</a:t>
            </a:r>
            <a:r>
              <a:rPr dirty="0"/>
              <a:t> de 900 </a:t>
            </a:r>
            <a:r>
              <a:rPr dirty="0" err="1"/>
              <a:t>milhões</a:t>
            </a:r>
            <a:r>
              <a:rPr dirty="0"/>
              <a:t> de </a:t>
            </a:r>
            <a:r>
              <a:rPr dirty="0" err="1"/>
              <a:t>usuários</a:t>
            </a:r>
            <a:r>
              <a:rPr dirty="0"/>
              <a:t> </a:t>
            </a:r>
            <a:r>
              <a:rPr dirty="0" err="1"/>
              <a:t>semanais</a:t>
            </a:r>
            <a:r>
              <a:rPr dirty="0"/>
              <a:t> do ChatGPT, e </a:t>
            </a:r>
            <a:r>
              <a:rPr dirty="0" err="1"/>
              <a:t>em</a:t>
            </a:r>
            <a:r>
              <a:rPr dirty="0"/>
              <a:t> </a:t>
            </a:r>
            <a:r>
              <a:rPr dirty="0" err="1"/>
              <a:t>agosto</a:t>
            </a:r>
            <a:r>
              <a:rPr dirty="0"/>
              <a:t> o Google </a:t>
            </a:r>
            <a:r>
              <a:rPr dirty="0" err="1"/>
              <a:t>anunciou</a:t>
            </a:r>
            <a:r>
              <a:rPr dirty="0"/>
              <a:t> </a:t>
            </a:r>
            <a:r>
              <a:rPr dirty="0" err="1"/>
              <a:t>que</a:t>
            </a:r>
            <a:r>
              <a:rPr dirty="0"/>
              <a:t> o app Gemini </a:t>
            </a:r>
            <a:r>
              <a:rPr dirty="0" err="1"/>
              <a:t>passou</a:t>
            </a:r>
            <a:r>
              <a:rPr dirty="0"/>
              <a:t> de 1 </a:t>
            </a:r>
            <a:r>
              <a:rPr dirty="0" err="1"/>
              <a:t>bilhão</a:t>
            </a:r>
            <a:r>
              <a:rPr dirty="0"/>
              <a:t> de </a:t>
            </a:r>
            <a:r>
              <a:rPr dirty="0" err="1"/>
              <a:t>usuários</a:t>
            </a:r>
            <a:r>
              <a:rPr dirty="0"/>
              <a:t> </a:t>
            </a:r>
            <a:r>
              <a:rPr dirty="0" err="1"/>
              <a:t>por</a:t>
            </a:r>
            <a:r>
              <a:rPr dirty="0"/>
              <a:t> </a:t>
            </a:r>
            <a:r>
              <a:rPr dirty="0" err="1"/>
              <a:t>mês</a:t>
            </a:r>
            <a:r>
              <a:rPr dirty="0"/>
              <a:t>. (</a:t>
            </a:r>
            <a:r>
              <a:rPr dirty="0" err="1"/>
              <a:t>Atenção</a:t>
            </a:r>
            <a:r>
              <a:rPr dirty="0"/>
              <a:t>: </a:t>
            </a:r>
            <a:r>
              <a:rPr dirty="0" err="1"/>
              <a:t>semanal</a:t>
            </a:r>
            <a:r>
              <a:rPr dirty="0"/>
              <a:t> e mensal </a:t>
            </a:r>
            <a:r>
              <a:rPr dirty="0" err="1"/>
              <a:t>não</a:t>
            </a:r>
            <a:r>
              <a:rPr dirty="0"/>
              <a:t> se </a:t>
            </a:r>
            <a:r>
              <a:rPr dirty="0" err="1"/>
              <a:t>comparam</a:t>
            </a:r>
            <a:r>
              <a:rPr dirty="0"/>
              <a:t> </a:t>
            </a:r>
            <a:r>
              <a:rPr dirty="0" err="1"/>
              <a:t>diretamente</a:t>
            </a:r>
            <a:r>
              <a:rPr dirty="0"/>
              <a:t>.)</a:t>
            </a:r>
          </a:p>
          <a:p>
            <a:r>
              <a:rPr dirty="0"/>
              <a:t>E o dado </a:t>
            </a:r>
            <a:r>
              <a:rPr dirty="0" err="1"/>
              <a:t>que</a:t>
            </a:r>
            <a:r>
              <a:rPr dirty="0"/>
              <a:t> </a:t>
            </a:r>
            <a:r>
              <a:rPr dirty="0" err="1"/>
              <a:t>mais</a:t>
            </a:r>
            <a:r>
              <a:rPr dirty="0"/>
              <a:t> </a:t>
            </a:r>
            <a:r>
              <a:rPr dirty="0" err="1"/>
              <a:t>afeta</a:t>
            </a:r>
            <a:r>
              <a:rPr dirty="0"/>
              <a:t> </a:t>
            </a:r>
            <a:r>
              <a:rPr dirty="0" err="1"/>
              <a:t>vocês</a:t>
            </a:r>
            <a:r>
              <a:rPr dirty="0"/>
              <a:t>: o Gartner </a:t>
            </a:r>
            <a:r>
              <a:rPr dirty="0" err="1"/>
              <a:t>prevê</a:t>
            </a:r>
            <a:r>
              <a:rPr dirty="0"/>
              <a:t> </a:t>
            </a:r>
            <a:r>
              <a:rPr dirty="0" err="1"/>
              <a:t>que</a:t>
            </a:r>
            <a:r>
              <a:rPr dirty="0"/>
              <a:t> 40% dos </a:t>
            </a:r>
            <a:r>
              <a:rPr dirty="0" err="1"/>
              <a:t>aplicativos</a:t>
            </a:r>
            <a:r>
              <a:rPr dirty="0"/>
              <a:t> </a:t>
            </a:r>
            <a:r>
              <a:rPr dirty="0" err="1"/>
              <a:t>corporativos</a:t>
            </a:r>
            <a:r>
              <a:rPr dirty="0"/>
              <a:t> </a:t>
            </a:r>
            <a:r>
              <a:rPr dirty="0" err="1"/>
              <a:t>terão</a:t>
            </a:r>
            <a:r>
              <a:rPr dirty="0"/>
              <a:t> </a:t>
            </a:r>
            <a:r>
              <a:rPr dirty="0" err="1"/>
              <a:t>agentes</a:t>
            </a:r>
            <a:r>
              <a:rPr dirty="0"/>
              <a:t> </a:t>
            </a:r>
            <a:r>
              <a:rPr dirty="0" err="1"/>
              <a:t>embutidos</a:t>
            </a:r>
            <a:r>
              <a:rPr dirty="0"/>
              <a:t> </a:t>
            </a:r>
            <a:r>
              <a:rPr dirty="0" err="1"/>
              <a:t>até</a:t>
            </a:r>
            <a:r>
              <a:rPr dirty="0"/>
              <a:t> o </a:t>
            </a:r>
            <a:r>
              <a:rPr dirty="0" err="1"/>
              <a:t>fim</a:t>
            </a:r>
            <a:r>
              <a:rPr dirty="0"/>
              <a:t> de 2026 — </a:t>
            </a:r>
            <a:r>
              <a:rPr dirty="0" err="1"/>
              <a:t>em</a:t>
            </a:r>
            <a:r>
              <a:rPr dirty="0"/>
              <a:t> 2025 </a:t>
            </a:r>
            <a:r>
              <a:rPr dirty="0" err="1"/>
              <a:t>eram</a:t>
            </a:r>
            <a:r>
              <a:rPr dirty="0"/>
              <a:t> </a:t>
            </a:r>
            <a:r>
              <a:rPr dirty="0" err="1"/>
              <a:t>menos</a:t>
            </a:r>
            <a:r>
              <a:rPr dirty="0"/>
              <a:t> de 5%. O </a:t>
            </a:r>
            <a:r>
              <a:rPr dirty="0" err="1"/>
              <a:t>agente</a:t>
            </a:r>
            <a:r>
              <a:rPr dirty="0"/>
              <a:t> </a:t>
            </a:r>
            <a:r>
              <a:rPr dirty="0" err="1"/>
              <a:t>vai</a:t>
            </a:r>
            <a:r>
              <a:rPr dirty="0"/>
              <a:t> </a:t>
            </a:r>
            <a:r>
              <a:rPr dirty="0" err="1"/>
              <a:t>chegar</a:t>
            </a:r>
            <a:r>
              <a:rPr dirty="0"/>
              <a:t> </a:t>
            </a:r>
            <a:r>
              <a:rPr dirty="0" err="1"/>
              <a:t>pelo</a:t>
            </a:r>
            <a:r>
              <a:rPr dirty="0"/>
              <a:t> Outlook, </a:t>
            </a:r>
            <a:r>
              <a:rPr dirty="0" err="1"/>
              <a:t>pelo</a:t>
            </a:r>
            <a:r>
              <a:rPr dirty="0"/>
              <a:t> Teams, </a:t>
            </a:r>
            <a:r>
              <a:rPr dirty="0" err="1"/>
              <a:t>pelo</a:t>
            </a:r>
            <a:r>
              <a:rPr dirty="0"/>
              <a:t> </a:t>
            </a:r>
            <a:r>
              <a:rPr dirty="0" err="1"/>
              <a:t>sistema</a:t>
            </a:r>
            <a:r>
              <a:rPr dirty="0"/>
              <a:t> de </a:t>
            </a:r>
            <a:r>
              <a:rPr dirty="0" err="1"/>
              <a:t>viagens</a:t>
            </a:r>
            <a:r>
              <a:rPr dirty="0"/>
              <a:t>. A </a:t>
            </a:r>
            <a:r>
              <a:rPr dirty="0" err="1"/>
              <a:t>questão</a:t>
            </a:r>
            <a:r>
              <a:rPr dirty="0"/>
              <a:t> é </a:t>
            </a:r>
            <a:r>
              <a:rPr dirty="0" err="1"/>
              <a:t>chegar</a:t>
            </a:r>
            <a:r>
              <a:rPr dirty="0"/>
              <a:t> </a:t>
            </a:r>
            <a:r>
              <a:rPr dirty="0" err="1"/>
              <a:t>preparada</a:t>
            </a:r>
            <a:r>
              <a:rPr dirty="0"/>
              <a:t>."</a:t>
            </a:r>
          </a:p>
          <a:p>
            <a:r>
              <a:rPr dirty="0"/>
              <a:t>Obs.: </a:t>
            </a:r>
            <a:r>
              <a:rPr dirty="0" err="1"/>
              <a:t>os</a:t>
            </a:r>
            <a:r>
              <a:rPr dirty="0"/>
              <a:t> dados </a:t>
            </a:r>
            <a:r>
              <a:rPr dirty="0" err="1"/>
              <a:t>públicos</a:t>
            </a:r>
            <a:r>
              <a:rPr dirty="0"/>
              <a:t> da </a:t>
            </a:r>
            <a:r>
              <a:rPr dirty="0" err="1"/>
              <a:t>MarketsandMarkets</a:t>
            </a:r>
            <a:r>
              <a:rPr dirty="0"/>
              <a:t> </a:t>
            </a:r>
            <a:r>
              <a:rPr dirty="0" err="1"/>
              <a:t>trazem</a:t>
            </a:r>
            <a:r>
              <a:rPr dirty="0"/>
              <a:t> </a:t>
            </a:r>
            <a:r>
              <a:rPr dirty="0" err="1"/>
              <a:t>só</a:t>
            </a:r>
            <a:r>
              <a:rPr dirty="0"/>
              <a:t> 2025 e 2030 (</a:t>
            </a:r>
            <a:r>
              <a:rPr dirty="0" err="1"/>
              <a:t>previsão</a:t>
            </a:r>
            <a:r>
              <a:rPr dirty="0"/>
              <a:t> de </a:t>
            </a:r>
            <a:r>
              <a:rPr dirty="0" err="1"/>
              <a:t>abr</a:t>
            </a:r>
            <a:r>
              <a:rPr dirty="0"/>
              <a:t>/2025); no </a:t>
            </a:r>
            <a:r>
              <a:rPr dirty="0" err="1"/>
              <a:t>gráfico</a:t>
            </a:r>
            <a:r>
              <a:rPr dirty="0"/>
              <a:t>, 2026–2029 </a:t>
            </a:r>
            <a:r>
              <a:rPr dirty="0" err="1"/>
              <a:t>foram</a:t>
            </a:r>
            <a:r>
              <a:rPr dirty="0"/>
              <a:t> </a:t>
            </a:r>
            <a:r>
              <a:rPr dirty="0" err="1"/>
              <a:t>calculados</a:t>
            </a:r>
            <a:r>
              <a:rPr dirty="0"/>
              <a:t> com a </a:t>
            </a:r>
            <a:r>
              <a:rPr dirty="0" err="1"/>
              <a:t>média</a:t>
            </a:r>
            <a:r>
              <a:rPr dirty="0"/>
              <a:t> de 46,3% </a:t>
            </a:r>
            <a:r>
              <a:rPr dirty="0" err="1"/>
              <a:t>ao</a:t>
            </a:r>
            <a:r>
              <a:rPr dirty="0"/>
              <a:t> </a:t>
            </a:r>
            <a:r>
              <a:rPr dirty="0" err="1"/>
              <a:t>ano</a:t>
            </a:r>
            <a:r>
              <a:rPr dirty="0"/>
              <a:t>. </a:t>
            </a:r>
            <a:r>
              <a:rPr dirty="0" err="1"/>
              <a:t>Os</a:t>
            </a:r>
            <a:r>
              <a:rPr dirty="0"/>
              <a:t> </a:t>
            </a:r>
            <a:r>
              <a:rPr dirty="0" err="1"/>
              <a:t>números</a:t>
            </a:r>
            <a:r>
              <a:rPr dirty="0"/>
              <a:t> de mercado </a:t>
            </a:r>
            <a:r>
              <a:rPr dirty="0" err="1"/>
              <a:t>variam</a:t>
            </a:r>
            <a:r>
              <a:rPr dirty="0"/>
              <a:t> </a:t>
            </a:r>
            <a:r>
              <a:rPr dirty="0" err="1"/>
              <a:t>muito</a:t>
            </a:r>
            <a:r>
              <a:rPr dirty="0"/>
              <a:t> entre </a:t>
            </a:r>
            <a:r>
              <a:rPr dirty="0" err="1"/>
              <a:t>institutos</a:t>
            </a:r>
            <a:r>
              <a:rPr dirty="0"/>
              <a:t> </a:t>
            </a:r>
            <a:r>
              <a:rPr dirty="0" err="1"/>
              <a:t>porque</a:t>
            </a:r>
            <a:r>
              <a:rPr dirty="0"/>
              <a:t> </a:t>
            </a:r>
            <a:r>
              <a:rPr dirty="0" err="1"/>
              <a:t>cada</a:t>
            </a:r>
            <a:r>
              <a:rPr dirty="0"/>
              <a:t> um </a:t>
            </a:r>
            <a:r>
              <a:rPr dirty="0" err="1"/>
              <a:t>mede</a:t>
            </a:r>
            <a:r>
              <a:rPr dirty="0"/>
              <a:t> um </a:t>
            </a:r>
            <a:r>
              <a:rPr dirty="0" err="1"/>
              <a:t>recorte</a:t>
            </a:r>
            <a:r>
              <a:rPr dirty="0"/>
              <a:t> </a:t>
            </a:r>
            <a:r>
              <a:rPr dirty="0" err="1"/>
              <a:t>diferente</a:t>
            </a:r>
            <a:r>
              <a:rPr dirty="0"/>
              <a:t> (o </a:t>
            </a:r>
            <a:r>
              <a:rPr dirty="0" err="1"/>
              <a:t>próprio</a:t>
            </a:r>
            <a:r>
              <a:rPr dirty="0"/>
              <a:t> Gartner </a:t>
            </a:r>
            <a:r>
              <a:rPr dirty="0" err="1"/>
              <a:t>mede</a:t>
            </a:r>
            <a:r>
              <a:rPr dirty="0"/>
              <a:t> US$ 2,7 tri no total — </a:t>
            </a:r>
            <a:r>
              <a:rPr dirty="0" err="1"/>
              <a:t>comunicado</a:t>
            </a:r>
            <a:r>
              <a:rPr dirty="0"/>
              <a:t> de 16/09/2026 — e US$ 64 bi </a:t>
            </a:r>
            <a:r>
              <a:rPr dirty="0" err="1"/>
              <a:t>só</a:t>
            </a:r>
            <a:r>
              <a:rPr dirty="0"/>
              <a:t> </a:t>
            </a:r>
            <a:r>
              <a:rPr dirty="0" err="1"/>
              <a:t>em</a:t>
            </a:r>
            <a:r>
              <a:rPr dirty="0"/>
              <a:t> </a:t>
            </a:r>
            <a:r>
              <a:rPr dirty="0" err="1"/>
              <a:t>plataformas</a:t>
            </a:r>
            <a:r>
              <a:rPr dirty="0"/>
              <a:t> e </a:t>
            </a:r>
            <a:r>
              <a:rPr dirty="0" err="1"/>
              <a:t>modelos</a:t>
            </a:r>
            <a:r>
              <a:rPr dirty="0"/>
              <a:t> — </a:t>
            </a:r>
            <a:r>
              <a:rPr dirty="0" err="1"/>
              <a:t>comunicado</a:t>
            </a:r>
            <a:r>
              <a:rPr dirty="0"/>
              <a:t> de 20/07/2026). Para </a:t>
            </a:r>
            <a:r>
              <a:rPr dirty="0" err="1"/>
              <a:t>perguntas</a:t>
            </a:r>
            <a:r>
              <a:rPr dirty="0"/>
              <a:t>: o </a:t>
            </a:r>
            <a:r>
              <a:rPr dirty="0" err="1"/>
              <a:t>próprio</a:t>
            </a:r>
            <a:r>
              <a:rPr dirty="0"/>
              <a:t> Gartner </a:t>
            </a:r>
            <a:r>
              <a:rPr dirty="0" err="1"/>
              <a:t>calcula</a:t>
            </a:r>
            <a:r>
              <a:rPr dirty="0"/>
              <a:t> “</a:t>
            </a:r>
            <a:r>
              <a:rPr dirty="0" err="1"/>
              <a:t>agentes</a:t>
            </a:r>
            <a:r>
              <a:rPr dirty="0"/>
              <a:t> e </a:t>
            </a:r>
            <a:r>
              <a:rPr dirty="0" err="1"/>
              <a:t>assistentes</a:t>
            </a:r>
            <a:r>
              <a:rPr dirty="0"/>
              <a:t> de IA” </a:t>
            </a:r>
            <a:r>
              <a:rPr dirty="0" err="1"/>
              <a:t>vendidos</a:t>
            </a:r>
            <a:r>
              <a:rPr dirty="0"/>
              <a:t> à </a:t>
            </a:r>
            <a:r>
              <a:rPr dirty="0" err="1"/>
              <a:t>parte</a:t>
            </a:r>
            <a:r>
              <a:rPr dirty="0"/>
              <a:t> </a:t>
            </a:r>
            <a:r>
              <a:rPr dirty="0" err="1"/>
              <a:t>em</a:t>
            </a:r>
            <a:r>
              <a:rPr dirty="0"/>
              <a:t> US$ 29,2 bi </a:t>
            </a:r>
            <a:r>
              <a:rPr dirty="0" err="1"/>
              <a:t>em</a:t>
            </a:r>
            <a:r>
              <a:rPr dirty="0"/>
              <a:t> 2026, </a:t>
            </a:r>
            <a:r>
              <a:rPr dirty="0" err="1"/>
              <a:t>cerca</a:t>
            </a:r>
            <a:r>
              <a:rPr dirty="0"/>
              <a:t> de 1% do total (</a:t>
            </a:r>
            <a:r>
              <a:rPr dirty="0" err="1"/>
              <a:t>Tabela</a:t>
            </a:r>
            <a:r>
              <a:rPr dirty="0"/>
              <a:t> 1 do </a:t>
            </a:r>
            <a:r>
              <a:rPr dirty="0" err="1"/>
              <a:t>comunicado</a:t>
            </a:r>
            <a:r>
              <a:rPr dirty="0"/>
              <a:t> de 16/09/2026); </a:t>
            </a:r>
            <a:r>
              <a:rPr dirty="0" err="1"/>
              <a:t>agentes</a:t>
            </a:r>
            <a:r>
              <a:rPr dirty="0"/>
              <a:t> </a:t>
            </a:r>
            <a:r>
              <a:rPr dirty="0" err="1"/>
              <a:t>embutidos</a:t>
            </a:r>
            <a:r>
              <a:rPr dirty="0"/>
              <a:t> </a:t>
            </a:r>
            <a:r>
              <a:rPr dirty="0" err="1"/>
              <a:t>em</a:t>
            </a:r>
            <a:r>
              <a:rPr dirty="0"/>
              <a:t> outros </a:t>
            </a:r>
            <a:r>
              <a:rPr dirty="0" err="1"/>
              <a:t>programas</a:t>
            </a:r>
            <a:r>
              <a:rPr dirty="0"/>
              <a:t> </a:t>
            </a:r>
            <a:r>
              <a:rPr dirty="0" err="1"/>
              <a:t>entram</a:t>
            </a:r>
            <a:r>
              <a:rPr dirty="0"/>
              <a:t> </a:t>
            </a:r>
            <a:r>
              <a:rPr dirty="0" err="1"/>
              <a:t>em</a:t>
            </a:r>
            <a:r>
              <a:rPr dirty="0"/>
              <a:t> “software de IA”. </a:t>
            </a:r>
            <a:r>
              <a:rPr dirty="0" err="1"/>
              <a:t>Não</a:t>
            </a:r>
            <a:r>
              <a:rPr dirty="0"/>
              <a:t> </a:t>
            </a:r>
            <a:r>
              <a:rPr dirty="0" err="1"/>
              <a:t>diga</a:t>
            </a:r>
            <a:r>
              <a:rPr dirty="0"/>
              <a:t> </a:t>
            </a:r>
            <a:r>
              <a:rPr dirty="0" err="1"/>
              <a:t>que</a:t>
            </a:r>
            <a:r>
              <a:rPr dirty="0"/>
              <a:t> o ChatGPT </a:t>
            </a:r>
            <a:r>
              <a:rPr dirty="0" err="1"/>
              <a:t>passou</a:t>
            </a:r>
            <a:r>
              <a:rPr dirty="0"/>
              <a:t> de 1 </a:t>
            </a:r>
            <a:r>
              <a:rPr dirty="0" err="1"/>
              <a:t>bilhão</a:t>
            </a:r>
            <a:r>
              <a:rPr dirty="0"/>
              <a:t> de </a:t>
            </a:r>
            <a:r>
              <a:rPr dirty="0" err="1"/>
              <a:t>usuários</a:t>
            </a:r>
            <a:r>
              <a:rPr dirty="0"/>
              <a:t> </a:t>
            </a:r>
            <a:r>
              <a:rPr dirty="0" err="1"/>
              <a:t>semanais</a:t>
            </a:r>
            <a:r>
              <a:rPr dirty="0"/>
              <a:t>: o “1,2 bi” do </a:t>
            </a:r>
            <a:r>
              <a:rPr dirty="0" err="1"/>
              <a:t>DevDay</a:t>
            </a:r>
            <a:r>
              <a:rPr dirty="0"/>
              <a:t> (29/09/2026) soma </a:t>
            </a:r>
            <a:r>
              <a:rPr dirty="0" err="1"/>
              <a:t>produtos</a:t>
            </a:r>
            <a:r>
              <a:rPr dirty="0"/>
              <a:t> da OpenAI. </a:t>
            </a:r>
            <a:r>
              <a:rPr dirty="0" err="1"/>
              <a:t>Revisão</a:t>
            </a:r>
            <a:r>
              <a:rPr dirty="0"/>
              <a:t> de 12/10/2026: </a:t>
            </a:r>
            <a:r>
              <a:rPr dirty="0" err="1"/>
              <a:t>título</a:t>
            </a:r>
            <a:r>
              <a:rPr dirty="0"/>
              <a:t> e </a:t>
            </a:r>
            <a:r>
              <a:rPr dirty="0" err="1"/>
              <a:t>rótulos</a:t>
            </a:r>
            <a:r>
              <a:rPr dirty="0"/>
              <a:t> </a:t>
            </a:r>
            <a:r>
              <a:rPr dirty="0" err="1"/>
              <a:t>ajustados</a:t>
            </a:r>
            <a:r>
              <a:rPr dirty="0"/>
              <a:t> para </a:t>
            </a:r>
            <a:r>
              <a:rPr dirty="0" err="1"/>
              <a:t>separar</a:t>
            </a:r>
            <a:r>
              <a:rPr dirty="0"/>
              <a:t> “</a:t>
            </a:r>
            <a:r>
              <a:rPr dirty="0" err="1"/>
              <a:t>só</a:t>
            </a:r>
            <a:r>
              <a:rPr dirty="0"/>
              <a:t> </a:t>
            </a:r>
            <a:r>
              <a:rPr dirty="0" err="1"/>
              <a:t>agentes</a:t>
            </a:r>
            <a:r>
              <a:rPr dirty="0"/>
              <a:t>” de “</a:t>
            </a:r>
            <a:r>
              <a:rPr dirty="0" err="1"/>
              <a:t>toda</a:t>
            </a:r>
            <a:r>
              <a:rPr dirty="0"/>
              <a:t> a IA”.</a:t>
            </a:r>
          </a:p>
          <a:p>
            <a:endParaRPr dirty="0"/>
          </a:p>
          <a:p>
            <a:r>
              <a:rPr dirty="0"/>
              <a:t>Fontes: </a:t>
            </a:r>
          </a:p>
          <a:p>
            <a:r>
              <a:rPr dirty="0"/>
              <a:t>https://www.gartner.com/en/newsroom/press-releases/2026-09-16-gartner-forecasts-worldwide-ai-spending-to-grow-49-point-5-percent-in-2026</a:t>
            </a:r>
          </a:p>
          <a:p>
            <a:r>
              <a:rPr dirty="0"/>
              <a:t>https://www.gartner.com/en/newsroom/press-releases/2025-08-26-gartner-predicts-40-percent-of-enterprise-apps-will-feature-task-specific-ai-agents-by-2026-up-from-less-than-5-percent-in-2025</a:t>
            </a:r>
          </a:p>
          <a:p>
            <a:r>
              <a:rPr dirty="0"/>
              <a:t>https://www.marketsandmarkets.com/PressReleases/ai-agents.asp</a:t>
            </a:r>
          </a:p>
          <a:p>
            <a:r>
              <a:rPr dirty="0"/>
              <a:t>https://openai.com/index/scaling-ai-for-everyone/</a:t>
            </a:r>
          </a:p>
          <a:p>
            <a:r>
              <a:rPr dirty="0"/>
              <a:t>https://blog.google/innovation-and-ai/products/gemini-app/one-billion-monthly-users/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06:00–07:00 | Velocidade.</a:t>
            </a:r>
          </a:p>
          <a:p>
            <a:r>
              <a:t>"Se eu tivesse que escolher um único dado para vocês levarem, seria este: a velocidade.</a:t>
            </a:r>
          </a:p>
          <a:p>
            <a:r>
              <a:t>O ChatGPT foi lançado em 30 de novembro de 2022 e, em 5 de dezembro, o Sam Altman anunciou que tinha passado de 1 milhão de usuários. Em fevereiro de 2025 eram 400 milhões por semana; em fevereiro de 2026, mais de 900 milhões — segundo a própria OpenAI. E o app Gemini, do Google, passou de 1 bilhão de usuários por mês em agosto.</a:t>
            </a:r>
          </a:p>
          <a:p>
            <a:r>
              <a:t>Consequência prática: o que vocês aprenderam sobre IA há seis meses já está desatualizado. Acompanhar faz parte do trabalho — do mesmo jeito que vocês acompanham a agenda e o mercado do executivo."</a:t>
            </a:r>
          </a:p>
          <a:p>
            <a:r>
              <a:t>Atenção: não diga que o ChatGPT passou de 1 bilhão de usuários semanais. Em 31/07/2026 a OpenAI falou em "mais de 1 bilhão de usuários ativos" somando todos os seus produtos, sem dizer "semanais". Semanal (ChatGPT) e mensal (Gemini) não se comparam diretamente.</a:t>
            </a:r>
          </a:p>
          <a:p>
            <a:endParaRPr/>
          </a:p>
          <a:p>
            <a:r>
              <a:t>Fontes: </a:t>
            </a:r>
          </a:p>
          <a:p>
            <a:r>
              <a:t>https://x.com/sama/status/1599668808285028353</a:t>
            </a:r>
          </a:p>
          <a:p>
            <a:r>
              <a:t>https://www.cnbc.com/2025/02/20/openai-tops-400-million-users-despite-deepseeks-emergence.html</a:t>
            </a:r>
          </a:p>
          <a:p>
            <a:r>
              <a:t>https://techcrunch.com/2025/10/06/sam-altman-says-chatgpt-has-hit-800m-weekly-active-users</a:t>
            </a:r>
          </a:p>
          <a:p>
            <a:r>
              <a:t>https://openai.com/index/scaling-ai-for-everyone/</a:t>
            </a:r>
          </a:p>
          <a:p>
            <a:r>
              <a:t>https://blog.google/innovation-and-ai/products/gemini-app/one-billion-monthly-users/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dirty="0"/>
              <a:t>09:00–10:30 | Brasil.</a:t>
            </a:r>
          </a:p>
          <a:p>
            <a:r>
              <a:rPr dirty="0"/>
              <a:t>"E o Brasil? Segundo a </a:t>
            </a:r>
            <a:r>
              <a:rPr dirty="0" err="1"/>
              <a:t>própria</a:t>
            </a:r>
            <a:r>
              <a:rPr dirty="0"/>
              <a:t> OpenAI, o Brasil </a:t>
            </a:r>
            <a:r>
              <a:rPr dirty="0" err="1"/>
              <a:t>está</a:t>
            </a:r>
            <a:r>
              <a:rPr dirty="0"/>
              <a:t> entre </a:t>
            </a:r>
            <a:r>
              <a:rPr dirty="0" err="1"/>
              <a:t>os</a:t>
            </a:r>
            <a:r>
              <a:rPr dirty="0"/>
              <a:t> </a:t>
            </a:r>
            <a:r>
              <a:rPr dirty="0" err="1"/>
              <a:t>três</a:t>
            </a:r>
            <a:r>
              <a:rPr dirty="0"/>
              <a:t> </a:t>
            </a:r>
            <a:r>
              <a:rPr dirty="0" err="1"/>
              <a:t>maiores</a:t>
            </a:r>
            <a:r>
              <a:rPr dirty="0"/>
              <a:t> mercados do ChatGPT — </a:t>
            </a:r>
            <a:r>
              <a:rPr dirty="0" err="1"/>
              <a:t>tão</a:t>
            </a:r>
            <a:r>
              <a:rPr dirty="0"/>
              <a:t> </a:t>
            </a:r>
            <a:r>
              <a:rPr dirty="0" err="1"/>
              <a:t>relevante</a:t>
            </a:r>
            <a:r>
              <a:rPr dirty="0"/>
              <a:t> </a:t>
            </a:r>
            <a:r>
              <a:rPr dirty="0" err="1"/>
              <a:t>que</a:t>
            </a:r>
            <a:r>
              <a:rPr dirty="0"/>
              <a:t> a </a:t>
            </a:r>
            <a:r>
              <a:rPr dirty="0" err="1"/>
              <a:t>empresa</a:t>
            </a:r>
            <a:r>
              <a:rPr dirty="0"/>
              <a:t> </a:t>
            </a:r>
            <a:r>
              <a:rPr dirty="0" err="1"/>
              <a:t>lançou</a:t>
            </a:r>
            <a:r>
              <a:rPr dirty="0"/>
              <a:t> </a:t>
            </a:r>
            <a:r>
              <a:rPr dirty="0" err="1"/>
              <a:t>sua</a:t>
            </a:r>
            <a:r>
              <a:rPr dirty="0"/>
              <a:t> </a:t>
            </a:r>
            <a:r>
              <a:rPr dirty="0" err="1"/>
              <a:t>operação</a:t>
            </a:r>
            <a:r>
              <a:rPr dirty="0"/>
              <a:t> comercial </a:t>
            </a:r>
            <a:r>
              <a:rPr dirty="0" err="1"/>
              <a:t>em</a:t>
            </a:r>
            <a:r>
              <a:rPr dirty="0"/>
              <a:t> São Paulo </a:t>
            </a:r>
            <a:r>
              <a:rPr dirty="0" err="1"/>
              <a:t>em</a:t>
            </a:r>
            <a:r>
              <a:rPr dirty="0"/>
              <a:t> </a:t>
            </a:r>
            <a:r>
              <a:rPr dirty="0" err="1"/>
              <a:t>agosto</a:t>
            </a:r>
            <a:r>
              <a:rPr dirty="0"/>
              <a:t>. São </a:t>
            </a:r>
            <a:r>
              <a:rPr dirty="0" err="1"/>
              <a:t>cerca</a:t>
            </a:r>
            <a:r>
              <a:rPr dirty="0"/>
              <a:t> de 215 </a:t>
            </a:r>
            <a:r>
              <a:rPr dirty="0" err="1"/>
              <a:t>milhões</a:t>
            </a:r>
            <a:r>
              <a:rPr dirty="0"/>
              <a:t> de </a:t>
            </a:r>
            <a:r>
              <a:rPr dirty="0" err="1"/>
              <a:t>mensagens</a:t>
            </a:r>
            <a:r>
              <a:rPr dirty="0"/>
              <a:t> </a:t>
            </a:r>
            <a:r>
              <a:rPr dirty="0" err="1"/>
              <a:t>por</a:t>
            </a:r>
            <a:r>
              <a:rPr dirty="0"/>
              <a:t> </a:t>
            </a:r>
            <a:r>
              <a:rPr dirty="0" err="1"/>
              <a:t>dia</a:t>
            </a:r>
            <a:r>
              <a:rPr dirty="0"/>
              <a:t>, e, entre as </a:t>
            </a:r>
            <a:r>
              <a:rPr dirty="0" err="1"/>
              <a:t>contas</a:t>
            </a:r>
            <a:r>
              <a:rPr dirty="0"/>
              <a:t> </a:t>
            </a:r>
            <a:r>
              <a:rPr dirty="0" err="1"/>
              <a:t>individuais</a:t>
            </a:r>
            <a:r>
              <a:rPr dirty="0"/>
              <a:t>, 35% das </a:t>
            </a:r>
            <a:r>
              <a:rPr dirty="0" err="1"/>
              <a:t>mensagens</a:t>
            </a:r>
            <a:r>
              <a:rPr dirty="0"/>
              <a:t> </a:t>
            </a:r>
            <a:r>
              <a:rPr dirty="0" err="1"/>
              <a:t>são</a:t>
            </a:r>
            <a:r>
              <a:rPr dirty="0"/>
              <a:t> </a:t>
            </a:r>
            <a:r>
              <a:rPr dirty="0" err="1"/>
              <a:t>sobre</a:t>
            </a:r>
            <a:r>
              <a:rPr dirty="0"/>
              <a:t> </a:t>
            </a:r>
            <a:r>
              <a:rPr dirty="0" err="1"/>
              <a:t>trabalho</a:t>
            </a:r>
            <a:r>
              <a:rPr dirty="0"/>
              <a:t>, </a:t>
            </a:r>
            <a:r>
              <a:rPr dirty="0" err="1"/>
              <a:t>acima</a:t>
            </a:r>
            <a:r>
              <a:rPr dirty="0"/>
              <a:t> da </a:t>
            </a:r>
            <a:r>
              <a:rPr dirty="0" err="1"/>
              <a:t>média</a:t>
            </a:r>
            <a:r>
              <a:rPr dirty="0"/>
              <a:t> </a:t>
            </a:r>
            <a:r>
              <a:rPr dirty="0" err="1"/>
              <a:t>mundial</a:t>
            </a:r>
            <a:r>
              <a:rPr dirty="0"/>
              <a:t>.</a:t>
            </a:r>
          </a:p>
          <a:p>
            <a:r>
              <a:rPr dirty="0"/>
              <a:t>Segundo o Cetic.br, 50 </a:t>
            </a:r>
            <a:r>
              <a:rPr dirty="0" err="1"/>
              <a:t>milhões</a:t>
            </a:r>
            <a:r>
              <a:rPr dirty="0"/>
              <a:t> de </a:t>
            </a:r>
            <a:r>
              <a:rPr dirty="0" err="1"/>
              <a:t>brasileiros</a:t>
            </a:r>
            <a:r>
              <a:rPr dirty="0"/>
              <a:t> </a:t>
            </a:r>
            <a:r>
              <a:rPr dirty="0" err="1"/>
              <a:t>já</a:t>
            </a:r>
            <a:r>
              <a:rPr dirty="0"/>
              <a:t> </a:t>
            </a:r>
            <a:r>
              <a:rPr dirty="0" err="1"/>
              <a:t>usam</a:t>
            </a:r>
            <a:r>
              <a:rPr dirty="0"/>
              <a:t> IA </a:t>
            </a:r>
            <a:r>
              <a:rPr dirty="0" err="1"/>
              <a:t>generativa</a:t>
            </a:r>
            <a:r>
              <a:rPr dirty="0"/>
              <a:t>.</a:t>
            </a:r>
          </a:p>
          <a:p>
            <a:r>
              <a:rPr dirty="0"/>
              <a:t>Mas </a:t>
            </a:r>
            <a:r>
              <a:rPr dirty="0" err="1"/>
              <a:t>olhem</a:t>
            </a:r>
            <a:r>
              <a:rPr dirty="0"/>
              <a:t> o </a:t>
            </a:r>
            <a:r>
              <a:rPr dirty="0" err="1"/>
              <a:t>número</a:t>
            </a:r>
            <a:r>
              <a:rPr dirty="0"/>
              <a:t> </a:t>
            </a:r>
            <a:r>
              <a:rPr dirty="0" err="1"/>
              <a:t>em</a:t>
            </a:r>
            <a:r>
              <a:rPr dirty="0"/>
              <a:t> </a:t>
            </a:r>
            <a:r>
              <a:rPr dirty="0" err="1"/>
              <a:t>vermelho</a:t>
            </a:r>
            <a:r>
              <a:rPr dirty="0"/>
              <a:t>: </a:t>
            </a:r>
            <a:r>
              <a:rPr dirty="0" err="1"/>
              <a:t>só</a:t>
            </a:r>
            <a:r>
              <a:rPr dirty="0"/>
              <a:t> 17% das </a:t>
            </a:r>
            <a:r>
              <a:rPr dirty="0" err="1"/>
              <a:t>empresas</a:t>
            </a:r>
            <a:r>
              <a:rPr dirty="0"/>
              <a:t> </a:t>
            </a:r>
            <a:r>
              <a:rPr dirty="0" err="1"/>
              <a:t>brasileiras</a:t>
            </a:r>
            <a:r>
              <a:rPr dirty="0"/>
              <a:t> </a:t>
            </a:r>
            <a:r>
              <a:rPr dirty="0" err="1"/>
              <a:t>usam</a:t>
            </a:r>
            <a:r>
              <a:rPr dirty="0"/>
              <a:t> IA. Nas </a:t>
            </a:r>
            <a:r>
              <a:rPr dirty="0" err="1"/>
              <a:t>grandes</a:t>
            </a:r>
            <a:r>
              <a:rPr dirty="0"/>
              <a:t>, </a:t>
            </a:r>
            <a:r>
              <a:rPr dirty="0" err="1"/>
              <a:t>metade</a:t>
            </a:r>
            <a:r>
              <a:rPr dirty="0"/>
              <a:t>; </a:t>
            </a:r>
            <a:r>
              <a:rPr dirty="0" err="1"/>
              <a:t>nas</a:t>
            </a:r>
            <a:r>
              <a:rPr dirty="0"/>
              <a:t> </a:t>
            </a:r>
            <a:r>
              <a:rPr dirty="0" err="1"/>
              <a:t>pequenas</a:t>
            </a:r>
            <a:r>
              <a:rPr dirty="0"/>
              <a:t>, 15%. E o </a:t>
            </a:r>
            <a:r>
              <a:rPr dirty="0" err="1"/>
              <a:t>Judiciário</a:t>
            </a:r>
            <a:r>
              <a:rPr dirty="0"/>
              <a:t>, </a:t>
            </a:r>
            <a:r>
              <a:rPr dirty="0" err="1"/>
              <a:t>curiosamente</a:t>
            </a:r>
            <a:r>
              <a:rPr dirty="0"/>
              <a:t>, </a:t>
            </a:r>
            <a:r>
              <a:rPr dirty="0" err="1"/>
              <a:t>está</a:t>
            </a:r>
            <a:r>
              <a:rPr dirty="0"/>
              <a:t> </a:t>
            </a:r>
            <a:r>
              <a:rPr dirty="0" err="1"/>
              <a:t>na</a:t>
            </a:r>
            <a:r>
              <a:rPr dirty="0"/>
              <a:t> </a:t>
            </a:r>
            <a:r>
              <a:rPr dirty="0" err="1"/>
              <a:t>frente</a:t>
            </a:r>
            <a:r>
              <a:rPr dirty="0"/>
              <a:t>: 94% dos </a:t>
            </a:r>
            <a:r>
              <a:rPr dirty="0" err="1"/>
              <a:t>órgãos</a:t>
            </a:r>
            <a:r>
              <a:rPr dirty="0"/>
              <a:t> </a:t>
            </a:r>
            <a:r>
              <a:rPr dirty="0" err="1"/>
              <a:t>já</a:t>
            </a:r>
            <a:r>
              <a:rPr dirty="0"/>
              <a:t> </a:t>
            </a:r>
            <a:r>
              <a:rPr dirty="0" err="1"/>
              <a:t>usam</a:t>
            </a:r>
            <a:r>
              <a:rPr dirty="0"/>
              <a:t> IA.</a:t>
            </a:r>
          </a:p>
          <a:p>
            <a:r>
              <a:rPr dirty="0"/>
              <a:t>Ou </a:t>
            </a:r>
            <a:r>
              <a:rPr dirty="0" err="1"/>
              <a:t>seja</a:t>
            </a:r>
            <a:r>
              <a:rPr dirty="0"/>
              <a:t>: as </a:t>
            </a:r>
            <a:r>
              <a:rPr dirty="0" err="1"/>
              <a:t>pessoas</a:t>
            </a:r>
            <a:r>
              <a:rPr dirty="0"/>
              <a:t> </a:t>
            </a:r>
            <a:r>
              <a:rPr dirty="0" err="1"/>
              <a:t>já</a:t>
            </a:r>
            <a:r>
              <a:rPr dirty="0"/>
              <a:t> </a:t>
            </a:r>
            <a:r>
              <a:rPr dirty="0" err="1"/>
              <a:t>usam</a:t>
            </a:r>
            <a:r>
              <a:rPr dirty="0"/>
              <a:t> IA </a:t>
            </a:r>
            <a:r>
              <a:rPr dirty="0" err="1"/>
              <a:t>por</a:t>
            </a:r>
            <a:r>
              <a:rPr dirty="0"/>
              <a:t> </a:t>
            </a:r>
            <a:r>
              <a:rPr dirty="0" err="1"/>
              <a:t>conta</a:t>
            </a:r>
            <a:r>
              <a:rPr dirty="0"/>
              <a:t> </a:t>
            </a:r>
            <a:r>
              <a:rPr dirty="0" err="1"/>
              <a:t>própria</a:t>
            </a:r>
            <a:r>
              <a:rPr dirty="0"/>
              <a:t> — </a:t>
            </a:r>
            <a:r>
              <a:rPr dirty="0" err="1"/>
              <a:t>muitas</a:t>
            </a:r>
            <a:r>
              <a:rPr dirty="0"/>
              <a:t> </a:t>
            </a:r>
            <a:r>
              <a:rPr dirty="0" err="1"/>
              <a:t>vezes</a:t>
            </a:r>
            <a:r>
              <a:rPr dirty="0"/>
              <a:t> </a:t>
            </a:r>
            <a:r>
              <a:rPr dirty="0" err="1"/>
              <a:t>em</a:t>
            </a:r>
            <a:r>
              <a:rPr dirty="0"/>
              <a:t> </a:t>
            </a:r>
            <a:r>
              <a:rPr dirty="0" err="1"/>
              <a:t>contas</a:t>
            </a:r>
            <a:r>
              <a:rPr dirty="0"/>
              <a:t> </a:t>
            </a:r>
            <a:r>
              <a:rPr dirty="0" err="1"/>
              <a:t>pessoais</a:t>
            </a:r>
            <a:r>
              <a:rPr dirty="0"/>
              <a:t> — </a:t>
            </a:r>
            <a:r>
              <a:rPr dirty="0" err="1"/>
              <a:t>enquanto</a:t>
            </a:r>
            <a:r>
              <a:rPr dirty="0"/>
              <a:t> as </a:t>
            </a:r>
            <a:r>
              <a:rPr dirty="0" err="1"/>
              <a:t>empresas</a:t>
            </a:r>
            <a:r>
              <a:rPr dirty="0"/>
              <a:t> </a:t>
            </a:r>
            <a:r>
              <a:rPr dirty="0" err="1"/>
              <a:t>ainda</a:t>
            </a:r>
            <a:r>
              <a:rPr dirty="0"/>
              <a:t> </a:t>
            </a:r>
            <a:r>
              <a:rPr dirty="0" err="1"/>
              <a:t>não</a:t>
            </a:r>
            <a:r>
              <a:rPr dirty="0"/>
              <a:t> </a:t>
            </a:r>
            <a:r>
              <a:rPr dirty="0" err="1"/>
              <a:t>organizaram</a:t>
            </a:r>
            <a:r>
              <a:rPr dirty="0"/>
              <a:t> </a:t>
            </a:r>
            <a:r>
              <a:rPr dirty="0" err="1"/>
              <a:t>isso</a:t>
            </a:r>
            <a:r>
              <a:rPr dirty="0"/>
              <a:t>. Essa </a:t>
            </a:r>
            <a:r>
              <a:rPr dirty="0" err="1"/>
              <a:t>distância</a:t>
            </a:r>
            <a:r>
              <a:rPr dirty="0"/>
              <a:t> é </a:t>
            </a:r>
            <a:r>
              <a:rPr dirty="0" err="1"/>
              <a:t>uma</a:t>
            </a:r>
            <a:r>
              <a:rPr dirty="0"/>
              <a:t> </a:t>
            </a:r>
            <a:r>
              <a:rPr dirty="0" err="1"/>
              <a:t>oportunidade</a:t>
            </a:r>
            <a:r>
              <a:rPr dirty="0"/>
              <a:t> </a:t>
            </a:r>
            <a:r>
              <a:rPr dirty="0" err="1"/>
              <a:t>enorme</a:t>
            </a:r>
            <a:r>
              <a:rPr dirty="0"/>
              <a:t> para o </a:t>
            </a:r>
            <a:r>
              <a:rPr dirty="0" err="1"/>
              <a:t>secretariado</a:t>
            </a:r>
            <a:r>
              <a:rPr dirty="0"/>
              <a:t>: ser a </a:t>
            </a:r>
            <a:r>
              <a:rPr dirty="0" err="1"/>
              <a:t>pessoa</a:t>
            </a:r>
            <a:r>
              <a:rPr dirty="0"/>
              <a:t> </a:t>
            </a:r>
            <a:r>
              <a:rPr dirty="0" err="1"/>
              <a:t>que</a:t>
            </a:r>
            <a:r>
              <a:rPr dirty="0"/>
              <a:t> </a:t>
            </a:r>
            <a:r>
              <a:rPr dirty="0" err="1"/>
              <a:t>traz</a:t>
            </a:r>
            <a:r>
              <a:rPr dirty="0"/>
              <a:t> a IA para </a:t>
            </a:r>
            <a:r>
              <a:rPr dirty="0" err="1"/>
              <a:t>dentro</a:t>
            </a:r>
            <a:r>
              <a:rPr dirty="0"/>
              <a:t> do </a:t>
            </a:r>
            <a:r>
              <a:rPr dirty="0" err="1"/>
              <a:t>escritório</a:t>
            </a:r>
            <a:r>
              <a:rPr dirty="0"/>
              <a:t> do </a:t>
            </a:r>
            <a:r>
              <a:rPr dirty="0" err="1"/>
              <a:t>jeito</a:t>
            </a:r>
            <a:r>
              <a:rPr dirty="0"/>
              <a:t> </a:t>
            </a:r>
            <a:r>
              <a:rPr dirty="0" err="1"/>
              <a:t>certo</a:t>
            </a:r>
            <a:r>
              <a:rPr dirty="0"/>
              <a:t>, com </a:t>
            </a:r>
            <a:r>
              <a:rPr dirty="0" err="1"/>
              <a:t>segurança</a:t>
            </a:r>
            <a:r>
              <a:rPr dirty="0"/>
              <a:t> e com as ferramentas </a:t>
            </a:r>
            <a:r>
              <a:rPr dirty="0" err="1"/>
              <a:t>aprovadas</a:t>
            </a:r>
            <a:r>
              <a:rPr dirty="0"/>
              <a:t>."</a:t>
            </a:r>
          </a:p>
          <a:p>
            <a:r>
              <a:rPr dirty="0" err="1"/>
              <a:t>Escopo</a:t>
            </a:r>
            <a:r>
              <a:rPr dirty="0"/>
              <a:t>: TIC Empresas </a:t>
            </a:r>
            <a:r>
              <a:rPr dirty="0" err="1"/>
              <a:t>pesquisa</a:t>
            </a:r>
            <a:r>
              <a:rPr dirty="0"/>
              <a:t> </a:t>
            </a:r>
            <a:r>
              <a:rPr dirty="0" err="1"/>
              <a:t>empresas</a:t>
            </a:r>
            <a:r>
              <a:rPr dirty="0"/>
              <a:t> com 10 </a:t>
            </a:r>
            <a:r>
              <a:rPr dirty="0" err="1"/>
              <a:t>ou</a:t>
            </a:r>
            <a:r>
              <a:rPr dirty="0"/>
              <a:t> </a:t>
            </a:r>
            <a:r>
              <a:rPr dirty="0" err="1"/>
              <a:t>mais</a:t>
            </a:r>
            <a:r>
              <a:rPr dirty="0"/>
              <a:t> </a:t>
            </a:r>
            <a:r>
              <a:rPr dirty="0" err="1"/>
              <a:t>pessoas</a:t>
            </a:r>
            <a:r>
              <a:rPr dirty="0"/>
              <a:t> </a:t>
            </a:r>
            <a:r>
              <a:rPr dirty="0" err="1"/>
              <a:t>ocupadas</a:t>
            </a:r>
            <a:r>
              <a:rPr dirty="0"/>
              <a:t>. TIC </a:t>
            </a:r>
            <a:r>
              <a:rPr dirty="0" err="1"/>
              <a:t>Domicílios</a:t>
            </a:r>
            <a:r>
              <a:rPr dirty="0"/>
              <a:t> </a:t>
            </a:r>
            <a:r>
              <a:rPr dirty="0" err="1"/>
              <a:t>considera</a:t>
            </a:r>
            <a:r>
              <a:rPr dirty="0"/>
              <a:t>, para </a:t>
            </a:r>
            <a:r>
              <a:rPr dirty="0" err="1"/>
              <a:t>este</a:t>
            </a:r>
            <a:r>
              <a:rPr dirty="0"/>
              <a:t> </a:t>
            </a:r>
            <a:r>
              <a:rPr dirty="0" err="1"/>
              <a:t>indicador</a:t>
            </a:r>
            <a:r>
              <a:rPr dirty="0"/>
              <a:t>, </a:t>
            </a:r>
            <a:r>
              <a:rPr dirty="0" err="1"/>
              <a:t>usuários</a:t>
            </a:r>
            <a:r>
              <a:rPr dirty="0"/>
              <a:t> de internet com 10 </a:t>
            </a:r>
            <a:r>
              <a:rPr dirty="0" err="1"/>
              <a:t>anos</a:t>
            </a:r>
            <a:r>
              <a:rPr dirty="0"/>
              <a:t> </a:t>
            </a:r>
            <a:r>
              <a:rPr dirty="0" err="1"/>
              <a:t>ou</a:t>
            </a:r>
            <a:r>
              <a:rPr dirty="0"/>
              <a:t> </a:t>
            </a:r>
            <a:r>
              <a:rPr dirty="0" err="1"/>
              <a:t>mais</a:t>
            </a:r>
            <a:r>
              <a:rPr dirty="0"/>
              <a:t>.</a:t>
            </a:r>
          </a:p>
          <a:p>
            <a:endParaRPr dirty="0"/>
          </a:p>
          <a:p>
            <a:r>
              <a:rPr dirty="0"/>
              <a:t>Fontes: </a:t>
            </a:r>
          </a:p>
          <a:p>
            <a:r>
              <a:rPr dirty="0"/>
              <a:t>https://openai.com/index/expanding-our-presence-in-brazil/</a:t>
            </a:r>
          </a:p>
          <a:p>
            <a:r>
              <a:rPr dirty="0"/>
              <a:t>https://openai.com/global-affairs/brazil-ai-moment-is-here/</a:t>
            </a:r>
          </a:p>
          <a:p>
            <a:r>
              <a:rPr dirty="0"/>
              <a:t>https://cetic.br/pt/noticia/50-milhoes-de-brasileiros-ja-usam-ia-mas-potenciais-beneficios-continuam-limitados-as-camadas-de-maior-renda-e-escolaridade/</a:t>
            </a:r>
          </a:p>
          <a:p>
            <a:r>
              <a:rPr dirty="0"/>
              <a:t>https://cetic.br/pt/noticia/uso-de-inteligencia-artificial-por-empresas-brasileiras-avanca-e-atinge-17-aponta-pesquisa-do-cetic-br/</a:t>
            </a:r>
          </a:p>
          <a:p>
            <a:r>
              <a:rPr dirty="0"/>
              <a:t>https://cetic.br/pt/noticia/ia-esta-presente-em-seis-de-cada-dez-orgaos-publicos-federais-e-estaduais-e-chega-a-94-no-judiciario-aponta-tic-governo/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dirty="0"/>
              <a:t>10:30–12:30 | O </a:t>
            </a:r>
            <a:r>
              <a:rPr dirty="0" err="1"/>
              <a:t>impacto</a:t>
            </a:r>
            <a:r>
              <a:rPr dirty="0"/>
              <a:t> no </a:t>
            </a:r>
            <a:r>
              <a:rPr dirty="0" err="1"/>
              <a:t>trabalho</a:t>
            </a:r>
            <a:r>
              <a:rPr lang="en-US" dirty="0"/>
              <a:t>.</a:t>
            </a:r>
            <a:endParaRPr dirty="0"/>
          </a:p>
          <a:p>
            <a:r>
              <a:rPr dirty="0"/>
              <a:t>"O </a:t>
            </a:r>
            <a:r>
              <a:rPr dirty="0" err="1"/>
              <a:t>relatório</a:t>
            </a:r>
            <a:r>
              <a:rPr dirty="0"/>
              <a:t> Future of Jobs 2025 do </a:t>
            </a:r>
            <a:r>
              <a:rPr dirty="0" err="1"/>
              <a:t>Fórum</a:t>
            </a:r>
            <a:r>
              <a:rPr dirty="0"/>
              <a:t> </a:t>
            </a:r>
            <a:r>
              <a:rPr dirty="0" err="1"/>
              <a:t>Econômico</a:t>
            </a:r>
            <a:r>
              <a:rPr dirty="0"/>
              <a:t> Mundial </a:t>
            </a:r>
            <a:r>
              <a:rPr dirty="0" err="1"/>
              <a:t>ouviu</a:t>
            </a:r>
            <a:r>
              <a:rPr dirty="0"/>
              <a:t> </a:t>
            </a:r>
            <a:r>
              <a:rPr dirty="0" err="1"/>
              <a:t>mais</a:t>
            </a:r>
            <a:r>
              <a:rPr dirty="0"/>
              <a:t> de mil </a:t>
            </a:r>
            <a:r>
              <a:rPr dirty="0" err="1"/>
              <a:t>empregadores</a:t>
            </a:r>
            <a:r>
              <a:rPr dirty="0"/>
              <a:t> e </a:t>
            </a:r>
            <a:r>
              <a:rPr dirty="0" err="1"/>
              <a:t>colocou</a:t>
            </a:r>
            <a:r>
              <a:rPr dirty="0"/>
              <a:t> '</a:t>
            </a:r>
            <a:r>
              <a:rPr dirty="0" err="1"/>
              <a:t>assistentes</a:t>
            </a:r>
            <a:r>
              <a:rPr dirty="0"/>
              <a:t> </a:t>
            </a:r>
            <a:r>
              <a:rPr dirty="0" err="1"/>
              <a:t>administrativos</a:t>
            </a:r>
            <a:r>
              <a:rPr dirty="0"/>
              <a:t> e </a:t>
            </a:r>
            <a:r>
              <a:rPr dirty="0" err="1"/>
              <a:t>secretárias</a:t>
            </a:r>
            <a:r>
              <a:rPr dirty="0"/>
              <a:t> </a:t>
            </a:r>
            <a:r>
              <a:rPr dirty="0" err="1"/>
              <a:t>executivas</a:t>
            </a:r>
            <a:r>
              <a:rPr dirty="0"/>
              <a:t>' entre as </a:t>
            </a:r>
            <a:r>
              <a:rPr dirty="0" err="1"/>
              <a:t>funções</a:t>
            </a:r>
            <a:r>
              <a:rPr dirty="0"/>
              <a:t> com as </a:t>
            </a:r>
            <a:r>
              <a:rPr dirty="0" err="1"/>
              <a:t>maiores</a:t>
            </a:r>
            <a:r>
              <a:rPr dirty="0"/>
              <a:t> </a:t>
            </a:r>
            <a:r>
              <a:rPr dirty="0" err="1"/>
              <a:t>quedas</a:t>
            </a:r>
            <a:r>
              <a:rPr dirty="0"/>
              <a:t> </a:t>
            </a:r>
            <a:r>
              <a:rPr dirty="0" err="1"/>
              <a:t>previstas</a:t>
            </a:r>
            <a:r>
              <a:rPr dirty="0"/>
              <a:t> </a:t>
            </a:r>
            <a:r>
              <a:rPr dirty="0" err="1"/>
              <a:t>até</a:t>
            </a:r>
            <a:r>
              <a:rPr dirty="0"/>
              <a:t> 2030 (</a:t>
            </a:r>
            <a:r>
              <a:rPr dirty="0" err="1"/>
              <a:t>capítulo</a:t>
            </a:r>
            <a:r>
              <a:rPr dirty="0"/>
              <a:t> 2 do </a:t>
            </a:r>
            <a:r>
              <a:rPr dirty="0" err="1"/>
              <a:t>relatório</a:t>
            </a:r>
            <a:r>
              <a:rPr dirty="0"/>
              <a:t>). Ao </a:t>
            </a:r>
            <a:r>
              <a:rPr dirty="0" err="1"/>
              <a:t>mesmo</a:t>
            </a:r>
            <a:r>
              <a:rPr dirty="0"/>
              <a:t> tempo, o </a:t>
            </a:r>
            <a:r>
              <a:rPr dirty="0" err="1"/>
              <a:t>mesmo</a:t>
            </a:r>
            <a:r>
              <a:rPr dirty="0"/>
              <a:t> </a:t>
            </a:r>
            <a:r>
              <a:rPr dirty="0" err="1"/>
              <a:t>relatório</a:t>
            </a:r>
            <a:r>
              <a:rPr dirty="0"/>
              <a:t> </a:t>
            </a:r>
            <a:r>
              <a:rPr dirty="0" err="1"/>
              <a:t>projeta</a:t>
            </a:r>
            <a:r>
              <a:rPr dirty="0"/>
              <a:t> 170 </a:t>
            </a:r>
            <a:r>
              <a:rPr dirty="0" err="1"/>
              <a:t>milhões</a:t>
            </a:r>
            <a:r>
              <a:rPr dirty="0"/>
              <a:t> de </a:t>
            </a:r>
            <a:r>
              <a:rPr dirty="0" err="1"/>
              <a:t>empregos</a:t>
            </a:r>
            <a:r>
              <a:rPr dirty="0"/>
              <a:t> </a:t>
            </a:r>
            <a:r>
              <a:rPr dirty="0" err="1"/>
              <a:t>criados</a:t>
            </a:r>
            <a:r>
              <a:rPr dirty="0"/>
              <a:t> e 92 </a:t>
            </a:r>
            <a:r>
              <a:rPr dirty="0" err="1"/>
              <a:t>milhões</a:t>
            </a:r>
            <a:r>
              <a:rPr dirty="0"/>
              <a:t> </a:t>
            </a:r>
            <a:r>
              <a:rPr dirty="0" err="1"/>
              <a:t>deslocados</a:t>
            </a:r>
            <a:r>
              <a:rPr dirty="0"/>
              <a:t> — um </a:t>
            </a:r>
            <a:r>
              <a:rPr dirty="0" err="1"/>
              <a:t>saldo</a:t>
            </a:r>
            <a:r>
              <a:rPr dirty="0"/>
              <a:t> </a:t>
            </a:r>
            <a:r>
              <a:rPr dirty="0" err="1"/>
              <a:t>positivo</a:t>
            </a:r>
            <a:r>
              <a:rPr dirty="0"/>
              <a:t>, mas com </a:t>
            </a:r>
            <a:r>
              <a:rPr dirty="0" err="1"/>
              <a:t>muita</a:t>
            </a:r>
            <a:r>
              <a:rPr dirty="0"/>
              <a:t> </a:t>
            </a:r>
            <a:r>
              <a:rPr dirty="0" err="1"/>
              <a:t>troca</a:t>
            </a:r>
            <a:r>
              <a:rPr dirty="0"/>
              <a:t> de </a:t>
            </a:r>
            <a:r>
              <a:rPr dirty="0" err="1"/>
              <a:t>função</a:t>
            </a:r>
            <a:r>
              <a:rPr dirty="0"/>
              <a:t>.</a:t>
            </a:r>
          </a:p>
          <a:p>
            <a:r>
              <a:rPr dirty="0"/>
              <a:t>O Gartner </a:t>
            </a:r>
            <a:r>
              <a:rPr dirty="0" err="1"/>
              <a:t>prevê</a:t>
            </a:r>
            <a:r>
              <a:rPr dirty="0"/>
              <a:t> </a:t>
            </a:r>
            <a:r>
              <a:rPr dirty="0" err="1"/>
              <a:t>que</a:t>
            </a:r>
            <a:r>
              <a:rPr dirty="0"/>
              <a:t>, </a:t>
            </a:r>
            <a:r>
              <a:rPr dirty="0" err="1"/>
              <a:t>até</a:t>
            </a:r>
            <a:r>
              <a:rPr dirty="0"/>
              <a:t> 2029, </a:t>
            </a:r>
            <a:r>
              <a:rPr dirty="0" err="1"/>
              <a:t>metade</a:t>
            </a:r>
            <a:r>
              <a:rPr dirty="0"/>
              <a:t> dos </a:t>
            </a:r>
            <a:r>
              <a:rPr dirty="0" err="1"/>
              <a:t>profissionais</a:t>
            </a:r>
            <a:r>
              <a:rPr dirty="0"/>
              <a:t> do </a:t>
            </a:r>
            <a:r>
              <a:rPr dirty="0" err="1"/>
              <a:t>conhecimento</a:t>
            </a:r>
            <a:r>
              <a:rPr dirty="0"/>
              <a:t> </a:t>
            </a:r>
            <a:r>
              <a:rPr dirty="0" err="1"/>
              <a:t>terá</a:t>
            </a:r>
            <a:r>
              <a:rPr dirty="0"/>
              <a:t> </a:t>
            </a:r>
            <a:r>
              <a:rPr dirty="0" err="1"/>
              <a:t>desenvolvido</a:t>
            </a:r>
            <a:r>
              <a:rPr dirty="0"/>
              <a:t> </a:t>
            </a:r>
            <a:r>
              <a:rPr dirty="0" err="1"/>
              <a:t>habilidades</a:t>
            </a:r>
            <a:r>
              <a:rPr dirty="0"/>
              <a:t> para </a:t>
            </a:r>
            <a:r>
              <a:rPr dirty="0" err="1"/>
              <a:t>trabalhar</a:t>
            </a:r>
            <a:r>
              <a:rPr dirty="0"/>
              <a:t> com </a:t>
            </a:r>
            <a:r>
              <a:rPr dirty="0" err="1"/>
              <a:t>agentes</a:t>
            </a:r>
            <a:r>
              <a:rPr dirty="0"/>
              <a:t> </a:t>
            </a:r>
            <a:r>
              <a:rPr dirty="0" err="1"/>
              <a:t>ou</a:t>
            </a:r>
            <a:r>
              <a:rPr dirty="0"/>
              <a:t> </a:t>
            </a:r>
            <a:r>
              <a:rPr dirty="0" err="1"/>
              <a:t>criá-los</a:t>
            </a:r>
            <a:r>
              <a:rPr dirty="0"/>
              <a:t>.</a:t>
            </a:r>
          </a:p>
          <a:p>
            <a:r>
              <a:rPr dirty="0"/>
              <a:t>A </a:t>
            </a:r>
            <a:r>
              <a:rPr dirty="0" err="1"/>
              <a:t>Organização</a:t>
            </a:r>
            <a:r>
              <a:rPr dirty="0"/>
              <a:t> Internacional do </a:t>
            </a:r>
            <a:r>
              <a:rPr dirty="0" err="1"/>
              <a:t>Trabalho</a:t>
            </a:r>
            <a:r>
              <a:rPr dirty="0"/>
              <a:t> </a:t>
            </a:r>
            <a:r>
              <a:rPr dirty="0" err="1"/>
              <a:t>refez</a:t>
            </a:r>
            <a:r>
              <a:rPr dirty="0"/>
              <a:t> </a:t>
            </a:r>
            <a:r>
              <a:rPr dirty="0" err="1"/>
              <a:t>em</a:t>
            </a:r>
            <a:r>
              <a:rPr dirty="0"/>
              <a:t> 2025 o </a:t>
            </a:r>
            <a:r>
              <a:rPr dirty="0" err="1"/>
              <a:t>seu</a:t>
            </a:r>
            <a:r>
              <a:rPr dirty="0"/>
              <a:t> </a:t>
            </a:r>
            <a:r>
              <a:rPr dirty="0" err="1"/>
              <a:t>índice</a:t>
            </a:r>
            <a:r>
              <a:rPr dirty="0"/>
              <a:t>: 1 </a:t>
            </a:r>
            <a:r>
              <a:rPr dirty="0" err="1"/>
              <a:t>em</a:t>
            </a:r>
            <a:r>
              <a:rPr dirty="0"/>
              <a:t> </a:t>
            </a:r>
            <a:r>
              <a:rPr dirty="0" err="1"/>
              <a:t>cada</a:t>
            </a:r>
            <a:r>
              <a:rPr dirty="0"/>
              <a:t> 4 </a:t>
            </a:r>
            <a:r>
              <a:rPr dirty="0" err="1"/>
              <a:t>empregos</a:t>
            </a:r>
            <a:r>
              <a:rPr dirty="0"/>
              <a:t> no </a:t>
            </a:r>
            <a:r>
              <a:rPr dirty="0" err="1"/>
              <a:t>mundo</a:t>
            </a:r>
            <a:r>
              <a:rPr dirty="0"/>
              <a:t> </a:t>
            </a:r>
            <a:r>
              <a:rPr dirty="0" err="1"/>
              <a:t>está</a:t>
            </a:r>
            <a:r>
              <a:rPr dirty="0"/>
              <a:t> </a:t>
            </a:r>
            <a:r>
              <a:rPr dirty="0" err="1"/>
              <a:t>em</a:t>
            </a:r>
            <a:r>
              <a:rPr dirty="0"/>
              <a:t> </a:t>
            </a:r>
            <a:r>
              <a:rPr dirty="0" err="1"/>
              <a:t>ocupação</a:t>
            </a:r>
            <a:r>
              <a:rPr dirty="0"/>
              <a:t> </a:t>
            </a:r>
            <a:r>
              <a:rPr dirty="0" err="1"/>
              <a:t>exposta</a:t>
            </a:r>
            <a:r>
              <a:rPr dirty="0"/>
              <a:t> à IA </a:t>
            </a:r>
            <a:r>
              <a:rPr dirty="0" err="1"/>
              <a:t>generativa</a:t>
            </a:r>
            <a:r>
              <a:rPr dirty="0"/>
              <a:t>, e o </a:t>
            </a:r>
            <a:r>
              <a:rPr dirty="0" err="1"/>
              <a:t>trabalho</a:t>
            </a:r>
            <a:r>
              <a:rPr dirty="0"/>
              <a:t> </a:t>
            </a:r>
            <a:r>
              <a:rPr dirty="0" err="1"/>
              <a:t>administrativo</a:t>
            </a:r>
            <a:r>
              <a:rPr dirty="0"/>
              <a:t> é o </a:t>
            </a:r>
            <a:r>
              <a:rPr dirty="0" err="1"/>
              <a:t>mais</a:t>
            </a:r>
            <a:r>
              <a:rPr dirty="0"/>
              <a:t> </a:t>
            </a:r>
            <a:r>
              <a:rPr dirty="0" err="1"/>
              <a:t>exposto</a:t>
            </a:r>
            <a:r>
              <a:rPr dirty="0"/>
              <a:t>. Mas a </a:t>
            </a:r>
            <a:r>
              <a:rPr dirty="0" err="1"/>
              <a:t>conclusão</a:t>
            </a:r>
            <a:r>
              <a:rPr dirty="0"/>
              <a:t> da OIT é </a:t>
            </a:r>
            <a:r>
              <a:rPr dirty="0" err="1"/>
              <a:t>que</a:t>
            </a:r>
            <a:r>
              <a:rPr dirty="0"/>
              <a:t> o </a:t>
            </a:r>
            <a:r>
              <a:rPr dirty="0" err="1"/>
              <a:t>mais</a:t>
            </a:r>
            <a:r>
              <a:rPr dirty="0"/>
              <a:t> </a:t>
            </a:r>
            <a:r>
              <a:rPr dirty="0" err="1"/>
              <a:t>provável</a:t>
            </a:r>
            <a:r>
              <a:rPr dirty="0"/>
              <a:t> é </a:t>
            </a:r>
            <a:r>
              <a:rPr dirty="0" err="1"/>
              <a:t>transformar</a:t>
            </a:r>
            <a:r>
              <a:rPr dirty="0"/>
              <a:t> o </a:t>
            </a:r>
            <a:r>
              <a:rPr dirty="0" err="1"/>
              <a:t>trabalho</a:t>
            </a:r>
            <a:r>
              <a:rPr dirty="0"/>
              <a:t>. Um </a:t>
            </a:r>
            <a:r>
              <a:rPr dirty="0" err="1"/>
              <a:t>detalhe</a:t>
            </a:r>
            <a:r>
              <a:rPr dirty="0"/>
              <a:t> </a:t>
            </a:r>
            <a:r>
              <a:rPr dirty="0" err="1"/>
              <a:t>que</a:t>
            </a:r>
            <a:r>
              <a:rPr dirty="0"/>
              <a:t> é a </a:t>
            </a:r>
            <a:r>
              <a:rPr dirty="0" err="1"/>
              <a:t>cara</a:t>
            </a:r>
            <a:r>
              <a:rPr dirty="0"/>
              <a:t> de </a:t>
            </a:r>
            <a:r>
              <a:rPr dirty="0" err="1"/>
              <a:t>vocês</a:t>
            </a:r>
            <a:r>
              <a:rPr dirty="0"/>
              <a:t>: </a:t>
            </a:r>
            <a:r>
              <a:rPr dirty="0" err="1"/>
              <a:t>anotar</a:t>
            </a:r>
            <a:r>
              <a:rPr dirty="0"/>
              <a:t> </a:t>
            </a:r>
            <a:r>
              <a:rPr dirty="0" err="1"/>
              <a:t>reuniões</a:t>
            </a:r>
            <a:r>
              <a:rPr dirty="0"/>
              <a:t> e </a:t>
            </a:r>
            <a:r>
              <a:rPr dirty="0" err="1"/>
              <a:t>agendar</a:t>
            </a:r>
            <a:r>
              <a:rPr dirty="0"/>
              <a:t> </a:t>
            </a:r>
            <a:r>
              <a:rPr dirty="0" err="1"/>
              <a:t>compromissos</a:t>
            </a:r>
            <a:r>
              <a:rPr dirty="0"/>
              <a:t> se </a:t>
            </a:r>
            <a:r>
              <a:rPr dirty="0" err="1"/>
              <a:t>beneficiam</a:t>
            </a:r>
            <a:r>
              <a:rPr dirty="0"/>
              <a:t> </a:t>
            </a:r>
            <a:r>
              <a:rPr dirty="0" err="1"/>
              <a:t>muito</a:t>
            </a:r>
            <a:r>
              <a:rPr dirty="0"/>
              <a:t> da IA, mas, </a:t>
            </a:r>
            <a:r>
              <a:rPr dirty="0" err="1"/>
              <a:t>segundo</a:t>
            </a:r>
            <a:r>
              <a:rPr dirty="0"/>
              <a:t> a OIT, </a:t>
            </a:r>
            <a:r>
              <a:rPr dirty="0" err="1"/>
              <a:t>ainda</a:t>
            </a:r>
            <a:r>
              <a:rPr dirty="0"/>
              <a:t> </a:t>
            </a:r>
            <a:r>
              <a:rPr dirty="0" err="1"/>
              <a:t>exigem</a:t>
            </a:r>
            <a:r>
              <a:rPr dirty="0"/>
              <a:t> </a:t>
            </a:r>
            <a:r>
              <a:rPr dirty="0" err="1"/>
              <a:t>esforço</a:t>
            </a:r>
            <a:r>
              <a:rPr dirty="0"/>
              <a:t> </a:t>
            </a:r>
            <a:r>
              <a:rPr dirty="0" err="1"/>
              <a:t>humano</a:t>
            </a:r>
            <a:r>
              <a:rPr dirty="0"/>
              <a:t> </a:t>
            </a:r>
            <a:r>
              <a:rPr dirty="0" err="1"/>
              <a:t>substancial</a:t>
            </a:r>
            <a:r>
              <a:rPr dirty="0"/>
              <a:t>.</a:t>
            </a:r>
          </a:p>
          <a:p>
            <a:r>
              <a:rPr dirty="0"/>
              <a:t>No Brasil, a FGV </a:t>
            </a:r>
            <a:r>
              <a:rPr dirty="0" err="1"/>
              <a:t>aplicou</a:t>
            </a:r>
            <a:r>
              <a:rPr dirty="0"/>
              <a:t> esse </a:t>
            </a:r>
            <a:r>
              <a:rPr dirty="0" err="1"/>
              <a:t>índice</a:t>
            </a:r>
            <a:r>
              <a:rPr dirty="0"/>
              <a:t> à PNAD: </a:t>
            </a:r>
            <a:r>
              <a:rPr dirty="0" err="1"/>
              <a:t>quase</a:t>
            </a:r>
            <a:r>
              <a:rPr dirty="0"/>
              <a:t> 30 </a:t>
            </a:r>
            <a:r>
              <a:rPr dirty="0" err="1"/>
              <a:t>milhões</a:t>
            </a:r>
            <a:r>
              <a:rPr dirty="0"/>
              <a:t> de </a:t>
            </a:r>
            <a:r>
              <a:rPr dirty="0" err="1"/>
              <a:t>trabalhadores</a:t>
            </a:r>
            <a:r>
              <a:rPr dirty="0"/>
              <a:t>, 29,6% dos </a:t>
            </a:r>
            <a:r>
              <a:rPr dirty="0" err="1"/>
              <a:t>ocupados</a:t>
            </a:r>
            <a:r>
              <a:rPr dirty="0"/>
              <a:t>, </a:t>
            </a:r>
            <a:r>
              <a:rPr dirty="0" err="1"/>
              <a:t>estão</a:t>
            </a:r>
            <a:r>
              <a:rPr dirty="0"/>
              <a:t> </a:t>
            </a:r>
            <a:r>
              <a:rPr dirty="0" err="1"/>
              <a:t>em</a:t>
            </a:r>
            <a:r>
              <a:rPr dirty="0"/>
              <a:t> </a:t>
            </a:r>
            <a:r>
              <a:rPr dirty="0" err="1"/>
              <a:t>ocupações</a:t>
            </a:r>
            <a:r>
              <a:rPr dirty="0"/>
              <a:t> </a:t>
            </a:r>
            <a:r>
              <a:rPr dirty="0" err="1"/>
              <a:t>expostas</a:t>
            </a:r>
            <a:r>
              <a:rPr dirty="0"/>
              <a:t>. Entre as </a:t>
            </a:r>
            <a:r>
              <a:rPr dirty="0" err="1"/>
              <a:t>mulheres</a:t>
            </a:r>
            <a:r>
              <a:rPr dirty="0"/>
              <a:t> </a:t>
            </a:r>
            <a:r>
              <a:rPr dirty="0" err="1"/>
              <a:t>ocupadas</a:t>
            </a:r>
            <a:r>
              <a:rPr dirty="0"/>
              <a:t>, 35%; entre </a:t>
            </a:r>
            <a:r>
              <a:rPr dirty="0" err="1"/>
              <a:t>os</a:t>
            </a:r>
            <a:r>
              <a:rPr dirty="0"/>
              <a:t> </a:t>
            </a:r>
            <a:r>
              <a:rPr dirty="0" err="1"/>
              <a:t>homens</a:t>
            </a:r>
            <a:r>
              <a:rPr dirty="0"/>
              <a:t>, </a:t>
            </a:r>
            <a:r>
              <a:rPr dirty="0" err="1"/>
              <a:t>cerca</a:t>
            </a:r>
            <a:r>
              <a:rPr dirty="0"/>
              <a:t> de 25%. </a:t>
            </a:r>
            <a:r>
              <a:rPr dirty="0" err="1"/>
              <a:t>Exposição</a:t>
            </a:r>
            <a:r>
              <a:rPr dirty="0"/>
              <a:t> </a:t>
            </a:r>
            <a:r>
              <a:rPr dirty="0" err="1"/>
              <a:t>não</a:t>
            </a:r>
            <a:r>
              <a:rPr dirty="0"/>
              <a:t> é </a:t>
            </a:r>
            <a:r>
              <a:rPr dirty="0" err="1"/>
              <a:t>demissão</a:t>
            </a:r>
            <a:r>
              <a:rPr dirty="0"/>
              <a:t>: é </a:t>
            </a:r>
            <a:r>
              <a:rPr dirty="0" err="1"/>
              <a:t>sinal</a:t>
            </a:r>
            <a:r>
              <a:rPr dirty="0"/>
              <a:t> de </a:t>
            </a:r>
            <a:r>
              <a:rPr dirty="0" err="1"/>
              <a:t>que</a:t>
            </a:r>
            <a:r>
              <a:rPr dirty="0"/>
              <a:t> o </a:t>
            </a:r>
            <a:r>
              <a:rPr dirty="0" err="1"/>
              <a:t>trabalho</a:t>
            </a:r>
            <a:r>
              <a:rPr dirty="0"/>
              <a:t> </a:t>
            </a:r>
            <a:r>
              <a:rPr dirty="0" err="1"/>
              <a:t>vai</a:t>
            </a:r>
            <a:r>
              <a:rPr dirty="0"/>
              <a:t> mudar.</a:t>
            </a:r>
          </a:p>
          <a:p>
            <a:r>
              <a:rPr dirty="0"/>
              <a:t>E no </a:t>
            </a:r>
            <a:r>
              <a:rPr dirty="0" err="1"/>
              <a:t>uso</a:t>
            </a:r>
            <a:r>
              <a:rPr dirty="0"/>
              <a:t> real da IA: 57% das conversas com o Claude no Brasil </a:t>
            </a:r>
            <a:r>
              <a:rPr dirty="0" err="1"/>
              <a:t>são</a:t>
            </a:r>
            <a:r>
              <a:rPr dirty="0"/>
              <a:t> de </a:t>
            </a:r>
            <a:r>
              <a:rPr dirty="0" err="1"/>
              <a:t>trabalho</a:t>
            </a:r>
            <a:r>
              <a:rPr dirty="0"/>
              <a:t>, a </a:t>
            </a:r>
            <a:r>
              <a:rPr dirty="0" err="1"/>
              <a:t>maior</a:t>
            </a:r>
            <a:r>
              <a:rPr dirty="0"/>
              <a:t> </a:t>
            </a:r>
            <a:r>
              <a:rPr dirty="0" err="1"/>
              <a:t>fatia</a:t>
            </a:r>
            <a:r>
              <a:rPr dirty="0"/>
              <a:t> entre </a:t>
            </a:r>
            <a:r>
              <a:rPr dirty="0" err="1"/>
              <a:t>os</a:t>
            </a:r>
            <a:r>
              <a:rPr dirty="0"/>
              <a:t> 121 </a:t>
            </a:r>
            <a:r>
              <a:rPr dirty="0" err="1"/>
              <a:t>países</a:t>
            </a:r>
            <a:r>
              <a:rPr dirty="0"/>
              <a:t> com dados </a:t>
            </a:r>
            <a:r>
              <a:rPr dirty="0" err="1"/>
              <a:t>publicados</a:t>
            </a:r>
            <a:r>
              <a:rPr dirty="0"/>
              <a:t>, e 8,9% de </a:t>
            </a:r>
            <a:r>
              <a:rPr dirty="0" err="1"/>
              <a:t>todas</a:t>
            </a:r>
            <a:r>
              <a:rPr dirty="0"/>
              <a:t> as conversas </a:t>
            </a:r>
            <a:r>
              <a:rPr dirty="0" err="1"/>
              <a:t>envolvem</a:t>
            </a:r>
            <a:r>
              <a:rPr dirty="0"/>
              <a:t> </a:t>
            </a:r>
            <a:r>
              <a:rPr dirty="0" err="1"/>
              <a:t>tarefas</a:t>
            </a:r>
            <a:r>
              <a:rPr dirty="0"/>
              <a:t> de </a:t>
            </a:r>
            <a:r>
              <a:rPr dirty="0" err="1"/>
              <a:t>apoio</a:t>
            </a:r>
            <a:r>
              <a:rPr dirty="0"/>
              <a:t> </a:t>
            </a:r>
            <a:r>
              <a:rPr dirty="0" err="1"/>
              <a:t>administrativo</a:t>
            </a:r>
            <a:r>
              <a:rPr dirty="0"/>
              <a:t>, </a:t>
            </a:r>
            <a:r>
              <a:rPr dirty="0" err="1"/>
              <a:t>acima</a:t>
            </a:r>
            <a:r>
              <a:rPr dirty="0"/>
              <a:t> dos 7,9% do </a:t>
            </a:r>
            <a:r>
              <a:rPr dirty="0" err="1"/>
              <a:t>mundo</a:t>
            </a:r>
            <a:r>
              <a:rPr dirty="0"/>
              <a:t>.</a:t>
            </a:r>
          </a:p>
          <a:p>
            <a:r>
              <a:rPr dirty="0"/>
              <a:t>Minha </a:t>
            </a:r>
            <a:r>
              <a:rPr dirty="0" err="1"/>
              <a:t>leitura</a:t>
            </a:r>
            <a:r>
              <a:rPr dirty="0"/>
              <a:t>: o </a:t>
            </a:r>
            <a:r>
              <a:rPr dirty="0" err="1"/>
              <a:t>que</a:t>
            </a:r>
            <a:r>
              <a:rPr dirty="0"/>
              <a:t> </a:t>
            </a:r>
            <a:r>
              <a:rPr dirty="0" err="1"/>
              <a:t>encolhe</a:t>
            </a:r>
            <a:r>
              <a:rPr dirty="0"/>
              <a:t> é a </a:t>
            </a:r>
            <a:r>
              <a:rPr dirty="0" err="1"/>
              <a:t>parte</a:t>
            </a:r>
            <a:r>
              <a:rPr dirty="0"/>
              <a:t> </a:t>
            </a:r>
            <a:r>
              <a:rPr dirty="0" err="1"/>
              <a:t>operacional</a:t>
            </a:r>
            <a:r>
              <a:rPr dirty="0"/>
              <a:t> — </a:t>
            </a:r>
            <a:r>
              <a:rPr dirty="0" err="1"/>
              <a:t>digitar</a:t>
            </a:r>
            <a:r>
              <a:rPr dirty="0"/>
              <a:t>, </a:t>
            </a:r>
            <a:r>
              <a:rPr dirty="0" err="1"/>
              <a:t>copiar</a:t>
            </a:r>
            <a:r>
              <a:rPr dirty="0"/>
              <a:t>, </a:t>
            </a:r>
            <a:r>
              <a:rPr dirty="0" err="1"/>
              <a:t>formatar</a:t>
            </a:r>
            <a:r>
              <a:rPr dirty="0"/>
              <a:t>. O </a:t>
            </a:r>
            <a:r>
              <a:rPr dirty="0" err="1"/>
              <a:t>que</a:t>
            </a:r>
            <a:r>
              <a:rPr dirty="0"/>
              <a:t> </a:t>
            </a:r>
            <a:r>
              <a:rPr dirty="0" err="1"/>
              <a:t>cresce</a:t>
            </a:r>
            <a:r>
              <a:rPr dirty="0"/>
              <a:t> é </a:t>
            </a:r>
            <a:r>
              <a:rPr dirty="0" err="1"/>
              <a:t>justamente</a:t>
            </a:r>
            <a:r>
              <a:rPr dirty="0"/>
              <a:t> o </a:t>
            </a:r>
            <a:r>
              <a:rPr dirty="0" err="1"/>
              <a:t>que</a:t>
            </a:r>
            <a:r>
              <a:rPr dirty="0"/>
              <a:t> </a:t>
            </a:r>
            <a:r>
              <a:rPr dirty="0" err="1"/>
              <a:t>vocês</a:t>
            </a:r>
            <a:r>
              <a:rPr dirty="0"/>
              <a:t> </a:t>
            </a:r>
            <a:r>
              <a:rPr dirty="0" err="1"/>
              <a:t>fazem</a:t>
            </a:r>
            <a:r>
              <a:rPr dirty="0"/>
              <a:t> de </a:t>
            </a:r>
            <a:r>
              <a:rPr dirty="0" err="1"/>
              <a:t>mais</a:t>
            </a:r>
            <a:r>
              <a:rPr dirty="0"/>
              <a:t> </a:t>
            </a:r>
            <a:r>
              <a:rPr dirty="0" err="1"/>
              <a:t>valioso</a:t>
            </a:r>
            <a:r>
              <a:rPr dirty="0"/>
              <a:t>: </a:t>
            </a:r>
            <a:r>
              <a:rPr dirty="0" err="1"/>
              <a:t>julgamento</a:t>
            </a:r>
            <a:r>
              <a:rPr dirty="0"/>
              <a:t>, </a:t>
            </a:r>
            <a:r>
              <a:rPr dirty="0" err="1"/>
              <a:t>discrição</a:t>
            </a:r>
            <a:r>
              <a:rPr dirty="0"/>
              <a:t>, </a:t>
            </a:r>
            <a:r>
              <a:rPr dirty="0" err="1"/>
              <a:t>relacionamento</a:t>
            </a:r>
            <a:r>
              <a:rPr dirty="0"/>
              <a:t>, </a:t>
            </a:r>
            <a:r>
              <a:rPr dirty="0" err="1"/>
              <a:t>organização</a:t>
            </a:r>
            <a:r>
              <a:rPr dirty="0"/>
              <a:t> do </a:t>
            </a:r>
            <a:r>
              <a:rPr dirty="0" err="1"/>
              <a:t>contexto</a:t>
            </a:r>
            <a:r>
              <a:rPr dirty="0"/>
              <a:t>. Quem </a:t>
            </a:r>
            <a:r>
              <a:rPr dirty="0" err="1"/>
              <a:t>souber</a:t>
            </a:r>
            <a:r>
              <a:rPr dirty="0"/>
              <a:t> </a:t>
            </a:r>
            <a:r>
              <a:rPr dirty="0" err="1"/>
              <a:t>gerenciar</a:t>
            </a:r>
            <a:r>
              <a:rPr dirty="0"/>
              <a:t> </a:t>
            </a:r>
            <a:r>
              <a:rPr dirty="0" err="1"/>
              <a:t>agentes</a:t>
            </a:r>
            <a:r>
              <a:rPr dirty="0"/>
              <a:t> </a:t>
            </a:r>
            <a:r>
              <a:rPr dirty="0" err="1"/>
              <a:t>vira</a:t>
            </a:r>
            <a:r>
              <a:rPr dirty="0"/>
              <a:t> a </a:t>
            </a:r>
            <a:r>
              <a:rPr dirty="0" err="1"/>
              <a:t>pessoa</a:t>
            </a:r>
            <a:r>
              <a:rPr dirty="0"/>
              <a:t> </a:t>
            </a:r>
            <a:r>
              <a:rPr dirty="0" err="1"/>
              <a:t>mais</a:t>
            </a:r>
            <a:r>
              <a:rPr dirty="0"/>
              <a:t> </a:t>
            </a:r>
            <a:r>
              <a:rPr dirty="0" err="1"/>
              <a:t>estratégica</a:t>
            </a:r>
            <a:r>
              <a:rPr dirty="0"/>
              <a:t> do </a:t>
            </a:r>
            <a:r>
              <a:rPr dirty="0" err="1"/>
              <a:t>escritório</a:t>
            </a:r>
            <a:r>
              <a:rPr dirty="0"/>
              <a:t>. É para </a:t>
            </a:r>
            <a:r>
              <a:rPr dirty="0" err="1"/>
              <a:t>isso</a:t>
            </a:r>
            <a:r>
              <a:rPr dirty="0"/>
              <a:t> </a:t>
            </a:r>
            <a:r>
              <a:rPr dirty="0" err="1"/>
              <a:t>que</a:t>
            </a:r>
            <a:r>
              <a:rPr dirty="0"/>
              <a:t> serve </a:t>
            </a:r>
            <a:r>
              <a:rPr dirty="0" err="1"/>
              <a:t>esta</a:t>
            </a:r>
            <a:r>
              <a:rPr dirty="0"/>
              <a:t> palestra."</a:t>
            </a:r>
          </a:p>
          <a:p>
            <a:r>
              <a:rPr dirty="0" err="1"/>
              <a:t>Sobre</a:t>
            </a:r>
            <a:r>
              <a:rPr dirty="0"/>
              <a:t> o Anthropic Economic Index: </a:t>
            </a:r>
            <a:r>
              <a:rPr dirty="0" err="1"/>
              <a:t>mede</a:t>
            </a:r>
            <a:r>
              <a:rPr dirty="0"/>
              <a:t> conversas </a:t>
            </a:r>
            <a:r>
              <a:rPr dirty="0" err="1"/>
              <a:t>associadas</a:t>
            </a:r>
            <a:r>
              <a:rPr dirty="0"/>
              <a:t> a </a:t>
            </a:r>
            <a:r>
              <a:rPr dirty="0" err="1"/>
              <a:t>tarefas</a:t>
            </a:r>
            <a:r>
              <a:rPr dirty="0"/>
              <a:t>, </a:t>
            </a:r>
            <a:r>
              <a:rPr dirty="0" err="1"/>
              <a:t>não</a:t>
            </a:r>
            <a:r>
              <a:rPr dirty="0"/>
              <a:t> quem </a:t>
            </a:r>
            <a:r>
              <a:rPr dirty="0" err="1"/>
              <a:t>são</a:t>
            </a:r>
            <a:r>
              <a:rPr dirty="0"/>
              <a:t> </a:t>
            </a:r>
            <a:r>
              <a:rPr dirty="0" err="1"/>
              <a:t>os</a:t>
            </a:r>
            <a:r>
              <a:rPr dirty="0"/>
              <a:t> </a:t>
            </a:r>
            <a:r>
              <a:rPr dirty="0" err="1"/>
              <a:t>usuários</a:t>
            </a:r>
            <a:r>
              <a:rPr dirty="0"/>
              <a:t>. Diga "conversas </a:t>
            </a:r>
            <a:r>
              <a:rPr dirty="0" err="1"/>
              <a:t>ligadas</a:t>
            </a:r>
            <a:r>
              <a:rPr dirty="0"/>
              <a:t> a </a:t>
            </a:r>
            <a:r>
              <a:rPr dirty="0" err="1"/>
              <a:t>tarefas</a:t>
            </a:r>
            <a:r>
              <a:rPr dirty="0"/>
              <a:t> de </a:t>
            </a:r>
            <a:r>
              <a:rPr dirty="0" err="1"/>
              <a:t>apoio</a:t>
            </a:r>
            <a:r>
              <a:rPr dirty="0"/>
              <a:t> </a:t>
            </a:r>
            <a:r>
              <a:rPr dirty="0" err="1"/>
              <a:t>administrativo</a:t>
            </a:r>
            <a:r>
              <a:rPr dirty="0"/>
              <a:t>", </a:t>
            </a:r>
            <a:r>
              <a:rPr dirty="0" err="1"/>
              <a:t>não</a:t>
            </a:r>
            <a:r>
              <a:rPr dirty="0"/>
              <a:t> "</a:t>
            </a:r>
            <a:r>
              <a:rPr dirty="0" err="1"/>
              <a:t>secretárias</a:t>
            </a:r>
            <a:r>
              <a:rPr dirty="0"/>
              <a:t> </a:t>
            </a:r>
            <a:r>
              <a:rPr dirty="0" err="1"/>
              <a:t>usam</a:t>
            </a:r>
            <a:r>
              <a:rPr dirty="0"/>
              <a:t> o Claude". Fonte: https://www.anthropic.com/economic-index</a:t>
            </a:r>
          </a:p>
          <a:p>
            <a:r>
              <a:rPr dirty="0" err="1"/>
              <a:t>Precisão</a:t>
            </a:r>
            <a:r>
              <a:rPr dirty="0"/>
              <a:t> dos </a:t>
            </a:r>
            <a:r>
              <a:rPr dirty="0" err="1"/>
              <a:t>indicadores</a:t>
            </a:r>
            <a:r>
              <a:rPr dirty="0"/>
              <a:t>: as </a:t>
            </a:r>
            <a:r>
              <a:rPr dirty="0" err="1"/>
              <a:t>projeções</a:t>
            </a:r>
            <a:r>
              <a:rPr dirty="0"/>
              <a:t> de </a:t>
            </a:r>
            <a:r>
              <a:rPr dirty="0" err="1"/>
              <a:t>emprego</a:t>
            </a:r>
            <a:r>
              <a:rPr dirty="0"/>
              <a:t> do WEF </a:t>
            </a:r>
            <a:r>
              <a:rPr dirty="0" err="1"/>
              <a:t>abrangem</a:t>
            </a:r>
            <a:r>
              <a:rPr dirty="0"/>
              <a:t> </a:t>
            </a:r>
            <a:r>
              <a:rPr dirty="0" err="1"/>
              <a:t>várias</a:t>
            </a:r>
            <a:r>
              <a:rPr dirty="0"/>
              <a:t> </a:t>
            </a:r>
            <a:r>
              <a:rPr dirty="0" err="1"/>
              <a:t>transformações</a:t>
            </a:r>
            <a:r>
              <a:rPr dirty="0"/>
              <a:t> </a:t>
            </a:r>
            <a:r>
              <a:rPr dirty="0" err="1"/>
              <a:t>econômicas</a:t>
            </a:r>
            <a:r>
              <a:rPr dirty="0"/>
              <a:t>, </a:t>
            </a:r>
            <a:r>
              <a:rPr dirty="0" err="1"/>
              <a:t>não</a:t>
            </a:r>
            <a:r>
              <a:rPr dirty="0"/>
              <a:t> </a:t>
            </a:r>
            <a:r>
              <a:rPr dirty="0" err="1"/>
              <a:t>apenas</a:t>
            </a:r>
            <a:r>
              <a:rPr dirty="0"/>
              <a:t> IA. Gartner </a:t>
            </a:r>
            <a:r>
              <a:rPr dirty="0" err="1"/>
              <a:t>prevê</a:t>
            </a:r>
            <a:r>
              <a:rPr dirty="0"/>
              <a:t> </a:t>
            </a:r>
            <a:r>
              <a:rPr dirty="0" err="1"/>
              <a:t>pelo</a:t>
            </a:r>
            <a:r>
              <a:rPr dirty="0"/>
              <a:t> </a:t>
            </a:r>
            <a:r>
              <a:rPr dirty="0" err="1"/>
              <a:t>menos</a:t>
            </a:r>
            <a:r>
              <a:rPr dirty="0"/>
              <a:t> 50%. </a:t>
            </a:r>
            <a:r>
              <a:rPr dirty="0" err="1"/>
              <a:t>Os</a:t>
            </a:r>
            <a:r>
              <a:rPr dirty="0"/>
              <a:t> </a:t>
            </a:r>
            <a:r>
              <a:rPr dirty="0" err="1"/>
              <a:t>percentuais</a:t>
            </a:r>
            <a:r>
              <a:rPr dirty="0"/>
              <a:t> da Anthropic </a:t>
            </a:r>
            <a:r>
              <a:rPr dirty="0" err="1"/>
              <a:t>referem</a:t>
            </a:r>
            <a:r>
              <a:rPr dirty="0"/>
              <a:t>-se </a:t>
            </a:r>
            <a:r>
              <a:rPr dirty="0" err="1"/>
              <a:t>ao</a:t>
            </a:r>
            <a:r>
              <a:rPr dirty="0"/>
              <a:t> Claude </a:t>
            </a:r>
            <a:r>
              <a:rPr dirty="0" err="1"/>
              <a:t>em</a:t>
            </a:r>
            <a:r>
              <a:rPr dirty="0"/>
              <a:t> chat e </a:t>
            </a:r>
            <a:r>
              <a:rPr dirty="0" err="1"/>
              <a:t>Cowork</a:t>
            </a:r>
            <a:r>
              <a:rPr dirty="0"/>
              <a:t>, dados de </a:t>
            </a:r>
            <a:r>
              <a:rPr dirty="0" err="1"/>
              <a:t>maio</a:t>
            </a:r>
            <a:r>
              <a:rPr dirty="0"/>
              <a:t> de 2026.</a:t>
            </a:r>
          </a:p>
          <a:p>
            <a:r>
              <a:rPr dirty="0" err="1"/>
              <a:t>Contraponto</a:t>
            </a:r>
            <a:r>
              <a:rPr dirty="0"/>
              <a:t> para a </a:t>
            </a:r>
            <a:r>
              <a:rPr dirty="0" err="1"/>
              <a:t>fala</a:t>
            </a:r>
            <a:r>
              <a:rPr dirty="0"/>
              <a:t>: </a:t>
            </a:r>
            <a:r>
              <a:rPr dirty="0" err="1"/>
              <a:t>nos</a:t>
            </a:r>
            <a:r>
              <a:rPr dirty="0"/>
              <a:t> EUA, o BLS </a:t>
            </a:r>
            <a:r>
              <a:rPr dirty="0" err="1"/>
              <a:t>projeta</a:t>
            </a:r>
            <a:r>
              <a:rPr dirty="0"/>
              <a:t> </a:t>
            </a:r>
            <a:r>
              <a:rPr dirty="0" err="1"/>
              <a:t>queda</a:t>
            </a:r>
            <a:r>
              <a:rPr dirty="0"/>
              <a:t> de 2% no </a:t>
            </a:r>
            <a:r>
              <a:rPr dirty="0" err="1"/>
              <a:t>emprego</a:t>
            </a:r>
            <a:r>
              <a:rPr dirty="0"/>
              <a:t> de </a:t>
            </a:r>
            <a:r>
              <a:rPr dirty="0" err="1"/>
              <a:t>secretárias</a:t>
            </a:r>
            <a:r>
              <a:rPr dirty="0"/>
              <a:t> e </a:t>
            </a:r>
            <a:r>
              <a:rPr dirty="0" err="1"/>
              <a:t>assistentes</a:t>
            </a:r>
            <a:r>
              <a:rPr dirty="0"/>
              <a:t> </a:t>
            </a:r>
            <a:r>
              <a:rPr dirty="0" err="1"/>
              <a:t>administrativos</a:t>
            </a:r>
            <a:r>
              <a:rPr dirty="0"/>
              <a:t> de 2025 a 2035 e </a:t>
            </a:r>
            <a:r>
              <a:rPr dirty="0" err="1"/>
              <a:t>cita</a:t>
            </a:r>
            <a:r>
              <a:rPr dirty="0"/>
              <a:t> a IA </a:t>
            </a:r>
            <a:r>
              <a:rPr dirty="0" err="1"/>
              <a:t>como</a:t>
            </a:r>
            <a:r>
              <a:rPr dirty="0"/>
              <a:t> um dos </a:t>
            </a:r>
            <a:r>
              <a:rPr dirty="0" err="1"/>
              <a:t>fatores</a:t>
            </a:r>
            <a:r>
              <a:rPr dirty="0"/>
              <a:t>. A </a:t>
            </a:r>
            <a:r>
              <a:rPr dirty="0" err="1"/>
              <a:t>queda</a:t>
            </a:r>
            <a:r>
              <a:rPr dirty="0"/>
              <a:t> </a:t>
            </a:r>
            <a:r>
              <a:rPr dirty="0" err="1"/>
              <a:t>não</a:t>
            </a:r>
            <a:r>
              <a:rPr dirty="0"/>
              <a:t> é </a:t>
            </a:r>
            <a:r>
              <a:rPr dirty="0" err="1"/>
              <a:t>igual</a:t>
            </a:r>
            <a:r>
              <a:rPr dirty="0"/>
              <a:t> para </a:t>
            </a:r>
            <a:r>
              <a:rPr dirty="0" err="1"/>
              <a:t>todas</a:t>
            </a:r>
            <a:r>
              <a:rPr dirty="0"/>
              <a:t>: as </a:t>
            </a:r>
            <a:r>
              <a:rPr dirty="0" err="1"/>
              <a:t>executivas</a:t>
            </a:r>
            <a:r>
              <a:rPr dirty="0"/>
              <a:t> </a:t>
            </a:r>
            <a:r>
              <a:rPr dirty="0" err="1"/>
              <a:t>ficam</a:t>
            </a:r>
            <a:r>
              <a:rPr dirty="0"/>
              <a:t> </a:t>
            </a:r>
            <a:r>
              <a:rPr dirty="0" err="1"/>
              <a:t>estáveis</a:t>
            </a:r>
            <a:r>
              <a:rPr dirty="0"/>
              <a:t> (0%), as </a:t>
            </a:r>
            <a:r>
              <a:rPr dirty="0" err="1"/>
              <a:t>médicas</a:t>
            </a:r>
            <a:r>
              <a:rPr dirty="0"/>
              <a:t> </a:t>
            </a:r>
            <a:r>
              <a:rPr dirty="0" err="1"/>
              <a:t>crescem</a:t>
            </a:r>
            <a:r>
              <a:rPr dirty="0"/>
              <a:t> 5%, </a:t>
            </a:r>
            <a:r>
              <a:rPr dirty="0" err="1"/>
              <a:t>puxadas</a:t>
            </a:r>
            <a:r>
              <a:rPr dirty="0"/>
              <a:t> pela </a:t>
            </a:r>
            <a:r>
              <a:rPr dirty="0" err="1"/>
              <a:t>saúde</a:t>
            </a:r>
            <a:r>
              <a:rPr dirty="0"/>
              <a:t>, e as </a:t>
            </a:r>
            <a:r>
              <a:rPr dirty="0" err="1"/>
              <a:t>jurídicas</a:t>
            </a:r>
            <a:r>
              <a:rPr dirty="0"/>
              <a:t> </a:t>
            </a:r>
            <a:r>
              <a:rPr dirty="0" err="1"/>
              <a:t>caem</a:t>
            </a:r>
            <a:r>
              <a:rPr dirty="0"/>
              <a:t> 5%.</a:t>
            </a:r>
          </a:p>
          <a:p>
            <a:r>
              <a:rPr dirty="0" err="1"/>
              <a:t>Exemplos</a:t>
            </a:r>
            <a:r>
              <a:rPr dirty="0"/>
              <a:t> </a:t>
            </a:r>
            <a:r>
              <a:rPr dirty="0" err="1"/>
              <a:t>concretos</a:t>
            </a:r>
            <a:r>
              <a:rPr dirty="0"/>
              <a:t>: no Brasil, as </a:t>
            </a:r>
            <a:r>
              <a:rPr dirty="0" err="1"/>
              <a:t>tarefas</a:t>
            </a:r>
            <a:r>
              <a:rPr dirty="0"/>
              <a:t> de </a:t>
            </a:r>
            <a:r>
              <a:rPr dirty="0" err="1"/>
              <a:t>apoio</a:t>
            </a:r>
            <a:r>
              <a:rPr dirty="0"/>
              <a:t> </a:t>
            </a:r>
            <a:r>
              <a:rPr dirty="0" err="1"/>
              <a:t>administrativo</a:t>
            </a:r>
            <a:r>
              <a:rPr dirty="0"/>
              <a:t> </a:t>
            </a:r>
            <a:r>
              <a:rPr dirty="0" err="1"/>
              <a:t>mais</a:t>
            </a:r>
            <a:r>
              <a:rPr dirty="0"/>
              <a:t> </a:t>
            </a:r>
            <a:r>
              <a:rPr dirty="0" err="1"/>
              <a:t>frequentes</a:t>
            </a:r>
            <a:r>
              <a:rPr dirty="0"/>
              <a:t> </a:t>
            </a:r>
            <a:r>
              <a:rPr dirty="0" err="1"/>
              <a:t>nas</a:t>
            </a:r>
            <a:r>
              <a:rPr dirty="0"/>
              <a:t> conversas com o Claude </a:t>
            </a:r>
            <a:r>
              <a:rPr dirty="0" err="1"/>
              <a:t>são</a:t>
            </a:r>
            <a:r>
              <a:rPr dirty="0"/>
              <a:t> </a:t>
            </a:r>
            <a:r>
              <a:rPr dirty="0" err="1"/>
              <a:t>revisar</a:t>
            </a:r>
            <a:r>
              <a:rPr dirty="0"/>
              <a:t> </a:t>
            </a:r>
            <a:r>
              <a:rPr dirty="0" err="1"/>
              <a:t>documentos</a:t>
            </a:r>
            <a:r>
              <a:rPr dirty="0"/>
              <a:t> para responder a </a:t>
            </a:r>
            <a:r>
              <a:rPr dirty="0" err="1"/>
              <a:t>pedidos</a:t>
            </a:r>
            <a:r>
              <a:rPr dirty="0"/>
              <a:t>, </a:t>
            </a:r>
            <a:r>
              <a:rPr dirty="0" err="1"/>
              <a:t>compilar</a:t>
            </a:r>
            <a:r>
              <a:rPr dirty="0"/>
              <a:t> e </a:t>
            </a:r>
            <a:r>
              <a:rPr dirty="0" err="1"/>
              <a:t>mesclar</a:t>
            </a:r>
            <a:r>
              <a:rPr dirty="0"/>
              <a:t> </a:t>
            </a:r>
            <a:r>
              <a:rPr dirty="0" err="1"/>
              <a:t>documentos</a:t>
            </a:r>
            <a:r>
              <a:rPr dirty="0"/>
              <a:t>, </a:t>
            </a:r>
            <a:r>
              <a:rPr dirty="0" err="1"/>
              <a:t>ajustar</a:t>
            </a:r>
            <a:r>
              <a:rPr dirty="0"/>
              <a:t> </a:t>
            </a:r>
            <a:r>
              <a:rPr dirty="0" err="1"/>
              <a:t>formatação</a:t>
            </a:r>
            <a:r>
              <a:rPr dirty="0"/>
              <a:t> e </a:t>
            </a:r>
            <a:r>
              <a:rPr dirty="0" err="1"/>
              <a:t>redigir</a:t>
            </a:r>
            <a:r>
              <a:rPr dirty="0"/>
              <a:t> </a:t>
            </a:r>
            <a:r>
              <a:rPr dirty="0" err="1"/>
              <a:t>correspondência</a:t>
            </a:r>
            <a:r>
              <a:rPr dirty="0"/>
              <a:t> (Anthropic Economic Index, </a:t>
            </a:r>
            <a:r>
              <a:rPr dirty="0" err="1"/>
              <a:t>maio</a:t>
            </a:r>
            <a:r>
              <a:rPr dirty="0"/>
              <a:t> de 2026).</a:t>
            </a:r>
          </a:p>
          <a:p>
            <a:r>
              <a:rPr dirty="0"/>
              <a:t>Para a </a:t>
            </a:r>
            <a:r>
              <a:rPr dirty="0" err="1"/>
              <a:t>frase</a:t>
            </a:r>
            <a:r>
              <a:rPr dirty="0"/>
              <a:t> final: no Work Trend Index 2026 da Microsoft (20 mil </a:t>
            </a:r>
            <a:r>
              <a:rPr dirty="0" err="1"/>
              <a:t>usuários</a:t>
            </a:r>
            <a:r>
              <a:rPr dirty="0"/>
              <a:t> de IA </a:t>
            </a:r>
            <a:r>
              <a:rPr dirty="0" err="1"/>
              <a:t>em</a:t>
            </a:r>
            <a:r>
              <a:rPr dirty="0"/>
              <a:t> 10 </a:t>
            </a:r>
            <a:r>
              <a:rPr dirty="0" err="1"/>
              <a:t>países</a:t>
            </a:r>
            <a:r>
              <a:rPr dirty="0"/>
              <a:t>, inclusive o Brasil), as </a:t>
            </a:r>
            <a:r>
              <a:rPr dirty="0" err="1"/>
              <a:t>habilidades</a:t>
            </a:r>
            <a:r>
              <a:rPr dirty="0"/>
              <a:t> </a:t>
            </a:r>
            <a:r>
              <a:rPr dirty="0" err="1"/>
              <a:t>humanas</a:t>
            </a:r>
            <a:r>
              <a:rPr dirty="0"/>
              <a:t> </a:t>
            </a:r>
            <a:r>
              <a:rPr dirty="0" err="1"/>
              <a:t>que</a:t>
            </a:r>
            <a:r>
              <a:rPr dirty="0"/>
              <a:t> </a:t>
            </a:r>
            <a:r>
              <a:rPr dirty="0" err="1"/>
              <a:t>mais</a:t>
            </a:r>
            <a:r>
              <a:rPr dirty="0"/>
              <a:t> </a:t>
            </a:r>
            <a:r>
              <a:rPr dirty="0" err="1"/>
              <a:t>ganham</a:t>
            </a:r>
            <a:r>
              <a:rPr dirty="0"/>
              <a:t> peso </a:t>
            </a:r>
            <a:r>
              <a:rPr dirty="0" err="1"/>
              <a:t>são</a:t>
            </a:r>
            <a:r>
              <a:rPr dirty="0"/>
              <a:t> o </a:t>
            </a:r>
            <a:r>
              <a:rPr dirty="0" err="1"/>
              <a:t>controle</a:t>
            </a:r>
            <a:r>
              <a:rPr dirty="0"/>
              <a:t> de </a:t>
            </a:r>
            <a:r>
              <a:rPr dirty="0" err="1"/>
              <a:t>qualidade</a:t>
            </a:r>
            <a:r>
              <a:rPr dirty="0"/>
              <a:t> do </a:t>
            </a:r>
            <a:r>
              <a:rPr dirty="0" err="1"/>
              <a:t>que</a:t>
            </a:r>
            <a:r>
              <a:rPr dirty="0"/>
              <a:t> a IA </a:t>
            </a:r>
            <a:r>
              <a:rPr dirty="0" err="1"/>
              <a:t>produz</a:t>
            </a:r>
            <a:r>
              <a:rPr dirty="0"/>
              <a:t> (50%) e o </a:t>
            </a:r>
            <a:r>
              <a:rPr dirty="0" err="1"/>
              <a:t>pensamento</a:t>
            </a:r>
            <a:r>
              <a:rPr dirty="0"/>
              <a:t> </a:t>
            </a:r>
            <a:r>
              <a:rPr dirty="0" err="1"/>
              <a:t>crítico</a:t>
            </a:r>
            <a:r>
              <a:rPr dirty="0"/>
              <a:t> (46%). É o "</a:t>
            </a:r>
            <a:r>
              <a:rPr dirty="0" err="1"/>
              <a:t>conferir</a:t>
            </a:r>
            <a:r>
              <a:rPr dirty="0"/>
              <a:t>" </a:t>
            </a:r>
            <a:r>
              <a:rPr dirty="0" err="1"/>
              <a:t>desta</a:t>
            </a:r>
            <a:r>
              <a:rPr dirty="0"/>
              <a:t> palestra.</a:t>
            </a:r>
          </a:p>
          <a:p>
            <a:r>
              <a:rPr dirty="0" err="1"/>
              <a:t>Precisão</a:t>
            </a:r>
            <a:r>
              <a:rPr dirty="0"/>
              <a:t> dos dados </a:t>
            </a:r>
            <a:r>
              <a:rPr dirty="0" err="1"/>
              <a:t>novos</a:t>
            </a:r>
            <a:r>
              <a:rPr dirty="0"/>
              <a:t>: a OIT (Working Paper 140, </a:t>
            </a:r>
            <a:r>
              <a:rPr dirty="0" err="1"/>
              <a:t>maio</a:t>
            </a:r>
            <a:r>
              <a:rPr dirty="0"/>
              <a:t> de 2025) </a:t>
            </a:r>
            <a:r>
              <a:rPr dirty="0" err="1"/>
              <a:t>mede</a:t>
            </a:r>
            <a:r>
              <a:rPr dirty="0"/>
              <a:t> o </a:t>
            </a:r>
            <a:r>
              <a:rPr dirty="0" err="1"/>
              <a:t>potencial</a:t>
            </a:r>
            <a:r>
              <a:rPr dirty="0"/>
              <a:t> </a:t>
            </a:r>
            <a:r>
              <a:rPr dirty="0" err="1"/>
              <a:t>técnico</a:t>
            </a:r>
            <a:r>
              <a:rPr dirty="0"/>
              <a:t> das </a:t>
            </a:r>
            <a:r>
              <a:rPr dirty="0" err="1"/>
              <a:t>tarefas</a:t>
            </a:r>
            <a:r>
              <a:rPr dirty="0"/>
              <a:t>, </a:t>
            </a:r>
            <a:r>
              <a:rPr dirty="0" err="1"/>
              <a:t>não</a:t>
            </a:r>
            <a:r>
              <a:rPr dirty="0"/>
              <a:t> </a:t>
            </a:r>
            <a:r>
              <a:rPr dirty="0" err="1"/>
              <a:t>perda</a:t>
            </a:r>
            <a:r>
              <a:rPr dirty="0"/>
              <a:t> de </a:t>
            </a:r>
            <a:r>
              <a:rPr dirty="0" err="1"/>
              <a:t>emprego</a:t>
            </a:r>
            <a:r>
              <a:rPr dirty="0"/>
              <a:t>; as </a:t>
            </a:r>
            <a:r>
              <a:rPr dirty="0" err="1"/>
              <a:t>secretárias</a:t>
            </a:r>
            <a:r>
              <a:rPr dirty="0"/>
              <a:t> </a:t>
            </a:r>
            <a:r>
              <a:rPr dirty="0" err="1"/>
              <a:t>estão</a:t>
            </a:r>
            <a:r>
              <a:rPr dirty="0"/>
              <a:t> no </a:t>
            </a:r>
            <a:r>
              <a:rPr dirty="0" err="1"/>
              <a:t>gradiente</a:t>
            </a:r>
            <a:r>
              <a:rPr dirty="0"/>
              <a:t> 3 (</a:t>
            </a:r>
            <a:r>
              <a:rPr dirty="0" err="1"/>
              <a:t>exposição</a:t>
            </a:r>
            <a:r>
              <a:rPr dirty="0"/>
              <a:t> </a:t>
            </a:r>
            <a:r>
              <a:rPr dirty="0" err="1"/>
              <a:t>significativa</a:t>
            </a:r>
            <a:r>
              <a:rPr dirty="0"/>
              <a:t>), </a:t>
            </a:r>
            <a:r>
              <a:rPr dirty="0" err="1"/>
              <a:t>não</a:t>
            </a:r>
            <a:r>
              <a:rPr dirty="0"/>
              <a:t> no 4, o </a:t>
            </a:r>
            <a:r>
              <a:rPr dirty="0" err="1"/>
              <a:t>mais</a:t>
            </a:r>
            <a:r>
              <a:rPr dirty="0"/>
              <a:t> alto, </a:t>
            </a:r>
            <a:r>
              <a:rPr dirty="0" err="1"/>
              <a:t>que</a:t>
            </a:r>
            <a:r>
              <a:rPr dirty="0"/>
              <a:t> é </a:t>
            </a:r>
            <a:r>
              <a:rPr dirty="0" err="1"/>
              <a:t>dominado</a:t>
            </a:r>
            <a:r>
              <a:rPr dirty="0"/>
              <a:t> </a:t>
            </a:r>
            <a:r>
              <a:rPr dirty="0" err="1"/>
              <a:t>por</a:t>
            </a:r>
            <a:r>
              <a:rPr dirty="0"/>
              <a:t> </a:t>
            </a:r>
            <a:r>
              <a:rPr dirty="0" err="1"/>
              <a:t>digitadores</a:t>
            </a:r>
            <a:r>
              <a:rPr dirty="0"/>
              <a:t> e </a:t>
            </a:r>
            <a:r>
              <a:rPr dirty="0" err="1"/>
              <a:t>auxiliares</a:t>
            </a:r>
            <a:r>
              <a:rPr dirty="0"/>
              <a:t> de </a:t>
            </a:r>
            <a:r>
              <a:rPr dirty="0" err="1"/>
              <a:t>escritório</a:t>
            </a:r>
            <a:r>
              <a:rPr dirty="0"/>
              <a:t>. FGV IBRE: </a:t>
            </a:r>
            <a:r>
              <a:rPr dirty="0" err="1"/>
              <a:t>estudo</a:t>
            </a:r>
            <a:r>
              <a:rPr dirty="0"/>
              <a:t> de </a:t>
            </a:r>
            <a:r>
              <a:rPr dirty="0" err="1"/>
              <a:t>fevereiro</a:t>
            </a:r>
            <a:r>
              <a:rPr dirty="0"/>
              <a:t> de 2026, com a PNAD do 3º </a:t>
            </a:r>
            <a:r>
              <a:rPr dirty="0" err="1"/>
              <a:t>trimestre</a:t>
            </a:r>
            <a:r>
              <a:rPr dirty="0"/>
              <a:t> de 2025. O 8,9% é a </a:t>
            </a:r>
            <a:r>
              <a:rPr dirty="0" err="1"/>
              <a:t>fatia</a:t>
            </a:r>
            <a:r>
              <a:rPr dirty="0"/>
              <a:t> das conversas </a:t>
            </a:r>
            <a:r>
              <a:rPr dirty="0" err="1"/>
              <a:t>ligadas</a:t>
            </a:r>
            <a:r>
              <a:rPr dirty="0"/>
              <a:t> a </a:t>
            </a:r>
            <a:r>
              <a:rPr dirty="0" err="1"/>
              <a:t>tarefas</a:t>
            </a:r>
            <a:r>
              <a:rPr dirty="0"/>
              <a:t> de </a:t>
            </a:r>
            <a:r>
              <a:rPr dirty="0" err="1"/>
              <a:t>apoio</a:t>
            </a:r>
            <a:r>
              <a:rPr dirty="0"/>
              <a:t> </a:t>
            </a:r>
            <a:r>
              <a:rPr dirty="0" err="1"/>
              <a:t>administrativo</a:t>
            </a:r>
            <a:r>
              <a:rPr dirty="0"/>
              <a:t> </a:t>
            </a:r>
            <a:r>
              <a:rPr dirty="0" err="1"/>
              <a:t>sobre</a:t>
            </a:r>
            <a:r>
              <a:rPr dirty="0"/>
              <a:t> </a:t>
            </a:r>
            <a:r>
              <a:rPr dirty="0" err="1"/>
              <a:t>todas</a:t>
            </a:r>
            <a:r>
              <a:rPr dirty="0"/>
              <a:t> as conversas </a:t>
            </a:r>
            <a:r>
              <a:rPr dirty="0" err="1"/>
              <a:t>associadas</a:t>
            </a:r>
            <a:r>
              <a:rPr dirty="0"/>
              <a:t> a </a:t>
            </a:r>
            <a:r>
              <a:rPr dirty="0" err="1"/>
              <a:t>tarefas</a:t>
            </a:r>
            <a:r>
              <a:rPr dirty="0"/>
              <a:t>, inclusive </a:t>
            </a:r>
            <a:r>
              <a:rPr dirty="0" err="1"/>
              <a:t>pessoais</a:t>
            </a:r>
            <a:r>
              <a:rPr dirty="0"/>
              <a:t> e de </a:t>
            </a:r>
            <a:r>
              <a:rPr dirty="0" err="1"/>
              <a:t>estudo</a:t>
            </a:r>
            <a:r>
              <a:rPr dirty="0"/>
              <a:t>. A Microsoft </a:t>
            </a:r>
            <a:r>
              <a:rPr dirty="0" err="1"/>
              <a:t>vende</a:t>
            </a:r>
            <a:r>
              <a:rPr dirty="0"/>
              <a:t> ferramentas de IA; </a:t>
            </a:r>
            <a:r>
              <a:rPr dirty="0" err="1"/>
              <a:t>trate</a:t>
            </a:r>
            <a:r>
              <a:rPr dirty="0"/>
              <a:t> o dado dela </a:t>
            </a:r>
            <a:r>
              <a:rPr dirty="0" err="1"/>
              <a:t>como</a:t>
            </a:r>
            <a:r>
              <a:rPr dirty="0"/>
              <a:t> </a:t>
            </a:r>
            <a:r>
              <a:rPr dirty="0" err="1"/>
              <a:t>pesquisa</a:t>
            </a:r>
            <a:r>
              <a:rPr dirty="0"/>
              <a:t> de </a:t>
            </a:r>
            <a:r>
              <a:rPr dirty="0" err="1"/>
              <a:t>opinião</a:t>
            </a:r>
            <a:r>
              <a:rPr dirty="0"/>
              <a:t>.</a:t>
            </a:r>
          </a:p>
          <a:p>
            <a:endParaRPr dirty="0"/>
          </a:p>
          <a:p>
            <a:r>
              <a:rPr dirty="0"/>
              <a:t>Fontes: </a:t>
            </a:r>
          </a:p>
          <a:p>
            <a:r>
              <a:rPr dirty="0"/>
              <a:t>https://www.weforum.org/publications/the-future-of-jobs-report-2025/in-full/2-jobs-outlook/</a:t>
            </a:r>
          </a:p>
          <a:p>
            <a:r>
              <a:rPr dirty="0"/>
              <a:t>https://www.gartner.com/en/newsroom/press-releases/2025-08-26-gartner-predicts-40-percent-of-enterprise-apps-will-feature-task-specific-ai-agents-by-2026-up-from-less-than-5-percent-in-2025</a:t>
            </a:r>
          </a:p>
          <a:p>
            <a:r>
              <a:rPr dirty="0"/>
              <a:t>https://www.anthropic.com/research/economic-index-june-2026-report</a:t>
            </a:r>
          </a:p>
          <a:p>
            <a:r>
              <a:rPr dirty="0"/>
              <a:t>https://www.ilo.org/publications/generative-ai-and-jobs-refined-global-index-occupational-exposure</a:t>
            </a:r>
          </a:p>
          <a:p>
            <a:r>
              <a:rPr dirty="0"/>
              <a:t>https://brasil.un.org/pt-br/294685-oit-um-em-cada-quatro-empregos-corre-o-risco-de-ser-transformado-pela-ia-generativa</a:t>
            </a:r>
          </a:p>
          <a:p>
            <a:r>
              <a:rPr dirty="0"/>
              <a:t>https://blogdoibre.fgv.br/posts/inteligencia-artificial-e-mercado-de-trabalho-0</a:t>
            </a:r>
          </a:p>
          <a:p>
            <a:r>
              <a:rPr dirty="0"/>
              <a:t>https://www.bls.gov/ooh/office-and-administrative-support/secretaries-and-administrative-assistants.htm</a:t>
            </a:r>
          </a:p>
          <a:p>
            <a:r>
              <a:rPr dirty="0"/>
              <a:t>https://www.microsoft.com/en-us/worklab/work-trend-index/agents-human-agency-and-the-opportunity-for-every-organization</a:t>
            </a:r>
          </a:p>
          <a:p>
            <a:r>
              <a:rPr dirty="0"/>
              <a:t>https://www.anthropic.com/economic-index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dirty="0"/>
              <a:t>10:30–12:30 | O </a:t>
            </a:r>
            <a:r>
              <a:rPr dirty="0" err="1"/>
              <a:t>impacto</a:t>
            </a:r>
            <a:r>
              <a:rPr dirty="0"/>
              <a:t> no </a:t>
            </a:r>
            <a:r>
              <a:rPr dirty="0" err="1"/>
              <a:t>trabalho</a:t>
            </a:r>
            <a:r>
              <a:rPr lang="en-US" dirty="0"/>
              <a:t>.</a:t>
            </a:r>
            <a:endParaRPr dirty="0"/>
          </a:p>
          <a:p>
            <a:r>
              <a:rPr dirty="0"/>
              <a:t>"O </a:t>
            </a:r>
            <a:r>
              <a:rPr dirty="0" err="1"/>
              <a:t>relatório</a:t>
            </a:r>
            <a:r>
              <a:rPr dirty="0"/>
              <a:t> Future of Jobs 2025 do </a:t>
            </a:r>
            <a:r>
              <a:rPr dirty="0" err="1"/>
              <a:t>Fórum</a:t>
            </a:r>
            <a:r>
              <a:rPr dirty="0"/>
              <a:t> </a:t>
            </a:r>
            <a:r>
              <a:rPr dirty="0" err="1"/>
              <a:t>Econômico</a:t>
            </a:r>
            <a:r>
              <a:rPr dirty="0"/>
              <a:t> Mundial </a:t>
            </a:r>
            <a:r>
              <a:rPr dirty="0" err="1"/>
              <a:t>ouviu</a:t>
            </a:r>
            <a:r>
              <a:rPr dirty="0"/>
              <a:t> </a:t>
            </a:r>
            <a:r>
              <a:rPr dirty="0" err="1"/>
              <a:t>mais</a:t>
            </a:r>
            <a:r>
              <a:rPr dirty="0"/>
              <a:t> de mil </a:t>
            </a:r>
            <a:r>
              <a:rPr dirty="0" err="1"/>
              <a:t>empregadores</a:t>
            </a:r>
            <a:r>
              <a:rPr dirty="0"/>
              <a:t> e </a:t>
            </a:r>
            <a:r>
              <a:rPr dirty="0" err="1"/>
              <a:t>colocou</a:t>
            </a:r>
            <a:r>
              <a:rPr dirty="0"/>
              <a:t> '</a:t>
            </a:r>
            <a:r>
              <a:rPr dirty="0" err="1"/>
              <a:t>assistentes</a:t>
            </a:r>
            <a:r>
              <a:rPr dirty="0"/>
              <a:t> </a:t>
            </a:r>
            <a:r>
              <a:rPr dirty="0" err="1"/>
              <a:t>administrativos</a:t>
            </a:r>
            <a:r>
              <a:rPr dirty="0"/>
              <a:t> e </a:t>
            </a:r>
            <a:r>
              <a:rPr dirty="0" err="1"/>
              <a:t>secretárias</a:t>
            </a:r>
            <a:r>
              <a:rPr dirty="0"/>
              <a:t> </a:t>
            </a:r>
            <a:r>
              <a:rPr dirty="0" err="1"/>
              <a:t>executivas</a:t>
            </a:r>
            <a:r>
              <a:rPr dirty="0"/>
              <a:t>' entre as </a:t>
            </a:r>
            <a:r>
              <a:rPr dirty="0" err="1"/>
              <a:t>funções</a:t>
            </a:r>
            <a:r>
              <a:rPr dirty="0"/>
              <a:t> com as </a:t>
            </a:r>
            <a:r>
              <a:rPr dirty="0" err="1"/>
              <a:t>maiores</a:t>
            </a:r>
            <a:r>
              <a:rPr dirty="0"/>
              <a:t> </a:t>
            </a:r>
            <a:r>
              <a:rPr dirty="0" err="1"/>
              <a:t>quedas</a:t>
            </a:r>
            <a:r>
              <a:rPr dirty="0"/>
              <a:t> </a:t>
            </a:r>
            <a:r>
              <a:rPr dirty="0" err="1"/>
              <a:t>previstas</a:t>
            </a:r>
            <a:r>
              <a:rPr dirty="0"/>
              <a:t> </a:t>
            </a:r>
            <a:r>
              <a:rPr dirty="0" err="1"/>
              <a:t>até</a:t>
            </a:r>
            <a:r>
              <a:rPr dirty="0"/>
              <a:t> 2030 (</a:t>
            </a:r>
            <a:r>
              <a:rPr dirty="0" err="1"/>
              <a:t>capítulo</a:t>
            </a:r>
            <a:r>
              <a:rPr dirty="0"/>
              <a:t> 2 do </a:t>
            </a:r>
            <a:r>
              <a:rPr dirty="0" err="1"/>
              <a:t>relatório</a:t>
            </a:r>
            <a:r>
              <a:rPr dirty="0"/>
              <a:t>). Ao </a:t>
            </a:r>
            <a:r>
              <a:rPr dirty="0" err="1"/>
              <a:t>mesmo</a:t>
            </a:r>
            <a:r>
              <a:rPr dirty="0"/>
              <a:t> tempo, o </a:t>
            </a:r>
            <a:r>
              <a:rPr dirty="0" err="1"/>
              <a:t>mesmo</a:t>
            </a:r>
            <a:r>
              <a:rPr dirty="0"/>
              <a:t> </a:t>
            </a:r>
            <a:r>
              <a:rPr dirty="0" err="1"/>
              <a:t>relatório</a:t>
            </a:r>
            <a:r>
              <a:rPr dirty="0"/>
              <a:t> </a:t>
            </a:r>
            <a:r>
              <a:rPr dirty="0" err="1"/>
              <a:t>projeta</a:t>
            </a:r>
            <a:r>
              <a:rPr dirty="0"/>
              <a:t> 170 </a:t>
            </a:r>
            <a:r>
              <a:rPr dirty="0" err="1"/>
              <a:t>milhões</a:t>
            </a:r>
            <a:r>
              <a:rPr dirty="0"/>
              <a:t> de </a:t>
            </a:r>
            <a:r>
              <a:rPr dirty="0" err="1"/>
              <a:t>empregos</a:t>
            </a:r>
            <a:r>
              <a:rPr dirty="0"/>
              <a:t> </a:t>
            </a:r>
            <a:r>
              <a:rPr dirty="0" err="1"/>
              <a:t>criados</a:t>
            </a:r>
            <a:r>
              <a:rPr dirty="0"/>
              <a:t> e 92 </a:t>
            </a:r>
            <a:r>
              <a:rPr dirty="0" err="1"/>
              <a:t>milhões</a:t>
            </a:r>
            <a:r>
              <a:rPr dirty="0"/>
              <a:t> </a:t>
            </a:r>
            <a:r>
              <a:rPr dirty="0" err="1"/>
              <a:t>deslocados</a:t>
            </a:r>
            <a:r>
              <a:rPr dirty="0"/>
              <a:t> — um </a:t>
            </a:r>
            <a:r>
              <a:rPr dirty="0" err="1"/>
              <a:t>saldo</a:t>
            </a:r>
            <a:r>
              <a:rPr dirty="0"/>
              <a:t> </a:t>
            </a:r>
            <a:r>
              <a:rPr dirty="0" err="1"/>
              <a:t>positivo</a:t>
            </a:r>
            <a:r>
              <a:rPr dirty="0"/>
              <a:t>, mas com </a:t>
            </a:r>
            <a:r>
              <a:rPr dirty="0" err="1"/>
              <a:t>muita</a:t>
            </a:r>
            <a:r>
              <a:rPr dirty="0"/>
              <a:t> </a:t>
            </a:r>
            <a:r>
              <a:rPr dirty="0" err="1"/>
              <a:t>troca</a:t>
            </a:r>
            <a:r>
              <a:rPr dirty="0"/>
              <a:t> de </a:t>
            </a:r>
            <a:r>
              <a:rPr dirty="0" err="1"/>
              <a:t>função</a:t>
            </a:r>
            <a:r>
              <a:rPr dirty="0"/>
              <a:t>.</a:t>
            </a:r>
          </a:p>
          <a:p>
            <a:r>
              <a:rPr dirty="0"/>
              <a:t>O Gartner </a:t>
            </a:r>
            <a:r>
              <a:rPr dirty="0" err="1"/>
              <a:t>prevê</a:t>
            </a:r>
            <a:r>
              <a:rPr dirty="0"/>
              <a:t> </a:t>
            </a:r>
            <a:r>
              <a:rPr dirty="0" err="1"/>
              <a:t>que</a:t>
            </a:r>
            <a:r>
              <a:rPr dirty="0"/>
              <a:t>, </a:t>
            </a:r>
            <a:r>
              <a:rPr dirty="0" err="1"/>
              <a:t>até</a:t>
            </a:r>
            <a:r>
              <a:rPr dirty="0"/>
              <a:t> 2029, </a:t>
            </a:r>
            <a:r>
              <a:rPr dirty="0" err="1"/>
              <a:t>metade</a:t>
            </a:r>
            <a:r>
              <a:rPr dirty="0"/>
              <a:t> dos </a:t>
            </a:r>
            <a:r>
              <a:rPr dirty="0" err="1"/>
              <a:t>profissionais</a:t>
            </a:r>
            <a:r>
              <a:rPr dirty="0"/>
              <a:t> do </a:t>
            </a:r>
            <a:r>
              <a:rPr dirty="0" err="1"/>
              <a:t>conhecimento</a:t>
            </a:r>
            <a:r>
              <a:rPr dirty="0"/>
              <a:t> </a:t>
            </a:r>
            <a:r>
              <a:rPr dirty="0" err="1"/>
              <a:t>terá</a:t>
            </a:r>
            <a:r>
              <a:rPr dirty="0"/>
              <a:t> </a:t>
            </a:r>
            <a:r>
              <a:rPr dirty="0" err="1"/>
              <a:t>desenvolvido</a:t>
            </a:r>
            <a:r>
              <a:rPr dirty="0"/>
              <a:t> </a:t>
            </a:r>
            <a:r>
              <a:rPr dirty="0" err="1"/>
              <a:t>habilidades</a:t>
            </a:r>
            <a:r>
              <a:rPr dirty="0"/>
              <a:t> para </a:t>
            </a:r>
            <a:r>
              <a:rPr dirty="0" err="1"/>
              <a:t>trabalhar</a:t>
            </a:r>
            <a:r>
              <a:rPr dirty="0"/>
              <a:t> com </a:t>
            </a:r>
            <a:r>
              <a:rPr dirty="0" err="1"/>
              <a:t>agentes</a:t>
            </a:r>
            <a:r>
              <a:rPr dirty="0"/>
              <a:t> </a:t>
            </a:r>
            <a:r>
              <a:rPr dirty="0" err="1"/>
              <a:t>ou</a:t>
            </a:r>
            <a:r>
              <a:rPr dirty="0"/>
              <a:t> </a:t>
            </a:r>
            <a:r>
              <a:rPr dirty="0" err="1"/>
              <a:t>criá-los</a:t>
            </a:r>
            <a:r>
              <a:rPr dirty="0"/>
              <a:t>.</a:t>
            </a:r>
          </a:p>
          <a:p>
            <a:r>
              <a:rPr dirty="0"/>
              <a:t>A </a:t>
            </a:r>
            <a:r>
              <a:rPr dirty="0" err="1"/>
              <a:t>Organização</a:t>
            </a:r>
            <a:r>
              <a:rPr dirty="0"/>
              <a:t> Internacional do </a:t>
            </a:r>
            <a:r>
              <a:rPr dirty="0" err="1"/>
              <a:t>Trabalho</a:t>
            </a:r>
            <a:r>
              <a:rPr dirty="0"/>
              <a:t> </a:t>
            </a:r>
            <a:r>
              <a:rPr dirty="0" err="1"/>
              <a:t>refez</a:t>
            </a:r>
            <a:r>
              <a:rPr dirty="0"/>
              <a:t> </a:t>
            </a:r>
            <a:r>
              <a:rPr dirty="0" err="1"/>
              <a:t>em</a:t>
            </a:r>
            <a:r>
              <a:rPr dirty="0"/>
              <a:t> 2025 o </a:t>
            </a:r>
            <a:r>
              <a:rPr dirty="0" err="1"/>
              <a:t>seu</a:t>
            </a:r>
            <a:r>
              <a:rPr dirty="0"/>
              <a:t> </a:t>
            </a:r>
            <a:r>
              <a:rPr dirty="0" err="1"/>
              <a:t>índice</a:t>
            </a:r>
            <a:r>
              <a:rPr dirty="0"/>
              <a:t>: 1 </a:t>
            </a:r>
            <a:r>
              <a:rPr dirty="0" err="1"/>
              <a:t>em</a:t>
            </a:r>
            <a:r>
              <a:rPr dirty="0"/>
              <a:t> </a:t>
            </a:r>
            <a:r>
              <a:rPr dirty="0" err="1"/>
              <a:t>cada</a:t>
            </a:r>
            <a:r>
              <a:rPr dirty="0"/>
              <a:t> 4 </a:t>
            </a:r>
            <a:r>
              <a:rPr dirty="0" err="1"/>
              <a:t>empregos</a:t>
            </a:r>
            <a:r>
              <a:rPr dirty="0"/>
              <a:t> no </a:t>
            </a:r>
            <a:r>
              <a:rPr dirty="0" err="1"/>
              <a:t>mundo</a:t>
            </a:r>
            <a:r>
              <a:rPr dirty="0"/>
              <a:t> </a:t>
            </a:r>
            <a:r>
              <a:rPr dirty="0" err="1"/>
              <a:t>está</a:t>
            </a:r>
            <a:r>
              <a:rPr dirty="0"/>
              <a:t> </a:t>
            </a:r>
            <a:r>
              <a:rPr dirty="0" err="1"/>
              <a:t>em</a:t>
            </a:r>
            <a:r>
              <a:rPr dirty="0"/>
              <a:t> </a:t>
            </a:r>
            <a:r>
              <a:rPr dirty="0" err="1"/>
              <a:t>ocupação</a:t>
            </a:r>
            <a:r>
              <a:rPr dirty="0"/>
              <a:t> </a:t>
            </a:r>
            <a:r>
              <a:rPr dirty="0" err="1"/>
              <a:t>exposta</a:t>
            </a:r>
            <a:r>
              <a:rPr dirty="0"/>
              <a:t> à IA </a:t>
            </a:r>
            <a:r>
              <a:rPr dirty="0" err="1"/>
              <a:t>generativa</a:t>
            </a:r>
            <a:r>
              <a:rPr dirty="0"/>
              <a:t>, e o </a:t>
            </a:r>
            <a:r>
              <a:rPr dirty="0" err="1"/>
              <a:t>trabalho</a:t>
            </a:r>
            <a:r>
              <a:rPr dirty="0"/>
              <a:t> </a:t>
            </a:r>
            <a:r>
              <a:rPr dirty="0" err="1"/>
              <a:t>administrativo</a:t>
            </a:r>
            <a:r>
              <a:rPr dirty="0"/>
              <a:t> é o </a:t>
            </a:r>
            <a:r>
              <a:rPr dirty="0" err="1"/>
              <a:t>mais</a:t>
            </a:r>
            <a:r>
              <a:rPr dirty="0"/>
              <a:t> </a:t>
            </a:r>
            <a:r>
              <a:rPr dirty="0" err="1"/>
              <a:t>exposto</a:t>
            </a:r>
            <a:r>
              <a:rPr dirty="0"/>
              <a:t>. Mas a </a:t>
            </a:r>
            <a:r>
              <a:rPr dirty="0" err="1"/>
              <a:t>conclusão</a:t>
            </a:r>
            <a:r>
              <a:rPr dirty="0"/>
              <a:t> da OIT é </a:t>
            </a:r>
            <a:r>
              <a:rPr dirty="0" err="1"/>
              <a:t>que</a:t>
            </a:r>
            <a:r>
              <a:rPr dirty="0"/>
              <a:t> o </a:t>
            </a:r>
            <a:r>
              <a:rPr dirty="0" err="1"/>
              <a:t>mais</a:t>
            </a:r>
            <a:r>
              <a:rPr dirty="0"/>
              <a:t> </a:t>
            </a:r>
            <a:r>
              <a:rPr dirty="0" err="1"/>
              <a:t>provável</a:t>
            </a:r>
            <a:r>
              <a:rPr dirty="0"/>
              <a:t> é </a:t>
            </a:r>
            <a:r>
              <a:rPr dirty="0" err="1"/>
              <a:t>transformar</a:t>
            </a:r>
            <a:r>
              <a:rPr dirty="0"/>
              <a:t> o </a:t>
            </a:r>
            <a:r>
              <a:rPr dirty="0" err="1"/>
              <a:t>trabalho</a:t>
            </a:r>
            <a:r>
              <a:rPr dirty="0"/>
              <a:t>. Um </a:t>
            </a:r>
            <a:r>
              <a:rPr dirty="0" err="1"/>
              <a:t>detalhe</a:t>
            </a:r>
            <a:r>
              <a:rPr dirty="0"/>
              <a:t> </a:t>
            </a:r>
            <a:r>
              <a:rPr dirty="0" err="1"/>
              <a:t>que</a:t>
            </a:r>
            <a:r>
              <a:rPr dirty="0"/>
              <a:t> é a </a:t>
            </a:r>
            <a:r>
              <a:rPr dirty="0" err="1"/>
              <a:t>cara</a:t>
            </a:r>
            <a:r>
              <a:rPr dirty="0"/>
              <a:t> de </a:t>
            </a:r>
            <a:r>
              <a:rPr dirty="0" err="1"/>
              <a:t>vocês</a:t>
            </a:r>
            <a:r>
              <a:rPr dirty="0"/>
              <a:t>: </a:t>
            </a:r>
            <a:r>
              <a:rPr dirty="0" err="1"/>
              <a:t>anotar</a:t>
            </a:r>
            <a:r>
              <a:rPr dirty="0"/>
              <a:t> </a:t>
            </a:r>
            <a:r>
              <a:rPr dirty="0" err="1"/>
              <a:t>reuniões</a:t>
            </a:r>
            <a:r>
              <a:rPr dirty="0"/>
              <a:t> e </a:t>
            </a:r>
            <a:r>
              <a:rPr dirty="0" err="1"/>
              <a:t>agendar</a:t>
            </a:r>
            <a:r>
              <a:rPr dirty="0"/>
              <a:t> </a:t>
            </a:r>
            <a:r>
              <a:rPr dirty="0" err="1"/>
              <a:t>compromissos</a:t>
            </a:r>
            <a:r>
              <a:rPr dirty="0"/>
              <a:t> se </a:t>
            </a:r>
            <a:r>
              <a:rPr dirty="0" err="1"/>
              <a:t>beneficiam</a:t>
            </a:r>
            <a:r>
              <a:rPr dirty="0"/>
              <a:t> </a:t>
            </a:r>
            <a:r>
              <a:rPr dirty="0" err="1"/>
              <a:t>muito</a:t>
            </a:r>
            <a:r>
              <a:rPr dirty="0"/>
              <a:t> da IA, mas, </a:t>
            </a:r>
            <a:r>
              <a:rPr dirty="0" err="1"/>
              <a:t>segundo</a:t>
            </a:r>
            <a:r>
              <a:rPr dirty="0"/>
              <a:t> a OIT, </a:t>
            </a:r>
            <a:r>
              <a:rPr dirty="0" err="1"/>
              <a:t>ainda</a:t>
            </a:r>
            <a:r>
              <a:rPr dirty="0"/>
              <a:t> </a:t>
            </a:r>
            <a:r>
              <a:rPr dirty="0" err="1"/>
              <a:t>exigem</a:t>
            </a:r>
            <a:r>
              <a:rPr dirty="0"/>
              <a:t> </a:t>
            </a:r>
            <a:r>
              <a:rPr dirty="0" err="1"/>
              <a:t>esforço</a:t>
            </a:r>
            <a:r>
              <a:rPr dirty="0"/>
              <a:t> </a:t>
            </a:r>
            <a:r>
              <a:rPr dirty="0" err="1"/>
              <a:t>humano</a:t>
            </a:r>
            <a:r>
              <a:rPr dirty="0"/>
              <a:t> </a:t>
            </a:r>
            <a:r>
              <a:rPr dirty="0" err="1"/>
              <a:t>substancial</a:t>
            </a:r>
            <a:r>
              <a:rPr dirty="0"/>
              <a:t>.</a:t>
            </a:r>
          </a:p>
          <a:p>
            <a:r>
              <a:rPr dirty="0"/>
              <a:t>No Brasil, a FGV </a:t>
            </a:r>
            <a:r>
              <a:rPr dirty="0" err="1"/>
              <a:t>aplicou</a:t>
            </a:r>
            <a:r>
              <a:rPr dirty="0"/>
              <a:t> esse </a:t>
            </a:r>
            <a:r>
              <a:rPr dirty="0" err="1"/>
              <a:t>índice</a:t>
            </a:r>
            <a:r>
              <a:rPr dirty="0"/>
              <a:t> à PNAD: </a:t>
            </a:r>
            <a:r>
              <a:rPr dirty="0" err="1"/>
              <a:t>quase</a:t>
            </a:r>
            <a:r>
              <a:rPr dirty="0"/>
              <a:t> 30 </a:t>
            </a:r>
            <a:r>
              <a:rPr dirty="0" err="1"/>
              <a:t>milhões</a:t>
            </a:r>
            <a:r>
              <a:rPr dirty="0"/>
              <a:t> de </a:t>
            </a:r>
            <a:r>
              <a:rPr dirty="0" err="1"/>
              <a:t>trabalhadores</a:t>
            </a:r>
            <a:r>
              <a:rPr dirty="0"/>
              <a:t>, 29,6% dos </a:t>
            </a:r>
            <a:r>
              <a:rPr dirty="0" err="1"/>
              <a:t>ocupados</a:t>
            </a:r>
            <a:r>
              <a:rPr dirty="0"/>
              <a:t>, </a:t>
            </a:r>
            <a:r>
              <a:rPr dirty="0" err="1"/>
              <a:t>estão</a:t>
            </a:r>
            <a:r>
              <a:rPr dirty="0"/>
              <a:t> </a:t>
            </a:r>
            <a:r>
              <a:rPr dirty="0" err="1"/>
              <a:t>em</a:t>
            </a:r>
            <a:r>
              <a:rPr dirty="0"/>
              <a:t> </a:t>
            </a:r>
            <a:r>
              <a:rPr dirty="0" err="1"/>
              <a:t>ocupações</a:t>
            </a:r>
            <a:r>
              <a:rPr dirty="0"/>
              <a:t> </a:t>
            </a:r>
            <a:r>
              <a:rPr dirty="0" err="1"/>
              <a:t>expostas</a:t>
            </a:r>
            <a:r>
              <a:rPr dirty="0"/>
              <a:t>. Entre as </a:t>
            </a:r>
            <a:r>
              <a:rPr dirty="0" err="1"/>
              <a:t>mulheres</a:t>
            </a:r>
            <a:r>
              <a:rPr dirty="0"/>
              <a:t> </a:t>
            </a:r>
            <a:r>
              <a:rPr dirty="0" err="1"/>
              <a:t>ocupadas</a:t>
            </a:r>
            <a:r>
              <a:rPr dirty="0"/>
              <a:t>, 35%; entre </a:t>
            </a:r>
            <a:r>
              <a:rPr dirty="0" err="1"/>
              <a:t>os</a:t>
            </a:r>
            <a:r>
              <a:rPr dirty="0"/>
              <a:t> </a:t>
            </a:r>
            <a:r>
              <a:rPr dirty="0" err="1"/>
              <a:t>homens</a:t>
            </a:r>
            <a:r>
              <a:rPr dirty="0"/>
              <a:t>, </a:t>
            </a:r>
            <a:r>
              <a:rPr dirty="0" err="1"/>
              <a:t>cerca</a:t>
            </a:r>
            <a:r>
              <a:rPr dirty="0"/>
              <a:t> de 25%. </a:t>
            </a:r>
            <a:r>
              <a:rPr dirty="0" err="1"/>
              <a:t>Exposição</a:t>
            </a:r>
            <a:r>
              <a:rPr dirty="0"/>
              <a:t> </a:t>
            </a:r>
            <a:r>
              <a:rPr dirty="0" err="1"/>
              <a:t>não</a:t>
            </a:r>
            <a:r>
              <a:rPr dirty="0"/>
              <a:t> é </a:t>
            </a:r>
            <a:r>
              <a:rPr dirty="0" err="1"/>
              <a:t>demissão</a:t>
            </a:r>
            <a:r>
              <a:rPr dirty="0"/>
              <a:t>: é </a:t>
            </a:r>
            <a:r>
              <a:rPr dirty="0" err="1"/>
              <a:t>sinal</a:t>
            </a:r>
            <a:r>
              <a:rPr dirty="0"/>
              <a:t> de </a:t>
            </a:r>
            <a:r>
              <a:rPr dirty="0" err="1"/>
              <a:t>que</a:t>
            </a:r>
            <a:r>
              <a:rPr dirty="0"/>
              <a:t> o </a:t>
            </a:r>
            <a:r>
              <a:rPr dirty="0" err="1"/>
              <a:t>trabalho</a:t>
            </a:r>
            <a:r>
              <a:rPr dirty="0"/>
              <a:t> </a:t>
            </a:r>
            <a:r>
              <a:rPr dirty="0" err="1"/>
              <a:t>vai</a:t>
            </a:r>
            <a:r>
              <a:rPr dirty="0"/>
              <a:t> mudar.</a:t>
            </a:r>
          </a:p>
          <a:p>
            <a:r>
              <a:rPr dirty="0"/>
              <a:t>E no </a:t>
            </a:r>
            <a:r>
              <a:rPr dirty="0" err="1"/>
              <a:t>uso</a:t>
            </a:r>
            <a:r>
              <a:rPr dirty="0"/>
              <a:t> real da IA: 57% das conversas com o Claude no Brasil </a:t>
            </a:r>
            <a:r>
              <a:rPr dirty="0" err="1"/>
              <a:t>são</a:t>
            </a:r>
            <a:r>
              <a:rPr dirty="0"/>
              <a:t> de </a:t>
            </a:r>
            <a:r>
              <a:rPr dirty="0" err="1"/>
              <a:t>trabalho</a:t>
            </a:r>
            <a:r>
              <a:rPr dirty="0"/>
              <a:t>, a </a:t>
            </a:r>
            <a:r>
              <a:rPr dirty="0" err="1"/>
              <a:t>maior</a:t>
            </a:r>
            <a:r>
              <a:rPr dirty="0"/>
              <a:t> </a:t>
            </a:r>
            <a:r>
              <a:rPr dirty="0" err="1"/>
              <a:t>fatia</a:t>
            </a:r>
            <a:r>
              <a:rPr dirty="0"/>
              <a:t> entre </a:t>
            </a:r>
            <a:r>
              <a:rPr dirty="0" err="1"/>
              <a:t>os</a:t>
            </a:r>
            <a:r>
              <a:rPr dirty="0"/>
              <a:t> 121 </a:t>
            </a:r>
            <a:r>
              <a:rPr dirty="0" err="1"/>
              <a:t>países</a:t>
            </a:r>
            <a:r>
              <a:rPr dirty="0"/>
              <a:t> com dados </a:t>
            </a:r>
            <a:r>
              <a:rPr dirty="0" err="1"/>
              <a:t>publicados</a:t>
            </a:r>
            <a:r>
              <a:rPr dirty="0"/>
              <a:t>, e 8,9% de </a:t>
            </a:r>
            <a:r>
              <a:rPr dirty="0" err="1"/>
              <a:t>todas</a:t>
            </a:r>
            <a:r>
              <a:rPr dirty="0"/>
              <a:t> as conversas </a:t>
            </a:r>
            <a:r>
              <a:rPr dirty="0" err="1"/>
              <a:t>envolvem</a:t>
            </a:r>
            <a:r>
              <a:rPr dirty="0"/>
              <a:t> </a:t>
            </a:r>
            <a:r>
              <a:rPr dirty="0" err="1"/>
              <a:t>tarefas</a:t>
            </a:r>
            <a:r>
              <a:rPr dirty="0"/>
              <a:t> de </a:t>
            </a:r>
            <a:r>
              <a:rPr dirty="0" err="1"/>
              <a:t>apoio</a:t>
            </a:r>
            <a:r>
              <a:rPr dirty="0"/>
              <a:t> </a:t>
            </a:r>
            <a:r>
              <a:rPr dirty="0" err="1"/>
              <a:t>administrativo</a:t>
            </a:r>
            <a:r>
              <a:rPr dirty="0"/>
              <a:t>, </a:t>
            </a:r>
            <a:r>
              <a:rPr dirty="0" err="1"/>
              <a:t>acima</a:t>
            </a:r>
            <a:r>
              <a:rPr dirty="0"/>
              <a:t> dos 7,9% do </a:t>
            </a:r>
            <a:r>
              <a:rPr dirty="0" err="1"/>
              <a:t>mundo</a:t>
            </a:r>
            <a:r>
              <a:rPr dirty="0"/>
              <a:t>.</a:t>
            </a:r>
          </a:p>
          <a:p>
            <a:r>
              <a:rPr dirty="0"/>
              <a:t>Minha </a:t>
            </a:r>
            <a:r>
              <a:rPr dirty="0" err="1"/>
              <a:t>leitura</a:t>
            </a:r>
            <a:r>
              <a:rPr dirty="0"/>
              <a:t>: o </a:t>
            </a:r>
            <a:r>
              <a:rPr dirty="0" err="1"/>
              <a:t>que</a:t>
            </a:r>
            <a:r>
              <a:rPr dirty="0"/>
              <a:t> </a:t>
            </a:r>
            <a:r>
              <a:rPr dirty="0" err="1"/>
              <a:t>encolhe</a:t>
            </a:r>
            <a:r>
              <a:rPr dirty="0"/>
              <a:t> é a </a:t>
            </a:r>
            <a:r>
              <a:rPr dirty="0" err="1"/>
              <a:t>parte</a:t>
            </a:r>
            <a:r>
              <a:rPr dirty="0"/>
              <a:t> </a:t>
            </a:r>
            <a:r>
              <a:rPr dirty="0" err="1"/>
              <a:t>operacional</a:t>
            </a:r>
            <a:r>
              <a:rPr dirty="0"/>
              <a:t> — </a:t>
            </a:r>
            <a:r>
              <a:rPr dirty="0" err="1"/>
              <a:t>digitar</a:t>
            </a:r>
            <a:r>
              <a:rPr dirty="0"/>
              <a:t>, </a:t>
            </a:r>
            <a:r>
              <a:rPr dirty="0" err="1"/>
              <a:t>copiar</a:t>
            </a:r>
            <a:r>
              <a:rPr dirty="0"/>
              <a:t>, </a:t>
            </a:r>
            <a:r>
              <a:rPr dirty="0" err="1"/>
              <a:t>formatar</a:t>
            </a:r>
            <a:r>
              <a:rPr dirty="0"/>
              <a:t>. O </a:t>
            </a:r>
            <a:r>
              <a:rPr dirty="0" err="1"/>
              <a:t>que</a:t>
            </a:r>
            <a:r>
              <a:rPr dirty="0"/>
              <a:t> </a:t>
            </a:r>
            <a:r>
              <a:rPr dirty="0" err="1"/>
              <a:t>cresce</a:t>
            </a:r>
            <a:r>
              <a:rPr dirty="0"/>
              <a:t> é </a:t>
            </a:r>
            <a:r>
              <a:rPr dirty="0" err="1"/>
              <a:t>justamente</a:t>
            </a:r>
            <a:r>
              <a:rPr dirty="0"/>
              <a:t> o </a:t>
            </a:r>
            <a:r>
              <a:rPr dirty="0" err="1"/>
              <a:t>que</a:t>
            </a:r>
            <a:r>
              <a:rPr dirty="0"/>
              <a:t> </a:t>
            </a:r>
            <a:r>
              <a:rPr dirty="0" err="1"/>
              <a:t>vocês</a:t>
            </a:r>
            <a:r>
              <a:rPr dirty="0"/>
              <a:t> </a:t>
            </a:r>
            <a:r>
              <a:rPr dirty="0" err="1"/>
              <a:t>fazem</a:t>
            </a:r>
            <a:r>
              <a:rPr dirty="0"/>
              <a:t> de </a:t>
            </a:r>
            <a:r>
              <a:rPr dirty="0" err="1"/>
              <a:t>mais</a:t>
            </a:r>
            <a:r>
              <a:rPr dirty="0"/>
              <a:t> </a:t>
            </a:r>
            <a:r>
              <a:rPr dirty="0" err="1"/>
              <a:t>valioso</a:t>
            </a:r>
            <a:r>
              <a:rPr dirty="0"/>
              <a:t>: </a:t>
            </a:r>
            <a:r>
              <a:rPr dirty="0" err="1"/>
              <a:t>julgamento</a:t>
            </a:r>
            <a:r>
              <a:rPr dirty="0"/>
              <a:t>, </a:t>
            </a:r>
            <a:r>
              <a:rPr dirty="0" err="1"/>
              <a:t>discrição</a:t>
            </a:r>
            <a:r>
              <a:rPr dirty="0"/>
              <a:t>, </a:t>
            </a:r>
            <a:r>
              <a:rPr dirty="0" err="1"/>
              <a:t>relacionamento</a:t>
            </a:r>
            <a:r>
              <a:rPr dirty="0"/>
              <a:t>, </a:t>
            </a:r>
            <a:r>
              <a:rPr dirty="0" err="1"/>
              <a:t>organização</a:t>
            </a:r>
            <a:r>
              <a:rPr dirty="0"/>
              <a:t> do </a:t>
            </a:r>
            <a:r>
              <a:rPr dirty="0" err="1"/>
              <a:t>contexto</a:t>
            </a:r>
            <a:r>
              <a:rPr dirty="0"/>
              <a:t>. Quem </a:t>
            </a:r>
            <a:r>
              <a:rPr dirty="0" err="1"/>
              <a:t>souber</a:t>
            </a:r>
            <a:r>
              <a:rPr dirty="0"/>
              <a:t> </a:t>
            </a:r>
            <a:r>
              <a:rPr dirty="0" err="1"/>
              <a:t>gerenciar</a:t>
            </a:r>
            <a:r>
              <a:rPr dirty="0"/>
              <a:t> </a:t>
            </a:r>
            <a:r>
              <a:rPr dirty="0" err="1"/>
              <a:t>agentes</a:t>
            </a:r>
            <a:r>
              <a:rPr dirty="0"/>
              <a:t> </a:t>
            </a:r>
            <a:r>
              <a:rPr dirty="0" err="1"/>
              <a:t>vira</a:t>
            </a:r>
            <a:r>
              <a:rPr dirty="0"/>
              <a:t> a </a:t>
            </a:r>
            <a:r>
              <a:rPr dirty="0" err="1"/>
              <a:t>pessoa</a:t>
            </a:r>
            <a:r>
              <a:rPr dirty="0"/>
              <a:t> </a:t>
            </a:r>
            <a:r>
              <a:rPr dirty="0" err="1"/>
              <a:t>mais</a:t>
            </a:r>
            <a:r>
              <a:rPr dirty="0"/>
              <a:t> </a:t>
            </a:r>
            <a:r>
              <a:rPr dirty="0" err="1"/>
              <a:t>estratégica</a:t>
            </a:r>
            <a:r>
              <a:rPr dirty="0"/>
              <a:t> do </a:t>
            </a:r>
            <a:r>
              <a:rPr dirty="0" err="1"/>
              <a:t>escritório</a:t>
            </a:r>
            <a:r>
              <a:rPr dirty="0"/>
              <a:t>. É para </a:t>
            </a:r>
            <a:r>
              <a:rPr dirty="0" err="1"/>
              <a:t>isso</a:t>
            </a:r>
            <a:r>
              <a:rPr dirty="0"/>
              <a:t> </a:t>
            </a:r>
            <a:r>
              <a:rPr dirty="0" err="1"/>
              <a:t>que</a:t>
            </a:r>
            <a:r>
              <a:rPr dirty="0"/>
              <a:t> serve </a:t>
            </a:r>
            <a:r>
              <a:rPr dirty="0" err="1"/>
              <a:t>esta</a:t>
            </a:r>
            <a:r>
              <a:rPr dirty="0"/>
              <a:t> palestra."</a:t>
            </a:r>
          </a:p>
          <a:p>
            <a:r>
              <a:rPr dirty="0" err="1"/>
              <a:t>Sobre</a:t>
            </a:r>
            <a:r>
              <a:rPr dirty="0"/>
              <a:t> o Anthropic Economic Index: </a:t>
            </a:r>
            <a:r>
              <a:rPr dirty="0" err="1"/>
              <a:t>mede</a:t>
            </a:r>
            <a:r>
              <a:rPr dirty="0"/>
              <a:t> conversas </a:t>
            </a:r>
            <a:r>
              <a:rPr dirty="0" err="1"/>
              <a:t>associadas</a:t>
            </a:r>
            <a:r>
              <a:rPr dirty="0"/>
              <a:t> a </a:t>
            </a:r>
            <a:r>
              <a:rPr dirty="0" err="1"/>
              <a:t>tarefas</a:t>
            </a:r>
            <a:r>
              <a:rPr dirty="0"/>
              <a:t>, </a:t>
            </a:r>
            <a:r>
              <a:rPr dirty="0" err="1"/>
              <a:t>não</a:t>
            </a:r>
            <a:r>
              <a:rPr dirty="0"/>
              <a:t> quem </a:t>
            </a:r>
            <a:r>
              <a:rPr dirty="0" err="1"/>
              <a:t>são</a:t>
            </a:r>
            <a:r>
              <a:rPr dirty="0"/>
              <a:t> </a:t>
            </a:r>
            <a:r>
              <a:rPr dirty="0" err="1"/>
              <a:t>os</a:t>
            </a:r>
            <a:r>
              <a:rPr dirty="0"/>
              <a:t> </a:t>
            </a:r>
            <a:r>
              <a:rPr dirty="0" err="1"/>
              <a:t>usuários</a:t>
            </a:r>
            <a:r>
              <a:rPr dirty="0"/>
              <a:t>. Diga "conversas </a:t>
            </a:r>
            <a:r>
              <a:rPr dirty="0" err="1"/>
              <a:t>ligadas</a:t>
            </a:r>
            <a:r>
              <a:rPr dirty="0"/>
              <a:t> a </a:t>
            </a:r>
            <a:r>
              <a:rPr dirty="0" err="1"/>
              <a:t>tarefas</a:t>
            </a:r>
            <a:r>
              <a:rPr dirty="0"/>
              <a:t> de </a:t>
            </a:r>
            <a:r>
              <a:rPr dirty="0" err="1"/>
              <a:t>apoio</a:t>
            </a:r>
            <a:r>
              <a:rPr dirty="0"/>
              <a:t> </a:t>
            </a:r>
            <a:r>
              <a:rPr dirty="0" err="1"/>
              <a:t>administrativo</a:t>
            </a:r>
            <a:r>
              <a:rPr dirty="0"/>
              <a:t>", </a:t>
            </a:r>
            <a:r>
              <a:rPr dirty="0" err="1"/>
              <a:t>não</a:t>
            </a:r>
            <a:r>
              <a:rPr dirty="0"/>
              <a:t> "</a:t>
            </a:r>
            <a:r>
              <a:rPr dirty="0" err="1"/>
              <a:t>secretárias</a:t>
            </a:r>
            <a:r>
              <a:rPr dirty="0"/>
              <a:t> </a:t>
            </a:r>
            <a:r>
              <a:rPr dirty="0" err="1"/>
              <a:t>usam</a:t>
            </a:r>
            <a:r>
              <a:rPr dirty="0"/>
              <a:t> o Claude". Fonte: https://www.anthropic.com/economic-index</a:t>
            </a:r>
          </a:p>
          <a:p>
            <a:r>
              <a:rPr dirty="0" err="1"/>
              <a:t>Precisão</a:t>
            </a:r>
            <a:r>
              <a:rPr dirty="0"/>
              <a:t> dos </a:t>
            </a:r>
            <a:r>
              <a:rPr dirty="0" err="1"/>
              <a:t>indicadores</a:t>
            </a:r>
            <a:r>
              <a:rPr dirty="0"/>
              <a:t>: as </a:t>
            </a:r>
            <a:r>
              <a:rPr dirty="0" err="1"/>
              <a:t>projeções</a:t>
            </a:r>
            <a:r>
              <a:rPr dirty="0"/>
              <a:t> de </a:t>
            </a:r>
            <a:r>
              <a:rPr dirty="0" err="1"/>
              <a:t>emprego</a:t>
            </a:r>
            <a:r>
              <a:rPr dirty="0"/>
              <a:t> do WEF </a:t>
            </a:r>
            <a:r>
              <a:rPr dirty="0" err="1"/>
              <a:t>abrangem</a:t>
            </a:r>
            <a:r>
              <a:rPr dirty="0"/>
              <a:t> </a:t>
            </a:r>
            <a:r>
              <a:rPr dirty="0" err="1"/>
              <a:t>várias</a:t>
            </a:r>
            <a:r>
              <a:rPr dirty="0"/>
              <a:t> </a:t>
            </a:r>
            <a:r>
              <a:rPr dirty="0" err="1"/>
              <a:t>transformações</a:t>
            </a:r>
            <a:r>
              <a:rPr dirty="0"/>
              <a:t> </a:t>
            </a:r>
            <a:r>
              <a:rPr dirty="0" err="1"/>
              <a:t>econômicas</a:t>
            </a:r>
            <a:r>
              <a:rPr dirty="0"/>
              <a:t>, </a:t>
            </a:r>
            <a:r>
              <a:rPr dirty="0" err="1"/>
              <a:t>não</a:t>
            </a:r>
            <a:r>
              <a:rPr dirty="0"/>
              <a:t> </a:t>
            </a:r>
            <a:r>
              <a:rPr dirty="0" err="1"/>
              <a:t>apenas</a:t>
            </a:r>
            <a:r>
              <a:rPr dirty="0"/>
              <a:t> IA. Gartner </a:t>
            </a:r>
            <a:r>
              <a:rPr dirty="0" err="1"/>
              <a:t>prevê</a:t>
            </a:r>
            <a:r>
              <a:rPr dirty="0"/>
              <a:t> </a:t>
            </a:r>
            <a:r>
              <a:rPr dirty="0" err="1"/>
              <a:t>pelo</a:t>
            </a:r>
            <a:r>
              <a:rPr dirty="0"/>
              <a:t> </a:t>
            </a:r>
            <a:r>
              <a:rPr dirty="0" err="1"/>
              <a:t>menos</a:t>
            </a:r>
            <a:r>
              <a:rPr dirty="0"/>
              <a:t> 50%. </a:t>
            </a:r>
            <a:r>
              <a:rPr dirty="0" err="1"/>
              <a:t>Os</a:t>
            </a:r>
            <a:r>
              <a:rPr dirty="0"/>
              <a:t> </a:t>
            </a:r>
            <a:r>
              <a:rPr dirty="0" err="1"/>
              <a:t>percentuais</a:t>
            </a:r>
            <a:r>
              <a:rPr dirty="0"/>
              <a:t> da Anthropic </a:t>
            </a:r>
            <a:r>
              <a:rPr dirty="0" err="1"/>
              <a:t>referem</a:t>
            </a:r>
            <a:r>
              <a:rPr dirty="0"/>
              <a:t>-se </a:t>
            </a:r>
            <a:r>
              <a:rPr dirty="0" err="1"/>
              <a:t>ao</a:t>
            </a:r>
            <a:r>
              <a:rPr dirty="0"/>
              <a:t> Claude </a:t>
            </a:r>
            <a:r>
              <a:rPr dirty="0" err="1"/>
              <a:t>em</a:t>
            </a:r>
            <a:r>
              <a:rPr dirty="0"/>
              <a:t> chat e </a:t>
            </a:r>
            <a:r>
              <a:rPr dirty="0" err="1"/>
              <a:t>Cowork</a:t>
            </a:r>
            <a:r>
              <a:rPr dirty="0"/>
              <a:t>, dados de </a:t>
            </a:r>
            <a:r>
              <a:rPr dirty="0" err="1"/>
              <a:t>maio</a:t>
            </a:r>
            <a:r>
              <a:rPr dirty="0"/>
              <a:t> de 2026.</a:t>
            </a:r>
          </a:p>
          <a:p>
            <a:r>
              <a:rPr dirty="0" err="1"/>
              <a:t>Contraponto</a:t>
            </a:r>
            <a:r>
              <a:rPr dirty="0"/>
              <a:t> para a </a:t>
            </a:r>
            <a:r>
              <a:rPr dirty="0" err="1"/>
              <a:t>fala</a:t>
            </a:r>
            <a:r>
              <a:rPr dirty="0"/>
              <a:t>: </a:t>
            </a:r>
            <a:r>
              <a:rPr dirty="0" err="1"/>
              <a:t>nos</a:t>
            </a:r>
            <a:r>
              <a:rPr dirty="0"/>
              <a:t> EUA, o BLS </a:t>
            </a:r>
            <a:r>
              <a:rPr dirty="0" err="1"/>
              <a:t>projeta</a:t>
            </a:r>
            <a:r>
              <a:rPr dirty="0"/>
              <a:t> </a:t>
            </a:r>
            <a:r>
              <a:rPr dirty="0" err="1"/>
              <a:t>queda</a:t>
            </a:r>
            <a:r>
              <a:rPr dirty="0"/>
              <a:t> de 2% no </a:t>
            </a:r>
            <a:r>
              <a:rPr dirty="0" err="1"/>
              <a:t>emprego</a:t>
            </a:r>
            <a:r>
              <a:rPr dirty="0"/>
              <a:t> de </a:t>
            </a:r>
            <a:r>
              <a:rPr dirty="0" err="1"/>
              <a:t>secretárias</a:t>
            </a:r>
            <a:r>
              <a:rPr dirty="0"/>
              <a:t> e </a:t>
            </a:r>
            <a:r>
              <a:rPr dirty="0" err="1"/>
              <a:t>assistentes</a:t>
            </a:r>
            <a:r>
              <a:rPr dirty="0"/>
              <a:t> </a:t>
            </a:r>
            <a:r>
              <a:rPr dirty="0" err="1"/>
              <a:t>administrativos</a:t>
            </a:r>
            <a:r>
              <a:rPr dirty="0"/>
              <a:t> de 2025 a 2035 e </a:t>
            </a:r>
            <a:r>
              <a:rPr dirty="0" err="1"/>
              <a:t>cita</a:t>
            </a:r>
            <a:r>
              <a:rPr dirty="0"/>
              <a:t> a IA </a:t>
            </a:r>
            <a:r>
              <a:rPr dirty="0" err="1"/>
              <a:t>como</a:t>
            </a:r>
            <a:r>
              <a:rPr dirty="0"/>
              <a:t> um dos </a:t>
            </a:r>
            <a:r>
              <a:rPr dirty="0" err="1"/>
              <a:t>fatores</a:t>
            </a:r>
            <a:r>
              <a:rPr dirty="0"/>
              <a:t>. A </a:t>
            </a:r>
            <a:r>
              <a:rPr dirty="0" err="1"/>
              <a:t>queda</a:t>
            </a:r>
            <a:r>
              <a:rPr dirty="0"/>
              <a:t> </a:t>
            </a:r>
            <a:r>
              <a:rPr dirty="0" err="1"/>
              <a:t>não</a:t>
            </a:r>
            <a:r>
              <a:rPr dirty="0"/>
              <a:t> é </a:t>
            </a:r>
            <a:r>
              <a:rPr dirty="0" err="1"/>
              <a:t>igual</a:t>
            </a:r>
            <a:r>
              <a:rPr dirty="0"/>
              <a:t> para </a:t>
            </a:r>
            <a:r>
              <a:rPr dirty="0" err="1"/>
              <a:t>todas</a:t>
            </a:r>
            <a:r>
              <a:rPr dirty="0"/>
              <a:t>: as </a:t>
            </a:r>
            <a:r>
              <a:rPr dirty="0" err="1"/>
              <a:t>executivas</a:t>
            </a:r>
            <a:r>
              <a:rPr dirty="0"/>
              <a:t> </a:t>
            </a:r>
            <a:r>
              <a:rPr dirty="0" err="1"/>
              <a:t>ficam</a:t>
            </a:r>
            <a:r>
              <a:rPr dirty="0"/>
              <a:t> </a:t>
            </a:r>
            <a:r>
              <a:rPr dirty="0" err="1"/>
              <a:t>estáveis</a:t>
            </a:r>
            <a:r>
              <a:rPr dirty="0"/>
              <a:t> (0%), as </a:t>
            </a:r>
            <a:r>
              <a:rPr dirty="0" err="1"/>
              <a:t>médicas</a:t>
            </a:r>
            <a:r>
              <a:rPr dirty="0"/>
              <a:t> </a:t>
            </a:r>
            <a:r>
              <a:rPr dirty="0" err="1"/>
              <a:t>crescem</a:t>
            </a:r>
            <a:r>
              <a:rPr dirty="0"/>
              <a:t> 5%, </a:t>
            </a:r>
            <a:r>
              <a:rPr dirty="0" err="1"/>
              <a:t>puxadas</a:t>
            </a:r>
            <a:r>
              <a:rPr dirty="0"/>
              <a:t> pela </a:t>
            </a:r>
            <a:r>
              <a:rPr dirty="0" err="1"/>
              <a:t>saúde</a:t>
            </a:r>
            <a:r>
              <a:rPr dirty="0"/>
              <a:t>, e as </a:t>
            </a:r>
            <a:r>
              <a:rPr dirty="0" err="1"/>
              <a:t>jurídicas</a:t>
            </a:r>
            <a:r>
              <a:rPr dirty="0"/>
              <a:t> </a:t>
            </a:r>
            <a:r>
              <a:rPr dirty="0" err="1"/>
              <a:t>caem</a:t>
            </a:r>
            <a:r>
              <a:rPr dirty="0"/>
              <a:t> 5%.</a:t>
            </a:r>
          </a:p>
          <a:p>
            <a:r>
              <a:rPr dirty="0" err="1"/>
              <a:t>Exemplos</a:t>
            </a:r>
            <a:r>
              <a:rPr dirty="0"/>
              <a:t> </a:t>
            </a:r>
            <a:r>
              <a:rPr dirty="0" err="1"/>
              <a:t>concretos</a:t>
            </a:r>
            <a:r>
              <a:rPr dirty="0"/>
              <a:t>: no Brasil, as </a:t>
            </a:r>
            <a:r>
              <a:rPr dirty="0" err="1"/>
              <a:t>tarefas</a:t>
            </a:r>
            <a:r>
              <a:rPr dirty="0"/>
              <a:t> de </a:t>
            </a:r>
            <a:r>
              <a:rPr dirty="0" err="1"/>
              <a:t>apoio</a:t>
            </a:r>
            <a:r>
              <a:rPr dirty="0"/>
              <a:t> </a:t>
            </a:r>
            <a:r>
              <a:rPr dirty="0" err="1"/>
              <a:t>administrativo</a:t>
            </a:r>
            <a:r>
              <a:rPr dirty="0"/>
              <a:t> </a:t>
            </a:r>
            <a:r>
              <a:rPr dirty="0" err="1"/>
              <a:t>mais</a:t>
            </a:r>
            <a:r>
              <a:rPr dirty="0"/>
              <a:t> </a:t>
            </a:r>
            <a:r>
              <a:rPr dirty="0" err="1"/>
              <a:t>frequentes</a:t>
            </a:r>
            <a:r>
              <a:rPr dirty="0"/>
              <a:t> </a:t>
            </a:r>
            <a:r>
              <a:rPr dirty="0" err="1"/>
              <a:t>nas</a:t>
            </a:r>
            <a:r>
              <a:rPr dirty="0"/>
              <a:t> conversas com o Claude </a:t>
            </a:r>
            <a:r>
              <a:rPr dirty="0" err="1"/>
              <a:t>são</a:t>
            </a:r>
            <a:r>
              <a:rPr dirty="0"/>
              <a:t> </a:t>
            </a:r>
            <a:r>
              <a:rPr dirty="0" err="1"/>
              <a:t>revisar</a:t>
            </a:r>
            <a:r>
              <a:rPr dirty="0"/>
              <a:t> </a:t>
            </a:r>
            <a:r>
              <a:rPr dirty="0" err="1"/>
              <a:t>documentos</a:t>
            </a:r>
            <a:r>
              <a:rPr dirty="0"/>
              <a:t> para responder a </a:t>
            </a:r>
            <a:r>
              <a:rPr dirty="0" err="1"/>
              <a:t>pedidos</a:t>
            </a:r>
            <a:r>
              <a:rPr dirty="0"/>
              <a:t>, </a:t>
            </a:r>
            <a:r>
              <a:rPr dirty="0" err="1"/>
              <a:t>compilar</a:t>
            </a:r>
            <a:r>
              <a:rPr dirty="0"/>
              <a:t> e </a:t>
            </a:r>
            <a:r>
              <a:rPr dirty="0" err="1"/>
              <a:t>mesclar</a:t>
            </a:r>
            <a:r>
              <a:rPr dirty="0"/>
              <a:t> </a:t>
            </a:r>
            <a:r>
              <a:rPr dirty="0" err="1"/>
              <a:t>documentos</a:t>
            </a:r>
            <a:r>
              <a:rPr dirty="0"/>
              <a:t>, </a:t>
            </a:r>
            <a:r>
              <a:rPr dirty="0" err="1"/>
              <a:t>ajustar</a:t>
            </a:r>
            <a:r>
              <a:rPr dirty="0"/>
              <a:t> </a:t>
            </a:r>
            <a:r>
              <a:rPr dirty="0" err="1"/>
              <a:t>formatação</a:t>
            </a:r>
            <a:r>
              <a:rPr dirty="0"/>
              <a:t> e </a:t>
            </a:r>
            <a:r>
              <a:rPr dirty="0" err="1"/>
              <a:t>redigir</a:t>
            </a:r>
            <a:r>
              <a:rPr dirty="0"/>
              <a:t> </a:t>
            </a:r>
            <a:r>
              <a:rPr dirty="0" err="1"/>
              <a:t>correspondência</a:t>
            </a:r>
            <a:r>
              <a:rPr dirty="0"/>
              <a:t> (Anthropic Economic Index, </a:t>
            </a:r>
            <a:r>
              <a:rPr dirty="0" err="1"/>
              <a:t>maio</a:t>
            </a:r>
            <a:r>
              <a:rPr dirty="0"/>
              <a:t> de 2026).</a:t>
            </a:r>
          </a:p>
          <a:p>
            <a:r>
              <a:rPr dirty="0"/>
              <a:t>Para a </a:t>
            </a:r>
            <a:r>
              <a:rPr dirty="0" err="1"/>
              <a:t>frase</a:t>
            </a:r>
            <a:r>
              <a:rPr dirty="0"/>
              <a:t> final: no Work Trend Index 2026 da Microsoft (20 mil </a:t>
            </a:r>
            <a:r>
              <a:rPr dirty="0" err="1"/>
              <a:t>usuários</a:t>
            </a:r>
            <a:r>
              <a:rPr dirty="0"/>
              <a:t> de IA </a:t>
            </a:r>
            <a:r>
              <a:rPr dirty="0" err="1"/>
              <a:t>em</a:t>
            </a:r>
            <a:r>
              <a:rPr dirty="0"/>
              <a:t> 10 </a:t>
            </a:r>
            <a:r>
              <a:rPr dirty="0" err="1"/>
              <a:t>países</a:t>
            </a:r>
            <a:r>
              <a:rPr dirty="0"/>
              <a:t>, inclusive o Brasil), as </a:t>
            </a:r>
            <a:r>
              <a:rPr dirty="0" err="1"/>
              <a:t>habilidades</a:t>
            </a:r>
            <a:r>
              <a:rPr dirty="0"/>
              <a:t> </a:t>
            </a:r>
            <a:r>
              <a:rPr dirty="0" err="1"/>
              <a:t>humanas</a:t>
            </a:r>
            <a:r>
              <a:rPr dirty="0"/>
              <a:t> </a:t>
            </a:r>
            <a:r>
              <a:rPr dirty="0" err="1"/>
              <a:t>que</a:t>
            </a:r>
            <a:r>
              <a:rPr dirty="0"/>
              <a:t> </a:t>
            </a:r>
            <a:r>
              <a:rPr dirty="0" err="1"/>
              <a:t>mais</a:t>
            </a:r>
            <a:r>
              <a:rPr dirty="0"/>
              <a:t> </a:t>
            </a:r>
            <a:r>
              <a:rPr dirty="0" err="1"/>
              <a:t>ganham</a:t>
            </a:r>
            <a:r>
              <a:rPr dirty="0"/>
              <a:t> peso </a:t>
            </a:r>
            <a:r>
              <a:rPr dirty="0" err="1"/>
              <a:t>são</a:t>
            </a:r>
            <a:r>
              <a:rPr dirty="0"/>
              <a:t> o </a:t>
            </a:r>
            <a:r>
              <a:rPr dirty="0" err="1"/>
              <a:t>controle</a:t>
            </a:r>
            <a:r>
              <a:rPr dirty="0"/>
              <a:t> de </a:t>
            </a:r>
            <a:r>
              <a:rPr dirty="0" err="1"/>
              <a:t>qualidade</a:t>
            </a:r>
            <a:r>
              <a:rPr dirty="0"/>
              <a:t> do </a:t>
            </a:r>
            <a:r>
              <a:rPr dirty="0" err="1"/>
              <a:t>que</a:t>
            </a:r>
            <a:r>
              <a:rPr dirty="0"/>
              <a:t> a IA </a:t>
            </a:r>
            <a:r>
              <a:rPr dirty="0" err="1"/>
              <a:t>produz</a:t>
            </a:r>
            <a:r>
              <a:rPr dirty="0"/>
              <a:t> (50%) e o </a:t>
            </a:r>
            <a:r>
              <a:rPr dirty="0" err="1"/>
              <a:t>pensamento</a:t>
            </a:r>
            <a:r>
              <a:rPr dirty="0"/>
              <a:t> </a:t>
            </a:r>
            <a:r>
              <a:rPr dirty="0" err="1"/>
              <a:t>crítico</a:t>
            </a:r>
            <a:r>
              <a:rPr dirty="0"/>
              <a:t> (46%). É o "</a:t>
            </a:r>
            <a:r>
              <a:rPr dirty="0" err="1"/>
              <a:t>conferir</a:t>
            </a:r>
            <a:r>
              <a:rPr dirty="0"/>
              <a:t>" </a:t>
            </a:r>
            <a:r>
              <a:rPr dirty="0" err="1"/>
              <a:t>desta</a:t>
            </a:r>
            <a:r>
              <a:rPr dirty="0"/>
              <a:t> palestra.</a:t>
            </a:r>
          </a:p>
          <a:p>
            <a:r>
              <a:rPr dirty="0" err="1"/>
              <a:t>Precisão</a:t>
            </a:r>
            <a:r>
              <a:rPr dirty="0"/>
              <a:t> dos dados </a:t>
            </a:r>
            <a:r>
              <a:rPr dirty="0" err="1"/>
              <a:t>novos</a:t>
            </a:r>
            <a:r>
              <a:rPr dirty="0"/>
              <a:t>: a OIT (Working Paper 140, </a:t>
            </a:r>
            <a:r>
              <a:rPr dirty="0" err="1"/>
              <a:t>maio</a:t>
            </a:r>
            <a:r>
              <a:rPr dirty="0"/>
              <a:t> de 2025) </a:t>
            </a:r>
            <a:r>
              <a:rPr dirty="0" err="1"/>
              <a:t>mede</a:t>
            </a:r>
            <a:r>
              <a:rPr dirty="0"/>
              <a:t> o </a:t>
            </a:r>
            <a:r>
              <a:rPr dirty="0" err="1"/>
              <a:t>potencial</a:t>
            </a:r>
            <a:r>
              <a:rPr dirty="0"/>
              <a:t> </a:t>
            </a:r>
            <a:r>
              <a:rPr dirty="0" err="1"/>
              <a:t>técnico</a:t>
            </a:r>
            <a:r>
              <a:rPr dirty="0"/>
              <a:t> das </a:t>
            </a:r>
            <a:r>
              <a:rPr dirty="0" err="1"/>
              <a:t>tarefas</a:t>
            </a:r>
            <a:r>
              <a:rPr dirty="0"/>
              <a:t>, </a:t>
            </a:r>
            <a:r>
              <a:rPr dirty="0" err="1"/>
              <a:t>não</a:t>
            </a:r>
            <a:r>
              <a:rPr dirty="0"/>
              <a:t> </a:t>
            </a:r>
            <a:r>
              <a:rPr dirty="0" err="1"/>
              <a:t>perda</a:t>
            </a:r>
            <a:r>
              <a:rPr dirty="0"/>
              <a:t> de </a:t>
            </a:r>
            <a:r>
              <a:rPr dirty="0" err="1"/>
              <a:t>emprego</a:t>
            </a:r>
            <a:r>
              <a:rPr dirty="0"/>
              <a:t>; as </a:t>
            </a:r>
            <a:r>
              <a:rPr dirty="0" err="1"/>
              <a:t>secretárias</a:t>
            </a:r>
            <a:r>
              <a:rPr dirty="0"/>
              <a:t> </a:t>
            </a:r>
            <a:r>
              <a:rPr dirty="0" err="1"/>
              <a:t>estão</a:t>
            </a:r>
            <a:r>
              <a:rPr dirty="0"/>
              <a:t> no </a:t>
            </a:r>
            <a:r>
              <a:rPr dirty="0" err="1"/>
              <a:t>gradiente</a:t>
            </a:r>
            <a:r>
              <a:rPr dirty="0"/>
              <a:t> 3 (</a:t>
            </a:r>
            <a:r>
              <a:rPr dirty="0" err="1"/>
              <a:t>exposição</a:t>
            </a:r>
            <a:r>
              <a:rPr dirty="0"/>
              <a:t> </a:t>
            </a:r>
            <a:r>
              <a:rPr dirty="0" err="1"/>
              <a:t>significativa</a:t>
            </a:r>
            <a:r>
              <a:rPr dirty="0"/>
              <a:t>), </a:t>
            </a:r>
            <a:r>
              <a:rPr dirty="0" err="1"/>
              <a:t>não</a:t>
            </a:r>
            <a:r>
              <a:rPr dirty="0"/>
              <a:t> no 4, o </a:t>
            </a:r>
            <a:r>
              <a:rPr dirty="0" err="1"/>
              <a:t>mais</a:t>
            </a:r>
            <a:r>
              <a:rPr dirty="0"/>
              <a:t> alto, </a:t>
            </a:r>
            <a:r>
              <a:rPr dirty="0" err="1"/>
              <a:t>que</a:t>
            </a:r>
            <a:r>
              <a:rPr dirty="0"/>
              <a:t> é </a:t>
            </a:r>
            <a:r>
              <a:rPr dirty="0" err="1"/>
              <a:t>dominado</a:t>
            </a:r>
            <a:r>
              <a:rPr dirty="0"/>
              <a:t> </a:t>
            </a:r>
            <a:r>
              <a:rPr dirty="0" err="1"/>
              <a:t>por</a:t>
            </a:r>
            <a:r>
              <a:rPr dirty="0"/>
              <a:t> </a:t>
            </a:r>
            <a:r>
              <a:rPr dirty="0" err="1"/>
              <a:t>digitadores</a:t>
            </a:r>
            <a:r>
              <a:rPr dirty="0"/>
              <a:t> e </a:t>
            </a:r>
            <a:r>
              <a:rPr dirty="0" err="1"/>
              <a:t>auxiliares</a:t>
            </a:r>
            <a:r>
              <a:rPr dirty="0"/>
              <a:t> de </a:t>
            </a:r>
            <a:r>
              <a:rPr dirty="0" err="1"/>
              <a:t>escritório</a:t>
            </a:r>
            <a:r>
              <a:rPr dirty="0"/>
              <a:t>. FGV IBRE: </a:t>
            </a:r>
            <a:r>
              <a:rPr dirty="0" err="1"/>
              <a:t>estudo</a:t>
            </a:r>
            <a:r>
              <a:rPr dirty="0"/>
              <a:t> de </a:t>
            </a:r>
            <a:r>
              <a:rPr dirty="0" err="1"/>
              <a:t>fevereiro</a:t>
            </a:r>
            <a:r>
              <a:rPr dirty="0"/>
              <a:t> de 2026, com a PNAD do 3º </a:t>
            </a:r>
            <a:r>
              <a:rPr dirty="0" err="1"/>
              <a:t>trimestre</a:t>
            </a:r>
            <a:r>
              <a:rPr dirty="0"/>
              <a:t> de 2025. O 8,9% é a </a:t>
            </a:r>
            <a:r>
              <a:rPr dirty="0" err="1"/>
              <a:t>fatia</a:t>
            </a:r>
            <a:r>
              <a:rPr dirty="0"/>
              <a:t> das conversas </a:t>
            </a:r>
            <a:r>
              <a:rPr dirty="0" err="1"/>
              <a:t>ligadas</a:t>
            </a:r>
            <a:r>
              <a:rPr dirty="0"/>
              <a:t> a </a:t>
            </a:r>
            <a:r>
              <a:rPr dirty="0" err="1"/>
              <a:t>tarefas</a:t>
            </a:r>
            <a:r>
              <a:rPr dirty="0"/>
              <a:t> de </a:t>
            </a:r>
            <a:r>
              <a:rPr dirty="0" err="1"/>
              <a:t>apoio</a:t>
            </a:r>
            <a:r>
              <a:rPr dirty="0"/>
              <a:t> </a:t>
            </a:r>
            <a:r>
              <a:rPr dirty="0" err="1"/>
              <a:t>administrativo</a:t>
            </a:r>
            <a:r>
              <a:rPr dirty="0"/>
              <a:t> </a:t>
            </a:r>
            <a:r>
              <a:rPr dirty="0" err="1"/>
              <a:t>sobre</a:t>
            </a:r>
            <a:r>
              <a:rPr dirty="0"/>
              <a:t> </a:t>
            </a:r>
            <a:r>
              <a:rPr dirty="0" err="1"/>
              <a:t>todas</a:t>
            </a:r>
            <a:r>
              <a:rPr dirty="0"/>
              <a:t> as conversas </a:t>
            </a:r>
            <a:r>
              <a:rPr dirty="0" err="1"/>
              <a:t>associadas</a:t>
            </a:r>
            <a:r>
              <a:rPr dirty="0"/>
              <a:t> a </a:t>
            </a:r>
            <a:r>
              <a:rPr dirty="0" err="1"/>
              <a:t>tarefas</a:t>
            </a:r>
            <a:r>
              <a:rPr dirty="0"/>
              <a:t>, inclusive </a:t>
            </a:r>
            <a:r>
              <a:rPr dirty="0" err="1"/>
              <a:t>pessoais</a:t>
            </a:r>
            <a:r>
              <a:rPr dirty="0"/>
              <a:t> e de </a:t>
            </a:r>
            <a:r>
              <a:rPr dirty="0" err="1"/>
              <a:t>estudo</a:t>
            </a:r>
            <a:r>
              <a:rPr dirty="0"/>
              <a:t>. A Microsoft </a:t>
            </a:r>
            <a:r>
              <a:rPr dirty="0" err="1"/>
              <a:t>vende</a:t>
            </a:r>
            <a:r>
              <a:rPr dirty="0"/>
              <a:t> ferramentas de IA; </a:t>
            </a:r>
            <a:r>
              <a:rPr dirty="0" err="1"/>
              <a:t>trate</a:t>
            </a:r>
            <a:r>
              <a:rPr dirty="0"/>
              <a:t> o dado dela </a:t>
            </a:r>
            <a:r>
              <a:rPr dirty="0" err="1"/>
              <a:t>como</a:t>
            </a:r>
            <a:r>
              <a:rPr dirty="0"/>
              <a:t> </a:t>
            </a:r>
            <a:r>
              <a:rPr dirty="0" err="1"/>
              <a:t>pesquisa</a:t>
            </a:r>
            <a:r>
              <a:rPr dirty="0"/>
              <a:t> de </a:t>
            </a:r>
            <a:r>
              <a:rPr dirty="0" err="1"/>
              <a:t>opinião</a:t>
            </a:r>
            <a:r>
              <a:rPr dirty="0"/>
              <a:t>.</a:t>
            </a:r>
          </a:p>
          <a:p>
            <a:endParaRPr dirty="0"/>
          </a:p>
          <a:p>
            <a:r>
              <a:rPr dirty="0"/>
              <a:t>Fontes: </a:t>
            </a:r>
          </a:p>
          <a:p>
            <a:r>
              <a:rPr dirty="0"/>
              <a:t>https://www.weforum.org/publications/the-future-of-jobs-report-2025/in-full/2-jobs-outlook/</a:t>
            </a:r>
          </a:p>
          <a:p>
            <a:r>
              <a:rPr dirty="0"/>
              <a:t>https://www.gartner.com/en/newsroom/press-releases/2025-08-26-gartner-predicts-40-percent-of-enterprise-apps-will-feature-task-specific-ai-agents-by-2026-up-from-less-than-5-percent-in-2025</a:t>
            </a:r>
          </a:p>
          <a:p>
            <a:r>
              <a:rPr dirty="0"/>
              <a:t>https://www.anthropic.com/research/economic-index-june-2026-report</a:t>
            </a:r>
          </a:p>
          <a:p>
            <a:r>
              <a:rPr dirty="0"/>
              <a:t>https://www.ilo.org/publications/generative-ai-and-jobs-refined-global-index-occupational-exposure</a:t>
            </a:r>
          </a:p>
          <a:p>
            <a:r>
              <a:rPr dirty="0"/>
              <a:t>https://brasil.un.org/pt-br/294685-oit-um-em-cada-quatro-empregos-corre-o-risco-de-ser-transformado-pela-ia-generativa</a:t>
            </a:r>
          </a:p>
          <a:p>
            <a:r>
              <a:rPr dirty="0"/>
              <a:t>https://blogdoibre.fgv.br/posts/inteligencia-artificial-e-mercado-de-trabalho-0</a:t>
            </a:r>
          </a:p>
          <a:p>
            <a:r>
              <a:rPr dirty="0"/>
              <a:t>https://www.bls.gov/ooh/office-and-administrative-support/secretaries-and-administrative-assistants.htm</a:t>
            </a:r>
          </a:p>
          <a:p>
            <a:r>
              <a:rPr dirty="0"/>
              <a:t>https://www.microsoft.com/en-us/worklab/work-trend-index/agents-human-agency-and-the-opportunity-for-every-organization</a:t>
            </a:r>
          </a:p>
          <a:p>
            <a:r>
              <a:rPr dirty="0"/>
              <a:t>https://www.anthropic.com/economic-index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14:30–16:30 | Conceitos fundamentais</a:t>
            </a:r>
          </a:p>
          <a:p>
            <a:r>
              <a:t>IA é o campo amplo. Aprendizado de máquina aprende padrões em dados. Deep learning usa redes neurais com várias camadas. IA generativa produz conteúdo. Exemplo prático: prever despesas é uma aplicação preditiva; redigir o resumo dessas despesas é uma aplicação generativa. O diagrama é didático, não uma taxonomia exaustiva.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07:00–09:00 | Linha do tempo — conte como uma história, sem ler as datas.</a:t>
            </a:r>
          </a:p>
          <a:p>
            <a:r>
              <a:t>"Tudo começa em 2017, com um artigo do Google chamado 'Attention Is All You Need', que criou a arquitetura Transformer — o 'T' do GPT.</a:t>
            </a:r>
          </a:p>
          <a:p>
            <a:r>
              <a:t>Em 2020, o GPT-3 mostrou que, com escala, um modelo escreve como gente. Mas foi em novembro de 2022 que o mundo percebeu: o ChatGPT foi lançado no dia 30 e, cinco dias depois, o Sam Altman anunciou que tinha passado de 1 milhão de usuários.</a:t>
            </a:r>
          </a:p>
          <a:p>
            <a:r>
              <a:t>2023 foi a corrida dos modelos: GPT-4, Claude, Gemini.</a:t>
            </a:r>
          </a:p>
          <a:p>
            <a:r>
              <a:t>2024 foi o ano em que a IA passou a ver, ouvir e agir: o GPT-4o conversa por voz em tempo real, o Claude aprendeu a usar o computador, e surgiu o MCP, o 'conector universal'.</a:t>
            </a:r>
          </a:p>
          <a:p>
            <a:r>
              <a:t>2025 foi chamado de 'o ano dos agentes': o Claude Code passou a programar sozinho (fevereiro), o ChatGPT ganhou um modo agente (julho) e a OpenAI lançou o GPT-5 (agosto).</a:t>
            </a:r>
          </a:p>
          <a:p>
            <a:r>
              <a:t>E 2026 é o ano em que os agentes chegam ao escritório de quem não programa, o ano da cobrança por resultado — e o ano em que os próprios líderes da IA passaram a pedir freio. Esse debate aparece nas fontes da linha do tempo.</a:t>
            </a:r>
          </a:p>
          <a:p>
            <a:r>
              <a:t>Um detalhe importante: as fases não se substituem, elas se acumulam. O chatbot virou infraestrutura para mais de 1 bilhão de pessoas, enquanto o valor nas empresas migra para os agentes.</a:t>
            </a:r>
          </a:p>
          <a:p>
            <a:r>
              <a:t>Resumo em quatro palavras: responder, conversar, ver e ouvir, agir."</a:t>
            </a:r>
          </a:p>
          <a:p>
            <a:r>
              <a:t>Fechamento da linha do tempo (o balão da coluna 2026): "Para fechar a linha do tempo, uma data bem recente: em 29 de setembro, o governo dos EUA passou a chamar a IA de 'Super Intelligence', superinteligência, nos documentos oficiais." (O slide da superinteligência saiu em 12/10; as fontes seguem no slide 23. O próximo slide é “O que é um agente de IA?”.)</a:t>
            </a:r>
          </a:p>
          <a:p>
            <a:r>
              <a:t>Dica: confira se houve lançamentos relevantes entre hoje e o evento.</a:t>
            </a:r>
          </a:p>
          <a:p>
            <a:endParaRPr/>
          </a:p>
          <a:p>
            <a:r>
              <a:t>Fontes: </a:t>
            </a:r>
          </a:p>
          <a:p>
            <a:r>
              <a:t>https://arxiv.org/abs/1706.03762</a:t>
            </a:r>
          </a:p>
          <a:p>
            <a:r>
              <a:t>https://arxiv.org/abs/2005.14165</a:t>
            </a:r>
          </a:p>
          <a:p>
            <a:r>
              <a:t>https://openai.com/index/chatgpt/</a:t>
            </a:r>
          </a:p>
          <a:p>
            <a:r>
              <a:t>https://openai.com/index/gpt-4-research/</a:t>
            </a:r>
          </a:p>
          <a:p>
            <a:r>
              <a:t>https://www.anthropic.com/news/introducing-claude</a:t>
            </a:r>
          </a:p>
          <a:p>
            <a:r>
              <a:t>https://blog.google/technology/ai/google-gemini-ai/</a:t>
            </a:r>
          </a:p>
          <a:p>
            <a:r>
              <a:t>https://www.europarl.europa.eu/news/en/press-room/20231206IPR15699/artificial-intelligence-act-deal-on-comprehensive-rules-for-trustworthy-ai</a:t>
            </a:r>
          </a:p>
          <a:p>
            <a:r>
              <a:t>https://openai.com/index/hello-gpt-4o/</a:t>
            </a:r>
          </a:p>
          <a:p>
            <a:r>
              <a:t>https://www.anthropic.com/news/3-5-models-and-computer-use</a:t>
            </a:r>
          </a:p>
          <a:p>
            <a:r>
              <a:t>https://www.anthropic.com/news/model-context-protocol</a:t>
            </a:r>
          </a:p>
          <a:p>
            <a:r>
              <a:t>https://www.anthropic.com/news/claude-3-7-sonnet</a:t>
            </a:r>
          </a:p>
          <a:p>
            <a:r>
              <a:t>https://openai.com/index/introducing-chatgpt-agent/</a:t>
            </a:r>
          </a:p>
          <a:p>
            <a:r>
              <a:t>https://openai.com/index/introducing-gpt-5/</a:t>
            </a:r>
          </a:p>
          <a:p>
            <a:r>
              <a:t>https://openai.com/index/hugging-face-model-evaluation-security-incident/</a:t>
            </a:r>
          </a:p>
          <a:p>
            <a:r>
              <a:t>https://darioamodei.com/post/we-must-pace-the-frontier</a:t>
            </a:r>
          </a:p>
          <a:p>
            <a:r>
              <a:t>https://www.whitehouse.gov/presidential-actions/2026/09/inaugurating-the-era-of-super-intelligence/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Um agente de IA usa um modelo para conduzir uma tarefa em etapas, escolher ferramentas e ajustar o que faz com base nos resultados. Ele recebe um objetivo, usa o contexto disponível e observa o retorno das ferramentas. Pode pedir esclarecimentos, interromper a execução ou devolver o controle à pessoa quando encontra um limite.</a:t>
            </a:r>
          </a:p>
          <a:p>
            <a:endParaRPr/>
          </a:p>
          <a:p>
            <a:r>
              <a:t>O diferencial é a capacidade de conduzir e executar etapas, além de gerar uma resposta. A interface pode continuar sendo uma conversa: um chatbot pode incluir ferramentas e comportamento de agente. O nome do produto ou a aparência de chat, por si só, não define essa capacidade. O fluxo no slide é uma simplificação didática. Nem toda tarefa segue uma sequência fixa, e a autonomia varia conforme a implementação.</a:t>
            </a:r>
          </a:p>
          <a:p>
            <a:endParaRPr/>
          </a:p>
          <a:p>
            <a:r>
              <a:t>No exemplo, com acesso autorizado ao calendário, o agente consulta a disponibilidade, propõe um novo horário e prepara os convites. O profissional confere participantes, horário e conteúdo e confirma antes do envio. Se houver conflito, o agente apresenta alternativas. A regra de aprovação deste exemplo é uma escolha de controle para a rotina, não uma promessa de que todos os produtos adotam o mesmo procedimento. Permissões técnicas e controles do sistema devem sustentar os limites informados.</a:t>
            </a:r>
          </a:p>
          <a:p>
            <a:endParaRPr/>
          </a:p>
          <a:p>
            <a:r>
              <a:t>Fontes primárias consultadas em 7 de outubro de 2026:</a:t>
            </a:r>
          </a:p>
          <a:p>
            <a:r>
              <a:t>Anthropic. Building effective agents. Seções “What are agents?”, “Agents” e “Appendix 1: Agents in practice”. https://www.anthropic.com/engineering/building-effective-agents</a:t>
            </a:r>
          </a:p>
          <a:p>
            <a:r>
              <a:t>OpenAI. A practical guide to building agents. Páginas 4, 7, 9 e 31: definição, modelo/ferramentas/instruções, tipos de ferramentas e intervenção humana. https://cdn.openai.com/business-guides-and-resources/a-practical-guide-to-building-agents.pdf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20:00–23:00 | Anatomia e extensões O diagrama mostra um modelo didático de composição, não uma arquitetura obrigatória de todos os fornecedores. Agente: objetivo, critério de sucesso, modelo, contexto e controle de execução. O modelo participa da escolha; a aplicação liga chamadas, retornos, estado e encerramento. Para uso corporativo responsável, acrescentar limites, observabilidade e possibilidade de intervenção humana. Plugin: forma de empacotar capacidades que depende da plataforma. Pode reunir funções, conexões e skills. Não é necessário para todo agente. Algumas ferramentas são ligadas diretamente. Conector: integração com outro serviço. Pode dar apenas leitura ou também ações de escrita; verificar a conta e o escopo. Ferramenta é a operação concreta, como consultar agenda ou criar convite. Skill: procedimento especializado com instruções e, dependendo do formato, recursos e scripts. Ela ensina como fazer uma tarefa. Não concede acesso nem autorização por si só. MCP: protocolo que pode organizar a conexão entre aplicação e servidor de ferramentas. Não é o modelo e não é sinônimo de conector ou plugin. O protocolo não torna confiável uma integração por mágica. Contexto é o que está disponível na decisão atual. Estado registra o que aconteceu operacionalmente, por exemplo convite ainda não enviado. Memória guarda informações para uso posterior. RAG recupera informação externa para a geração. Memória persistente, RAG, MCP, navegador e múltiplos agentes são opcionais conforme o caso. Salvar preferência não significa retreinar os pesos do modelo. Exemplo: o conector consulta a agenda, a skill orienta os critérios, o modelo escolhe o passo e a política permite ou bloqueia o convite. Fontes: https://cdn.openai.com/business-guides-and-resources/a-practical-guide-to-building-agents.pdf ; https://learn.microsoft.com/semantic-kernel/concepts/plugins ; https://modelcontextprotocol.io/docs/2026-07-28/learn/architecture ; https://www.anthropic.com/engineering/equipping-agents-for-the-real-world-with-agent-skills ; https://www.anthropic.com/engineering/effective-context-engineering-for-ai-agents ; https://github.com/google/adk-docs/blob/main/docs/sessions/index.md ; https://arxiv.org/abs/2005.11401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fontAlgn="base"/>
            <a:br>
              <a:rPr lang="pt-BR" dirty="0"/>
            </a:br>
            <a:r>
              <a:rPr lang="en-US" sz="1200" b="1" i="0" kern="1200" dirty="0">
                <a:effectLst/>
              </a:rPr>
              <a:t>Prompt é </a:t>
            </a:r>
            <a:r>
              <a:rPr lang="en-US" sz="1200" b="1" i="0" kern="1200" dirty="0" err="1">
                <a:effectLst/>
              </a:rPr>
              <a:t>diferente</a:t>
            </a:r>
            <a:r>
              <a:rPr lang="en-US" sz="1200" b="1" i="0" kern="1200" dirty="0">
                <a:effectLst/>
              </a:rPr>
              <a:t> de </a:t>
            </a:r>
            <a:r>
              <a:rPr lang="en-US" sz="1200" b="1" i="0" kern="1200" dirty="0" err="1">
                <a:effectLst/>
              </a:rPr>
              <a:t>delegar</a:t>
            </a:r>
            <a:endParaRPr lang="en-US" sz="1200" b="1" i="0" kern="1200" dirty="0">
              <a:effectLst/>
            </a:endParaRPr>
          </a:p>
          <a:p>
            <a:pPr fontAlgn="base"/>
            <a:r>
              <a:rPr lang="en-US" sz="1200" b="0" i="0" kern="1200" dirty="0">
                <a:effectLst/>
              </a:rPr>
              <a:t>A </a:t>
            </a:r>
            <a:r>
              <a:rPr lang="en-US" sz="1200" b="0" i="0" kern="1200" dirty="0" err="1">
                <a:effectLst/>
              </a:rPr>
              <a:t>maioria</a:t>
            </a:r>
            <a:r>
              <a:rPr lang="en-US" sz="1200" b="0" i="0" kern="1200" dirty="0">
                <a:effectLst/>
              </a:rPr>
              <a:t> das </a:t>
            </a:r>
            <a:r>
              <a:rPr lang="en-US" sz="1200" b="0" i="0" kern="1200" dirty="0" err="1">
                <a:effectLst/>
              </a:rPr>
              <a:t>pessoas</a:t>
            </a:r>
            <a:r>
              <a:rPr lang="en-US" sz="1200" b="0" i="0" kern="1200" dirty="0">
                <a:effectLst/>
              </a:rPr>
              <a:t> </a:t>
            </a:r>
            <a:r>
              <a:rPr lang="en-US" sz="1200" b="0" i="0" kern="1200" dirty="0" err="1">
                <a:effectLst/>
              </a:rPr>
              <a:t>usa</a:t>
            </a:r>
            <a:r>
              <a:rPr lang="en-US" sz="1200" b="0" i="0" kern="1200" dirty="0">
                <a:effectLst/>
              </a:rPr>
              <a:t> IA no modo prompt: </a:t>
            </a:r>
            <a:r>
              <a:rPr lang="en-US" sz="1200" b="0" i="0" kern="1200" dirty="0" err="1">
                <a:effectLst/>
              </a:rPr>
              <a:t>abre</a:t>
            </a:r>
            <a:r>
              <a:rPr lang="en-US" sz="1200" b="0" i="0" kern="1200" dirty="0">
                <a:effectLst/>
              </a:rPr>
              <a:t> o chat, </a:t>
            </a:r>
            <a:r>
              <a:rPr lang="en-US" sz="1200" b="0" i="0" kern="1200" dirty="0" err="1">
                <a:effectLst/>
              </a:rPr>
              <a:t>pede</a:t>
            </a:r>
            <a:r>
              <a:rPr lang="en-US" sz="1200" b="0" i="0" kern="1200" dirty="0">
                <a:effectLst/>
              </a:rPr>
              <a:t>, </a:t>
            </a:r>
            <a:r>
              <a:rPr lang="en-US" sz="1200" b="0" i="0" kern="1200" dirty="0" err="1">
                <a:effectLst/>
              </a:rPr>
              <a:t>recebe</a:t>
            </a:r>
            <a:r>
              <a:rPr lang="en-US" sz="1200" b="0" i="0" kern="1200" dirty="0">
                <a:effectLst/>
              </a:rPr>
              <a:t>, </a:t>
            </a:r>
            <a:r>
              <a:rPr lang="en-US" sz="1200" b="0" i="0" kern="1200" dirty="0" err="1">
                <a:effectLst/>
              </a:rPr>
              <a:t>copia</a:t>
            </a:r>
            <a:r>
              <a:rPr lang="en-US" sz="1200" b="0" i="0" kern="1200" dirty="0">
                <a:effectLst/>
              </a:rPr>
              <a:t> e cola. </a:t>
            </a:r>
            <a:r>
              <a:rPr lang="en-US" sz="1200" b="0" i="0" kern="1200" dirty="0" err="1">
                <a:effectLst/>
              </a:rPr>
              <a:t>Funciona</a:t>
            </a:r>
            <a:r>
              <a:rPr lang="en-US" sz="1200" b="0" i="0" kern="1200" dirty="0">
                <a:effectLst/>
              </a:rPr>
              <a:t>, mas </a:t>
            </a:r>
            <a:r>
              <a:rPr lang="en-US" sz="1200" b="0" i="0" kern="1200" dirty="0" err="1">
                <a:effectLst/>
              </a:rPr>
              <a:t>tem</a:t>
            </a:r>
            <a:r>
              <a:rPr lang="en-US" sz="1200" b="0" i="0" kern="1200" dirty="0">
                <a:effectLst/>
              </a:rPr>
              <a:t> um </a:t>
            </a:r>
            <a:r>
              <a:rPr lang="en-US" sz="1200" b="0" i="0" kern="1200" dirty="0" err="1">
                <a:effectLst/>
              </a:rPr>
              <a:t>detalhe</a:t>
            </a:r>
            <a:r>
              <a:rPr lang="en-US" sz="1200" b="0" i="0" kern="1200" dirty="0">
                <a:effectLst/>
              </a:rPr>
              <a:t>. Toda </a:t>
            </a:r>
            <a:r>
              <a:rPr lang="en-US" sz="1200" b="0" i="0" kern="1200" dirty="0" err="1">
                <a:effectLst/>
              </a:rPr>
              <a:t>vez</a:t>
            </a:r>
            <a:r>
              <a:rPr lang="en-US" sz="1200" b="0" i="0" kern="1200" dirty="0">
                <a:effectLst/>
              </a:rPr>
              <a:t> quem </a:t>
            </a:r>
            <a:r>
              <a:rPr lang="en-US" sz="1200" b="0" i="0" kern="1200" dirty="0" err="1">
                <a:effectLst/>
              </a:rPr>
              <a:t>lembra</a:t>
            </a:r>
            <a:r>
              <a:rPr lang="en-US" sz="1200" b="0" i="0" kern="1200" dirty="0">
                <a:effectLst/>
              </a:rPr>
              <a:t>, quem </a:t>
            </a:r>
            <a:r>
              <a:rPr lang="en-US" sz="1200" b="0" i="0" kern="1200" dirty="0" err="1">
                <a:effectLst/>
              </a:rPr>
              <a:t>começa</a:t>
            </a:r>
            <a:r>
              <a:rPr lang="en-US" sz="1200" b="0" i="0" kern="1200" dirty="0">
                <a:effectLst/>
              </a:rPr>
              <a:t> e quem cobra é </a:t>
            </a:r>
            <a:r>
              <a:rPr lang="en-US" sz="1200" b="0" i="0" kern="1200" dirty="0" err="1">
                <a:effectLst/>
              </a:rPr>
              <a:t>você</a:t>
            </a:r>
            <a:r>
              <a:rPr lang="en-US" sz="1200" b="0" i="0" kern="1200" dirty="0">
                <a:effectLst/>
              </a:rPr>
              <a:t>.</a:t>
            </a:r>
          </a:p>
          <a:p>
            <a:pPr fontAlgn="base"/>
            <a:r>
              <a:rPr lang="en-US" sz="1200" b="0" i="0" kern="1200" dirty="0" err="1">
                <a:effectLst/>
              </a:rPr>
              <a:t>Delegar</a:t>
            </a:r>
            <a:r>
              <a:rPr lang="en-US" sz="1200" b="0" i="0" kern="1200" dirty="0">
                <a:effectLst/>
              </a:rPr>
              <a:t> é </a:t>
            </a:r>
            <a:r>
              <a:rPr lang="en-US" sz="1200" b="0" i="0" kern="1200" dirty="0" err="1">
                <a:effectLst/>
              </a:rPr>
              <a:t>outra</a:t>
            </a:r>
            <a:r>
              <a:rPr lang="en-US" sz="1200" b="0" i="0" kern="1200" dirty="0">
                <a:effectLst/>
              </a:rPr>
              <a:t> </a:t>
            </a:r>
            <a:r>
              <a:rPr lang="en-US" sz="1200" b="0" i="0" kern="1200" dirty="0" err="1">
                <a:effectLst/>
              </a:rPr>
              <a:t>coisa</a:t>
            </a:r>
            <a:r>
              <a:rPr lang="en-US" sz="1200" b="0" i="0" kern="1200" dirty="0">
                <a:effectLst/>
              </a:rPr>
              <a:t>. É </a:t>
            </a:r>
            <a:r>
              <a:rPr lang="en-US" sz="1200" b="0" i="0" kern="1200" dirty="0" err="1">
                <a:effectLst/>
              </a:rPr>
              <a:t>entregar</a:t>
            </a:r>
            <a:r>
              <a:rPr lang="en-US" sz="1200" b="0" i="0" kern="1200" dirty="0">
                <a:effectLst/>
              </a:rPr>
              <a:t> </a:t>
            </a:r>
            <a:r>
              <a:rPr lang="en-US" sz="1200" b="0" i="0" kern="1200" dirty="0" err="1">
                <a:effectLst/>
              </a:rPr>
              <a:t>uma</a:t>
            </a:r>
            <a:r>
              <a:rPr lang="en-US" sz="1200" b="0" i="0" kern="1200" dirty="0">
                <a:effectLst/>
              </a:rPr>
              <a:t> </a:t>
            </a:r>
            <a:r>
              <a:rPr lang="en-US" sz="1200" b="0" i="0" kern="1200" dirty="0" err="1">
                <a:effectLst/>
              </a:rPr>
              <a:t>rotina</a:t>
            </a:r>
            <a:r>
              <a:rPr lang="en-US" sz="1200" b="0" i="0" kern="1200" dirty="0">
                <a:effectLst/>
              </a:rPr>
              <a:t> </a:t>
            </a:r>
            <a:r>
              <a:rPr lang="en-US" sz="1200" b="0" i="0" kern="1200" dirty="0" err="1">
                <a:effectLst/>
              </a:rPr>
              <a:t>inteira</a:t>
            </a:r>
            <a:r>
              <a:rPr lang="en-US" sz="1200" b="0" i="0" kern="1200" dirty="0">
                <a:effectLst/>
              </a:rPr>
              <a:t> para um </a:t>
            </a:r>
            <a:r>
              <a:rPr lang="en-US" sz="1200" b="0" i="0" kern="1200" dirty="0" err="1">
                <a:effectLst/>
              </a:rPr>
              <a:t>agente</a:t>
            </a:r>
            <a:r>
              <a:rPr lang="en-US" sz="1200" b="0" i="0" kern="1200" dirty="0">
                <a:effectLst/>
              </a:rPr>
              <a:t>: </a:t>
            </a:r>
            <a:r>
              <a:rPr lang="en-US" sz="1200" b="0" i="0" kern="1200" dirty="0" err="1">
                <a:effectLst/>
              </a:rPr>
              <a:t>ele</a:t>
            </a:r>
            <a:r>
              <a:rPr lang="en-US" sz="1200" b="0" i="0" kern="1200" dirty="0">
                <a:effectLst/>
              </a:rPr>
              <a:t> sabe </a:t>
            </a:r>
            <a:r>
              <a:rPr lang="en-US" sz="1200" b="0" i="0" kern="1200" dirty="0" err="1">
                <a:effectLst/>
              </a:rPr>
              <a:t>quando</a:t>
            </a:r>
            <a:r>
              <a:rPr lang="en-US" sz="1200" b="0" i="0" kern="1200" dirty="0">
                <a:effectLst/>
              </a:rPr>
              <a:t> </a:t>
            </a:r>
            <a:r>
              <a:rPr lang="en-US" sz="1200" b="0" i="0" kern="1200" dirty="0" err="1">
                <a:effectLst/>
              </a:rPr>
              <a:t>começar</a:t>
            </a:r>
            <a:r>
              <a:rPr lang="en-US" sz="1200" b="0" i="0" kern="1200" dirty="0">
                <a:effectLst/>
              </a:rPr>
              <a:t>, o </a:t>
            </a:r>
            <a:r>
              <a:rPr lang="en-US" sz="1200" b="0" i="0" kern="1200" dirty="0" err="1">
                <a:effectLst/>
              </a:rPr>
              <a:t>que</a:t>
            </a:r>
            <a:r>
              <a:rPr lang="en-US" sz="1200" b="0" i="0" kern="1200" dirty="0">
                <a:effectLst/>
              </a:rPr>
              <a:t> </a:t>
            </a:r>
            <a:r>
              <a:rPr lang="en-US" sz="1200" b="0" i="0" kern="1200" dirty="0" err="1">
                <a:effectLst/>
              </a:rPr>
              <a:t>buscar</a:t>
            </a:r>
            <a:r>
              <a:rPr lang="en-US" sz="1200" b="0" i="0" kern="1200" dirty="0">
                <a:effectLst/>
              </a:rPr>
              <a:t>, o </a:t>
            </a:r>
            <a:r>
              <a:rPr lang="en-US" sz="1200" b="0" i="0" kern="1200" dirty="0" err="1">
                <a:effectLst/>
              </a:rPr>
              <a:t>que</a:t>
            </a:r>
            <a:r>
              <a:rPr lang="en-US" sz="1200" b="0" i="0" kern="1200" dirty="0">
                <a:effectLst/>
              </a:rPr>
              <a:t> </a:t>
            </a:r>
            <a:r>
              <a:rPr lang="en-US" sz="1200" b="0" i="0" kern="1200" dirty="0" err="1">
                <a:effectLst/>
              </a:rPr>
              <a:t>entregar</a:t>
            </a:r>
            <a:r>
              <a:rPr lang="en-US" sz="1200" b="0" i="0" kern="1200" dirty="0">
                <a:effectLst/>
              </a:rPr>
              <a:t> e </a:t>
            </a:r>
            <a:r>
              <a:rPr lang="en-US" sz="1200" b="0" i="0" kern="1200" dirty="0" err="1">
                <a:effectLst/>
              </a:rPr>
              <a:t>onde</a:t>
            </a:r>
            <a:r>
              <a:rPr lang="en-US" sz="1200" b="0" i="0" kern="1200" dirty="0">
                <a:effectLst/>
              </a:rPr>
              <a:t> </a:t>
            </a:r>
            <a:r>
              <a:rPr lang="en-US" sz="1200" b="0" i="0" kern="1200" dirty="0" err="1">
                <a:effectLst/>
              </a:rPr>
              <a:t>precisa</a:t>
            </a:r>
            <a:r>
              <a:rPr lang="en-US" sz="1200" b="0" i="0" kern="1200" dirty="0">
                <a:effectLst/>
              </a:rPr>
              <a:t> </a:t>
            </a:r>
            <a:r>
              <a:rPr lang="en-US" sz="1200" b="0" i="0" kern="1200" dirty="0" err="1">
                <a:effectLst/>
              </a:rPr>
              <a:t>parar</a:t>
            </a:r>
            <a:r>
              <a:rPr lang="en-US" sz="1200" b="0" i="0" kern="1200" dirty="0">
                <a:effectLst/>
              </a:rPr>
              <a:t> e me chamar.</a:t>
            </a:r>
          </a:p>
          <a:p>
            <a:pPr fontAlgn="base"/>
            <a:r>
              <a:rPr lang="en-US" sz="1200" b="0" i="0" kern="1200" dirty="0">
                <a:effectLst/>
              </a:rPr>
              <a:t>A </a:t>
            </a:r>
            <a:r>
              <a:rPr lang="en-US" sz="1200" b="0" i="0" kern="1200" dirty="0" err="1">
                <a:effectLst/>
              </a:rPr>
              <a:t>pergunta</a:t>
            </a:r>
            <a:r>
              <a:rPr lang="en-US" sz="1200" b="0" i="0" kern="1200" dirty="0">
                <a:effectLst/>
              </a:rPr>
              <a:t> </a:t>
            </a:r>
            <a:r>
              <a:rPr lang="en-US" sz="1200" b="0" i="0" kern="1200" dirty="0" err="1">
                <a:effectLst/>
              </a:rPr>
              <a:t>que</a:t>
            </a:r>
            <a:r>
              <a:rPr lang="en-US" sz="1200" b="0" i="0" kern="1200" dirty="0">
                <a:effectLst/>
              </a:rPr>
              <a:t> </a:t>
            </a:r>
            <a:r>
              <a:rPr lang="en-US" sz="1200" b="0" i="0" kern="1200" dirty="0" err="1">
                <a:effectLst/>
              </a:rPr>
              <a:t>mudou</a:t>
            </a:r>
            <a:r>
              <a:rPr lang="en-US" sz="1200" b="0" i="0" kern="1200" dirty="0">
                <a:effectLst/>
              </a:rPr>
              <a:t> meu </a:t>
            </a:r>
            <a:r>
              <a:rPr lang="en-US" sz="1200" b="0" i="0" kern="1200" dirty="0" err="1">
                <a:effectLst/>
              </a:rPr>
              <a:t>jeito</a:t>
            </a:r>
            <a:r>
              <a:rPr lang="en-US" sz="1200" b="0" i="0" kern="1200" dirty="0">
                <a:effectLst/>
              </a:rPr>
              <a:t> de </a:t>
            </a:r>
            <a:r>
              <a:rPr lang="en-US" sz="1200" b="0" i="0" kern="1200" dirty="0" err="1">
                <a:effectLst/>
              </a:rPr>
              <a:t>trabalhar</a:t>
            </a:r>
            <a:r>
              <a:rPr lang="en-US" sz="1200" b="0" i="0" kern="1200" dirty="0">
                <a:effectLst/>
              </a:rPr>
              <a:t> </a:t>
            </a:r>
            <a:r>
              <a:rPr lang="en-US" sz="1200" b="0" i="0" kern="1200" dirty="0" err="1">
                <a:effectLst/>
              </a:rPr>
              <a:t>foi</a:t>
            </a:r>
            <a:r>
              <a:rPr lang="en-US" sz="1200" b="0" i="0" kern="1200" dirty="0">
                <a:effectLst/>
              </a:rPr>
              <a:t> simples: </a:t>
            </a:r>
            <a:r>
              <a:rPr lang="en-US" sz="1200" b="1" i="0" kern="1200" dirty="0">
                <a:effectLst/>
              </a:rPr>
              <a:t>qual </a:t>
            </a:r>
            <a:r>
              <a:rPr lang="en-US" sz="1200" b="1" i="0" kern="1200" dirty="0" err="1">
                <a:effectLst/>
              </a:rPr>
              <a:t>trabalho</a:t>
            </a:r>
            <a:r>
              <a:rPr lang="en-US" sz="1200" b="1" i="0" kern="1200" dirty="0">
                <a:effectLst/>
              </a:rPr>
              <a:t> </a:t>
            </a:r>
            <a:r>
              <a:rPr lang="en-US" sz="1200" b="1" i="0" kern="1200" dirty="0" err="1">
                <a:effectLst/>
              </a:rPr>
              <a:t>eu</a:t>
            </a:r>
            <a:r>
              <a:rPr lang="en-US" sz="1200" b="1" i="0" kern="1200" dirty="0">
                <a:effectLst/>
              </a:rPr>
              <a:t> </a:t>
            </a:r>
            <a:r>
              <a:rPr lang="en-US" sz="1200" b="1" i="0" kern="1200" dirty="0" err="1">
                <a:effectLst/>
              </a:rPr>
              <a:t>faço</a:t>
            </a:r>
            <a:r>
              <a:rPr lang="en-US" sz="1200" b="1" i="0" kern="1200" dirty="0">
                <a:effectLst/>
              </a:rPr>
              <a:t> </a:t>
            </a:r>
            <a:r>
              <a:rPr lang="en-US" sz="1200" b="1" i="0" kern="1200" dirty="0" err="1">
                <a:effectLst/>
              </a:rPr>
              <a:t>toda</a:t>
            </a:r>
            <a:r>
              <a:rPr lang="en-US" sz="1200" b="1" i="0" kern="1200" dirty="0">
                <a:effectLst/>
              </a:rPr>
              <a:t> </a:t>
            </a:r>
            <a:r>
              <a:rPr lang="en-US" sz="1200" b="1" i="0" kern="1200" dirty="0" err="1">
                <a:effectLst/>
              </a:rPr>
              <a:t>semana</a:t>
            </a:r>
            <a:r>
              <a:rPr lang="en-US" sz="1200" b="1" i="0" kern="1200" dirty="0">
                <a:effectLst/>
              </a:rPr>
              <a:t> do </a:t>
            </a:r>
            <a:r>
              <a:rPr lang="en-US" sz="1200" b="1" i="0" kern="1200" dirty="0" err="1">
                <a:effectLst/>
              </a:rPr>
              <a:t>mesmo</a:t>
            </a:r>
            <a:r>
              <a:rPr lang="en-US" sz="1200" b="1" i="0" kern="1200" dirty="0">
                <a:effectLst/>
              </a:rPr>
              <a:t> </a:t>
            </a:r>
            <a:r>
              <a:rPr lang="en-US" sz="1200" b="1" i="0" kern="1200" dirty="0" err="1">
                <a:effectLst/>
              </a:rPr>
              <a:t>jeito</a:t>
            </a:r>
            <a:r>
              <a:rPr lang="en-US" sz="1200" b="1" i="0" kern="1200" dirty="0">
                <a:effectLst/>
              </a:rPr>
              <a:t>?</a:t>
            </a:r>
            <a:r>
              <a:rPr lang="en-US" sz="1200" b="0" i="0" kern="1200" dirty="0">
                <a:effectLst/>
              </a:rPr>
              <a:t> Esse é o </a:t>
            </a:r>
            <a:r>
              <a:rPr lang="en-US" sz="1200" b="0" i="0" kern="1200" dirty="0" err="1">
                <a:effectLst/>
              </a:rPr>
              <a:t>primeiro</a:t>
            </a:r>
            <a:r>
              <a:rPr lang="en-US" sz="1200" b="0" i="0" kern="1200" dirty="0">
                <a:effectLst/>
              </a:rPr>
              <a:t> </a:t>
            </a:r>
            <a:r>
              <a:rPr lang="en-US" sz="1200" b="0" i="0" kern="1200" dirty="0" err="1">
                <a:effectLst/>
              </a:rPr>
              <a:t>candidato</a:t>
            </a:r>
            <a:r>
              <a:rPr lang="en-US" sz="1200" b="0" i="0" kern="1200" dirty="0">
                <a:effectLst/>
              </a:rPr>
              <a:t> a </a:t>
            </a:r>
            <a:r>
              <a:rPr lang="en-US" sz="1200" b="0" i="0" kern="1200" dirty="0" err="1">
                <a:effectLst/>
              </a:rPr>
              <a:t>sair</a:t>
            </a:r>
            <a:r>
              <a:rPr lang="en-US" sz="1200" b="0" i="0" kern="1200" dirty="0">
                <a:effectLst/>
              </a:rPr>
              <a:t> da </a:t>
            </a:r>
            <a:r>
              <a:rPr lang="en-US" sz="1200" b="0" i="0" kern="1200" dirty="0" err="1">
                <a:effectLst/>
              </a:rPr>
              <a:t>minha</a:t>
            </a:r>
            <a:r>
              <a:rPr lang="en-US" sz="1200" b="0" i="0" kern="1200" dirty="0">
                <a:effectLst/>
              </a:rPr>
              <a:t> </a:t>
            </a:r>
            <a:r>
              <a:rPr lang="en-US" sz="1200" b="0" i="0" kern="1200" dirty="0" err="1">
                <a:effectLst/>
              </a:rPr>
              <a:t>mão</a:t>
            </a:r>
            <a:r>
              <a:rPr lang="en-US" sz="1200" b="0" i="0" kern="1200" dirty="0">
                <a:effectLst/>
              </a:rPr>
              <a:t>.</a:t>
            </a:r>
          </a:p>
          <a:p>
            <a:br>
              <a:rPr lang="pt-BR" dirty="0"/>
            </a:br>
            <a:r>
              <a:rPr lang="pt-BR" dirty="0"/>
              <a:t>≈1:30 | Agentes de trabalho: Claude Cowork, ChatGPT Work e Copilot Cowork. O tempo deste slide é compensado pela saída do slide da superinteligência (12/10).</a:t>
            </a:r>
          </a:p>
          <a:p>
            <a:endParaRPr lang="pt-BR" dirty="0"/>
          </a:p>
          <a:p>
            <a:r>
              <a:rPr lang="pt-BR" dirty="0"/>
              <a:t>Objetivo: mostrar a mesma ideia em três lugares diferentes e fazer a plateia imaginar uma tarefa da própria rotina sendo delegada. Sem ranking e sem recomendação de compra.</a:t>
            </a:r>
          </a:p>
          <a:p>
            <a:endParaRPr lang="pt-BR" dirty="0"/>
          </a:p>
          <a:p>
            <a:r>
              <a:rPr lang="pt-BR" dirty="0"/>
              <a:t>Fala sugerida (60–90 segundos): “Claude Cowork, ChatGPT Work e Copilot Cowork seguem a mesma ideia: em vez de pedir uma resposta, você descreve o resultado. O agente planeja as etapas, usa os arquivos e aplicativos que você liberar e entrega relatório, planilha ou rascunhos. Por exemplo: ‘resuma os e-mails a responder, redija respostas e deixe sem enviar’. Os três trabalham com arquivos, e-mail e agenda; os cartões trazem só exemplos. O que muda é onde cada um vive. O Claude Cowork fica no app do Claude, nos planos pagos; no Pro e no Max, está entrando na conversa, aos poucos, e pode nem aparecer como opção separada. O ChatGPT Work é a opção Work, ao lado do Chat. E o Copilot Cowork fica no Microsoft 365 da empresa: depende da licença do Copilot, e quem liga é a TI. Nos três, você decide o que o agente faz sozinho e o que precisa da sua aprovação. Só que o ChatGPT, por padrão, faz sozinho o que é de baixo risco; para aprovar tudo, ajuste as permissões. Meu conselho: comecem com rascunhos, confiram a entrega e aprovem cada envio. No próximo slide: seis assistentes de IA, da conversa à execução de tarefas.”</a:t>
            </a:r>
          </a:p>
          <a:p>
            <a:endParaRPr lang="pt-BR" dirty="0"/>
          </a:p>
          <a:p>
            <a:r>
              <a:rPr lang="pt-BR" dirty="0"/>
              <a:t>Dica: pergunte quem usa Microsoft 365 no trabalho. Para essas pessoas, o primeiro passo é perguntar à TI se o Copilot Cowork está liberado. Se sobrar tempo, ligue à linha do tempo do slide 9, que mostra “ChatGPT agent (jul)” em 2025: “O ChatGPT Work é o sucessor do modo agente que vimos na linha do tempo.”</a:t>
            </a:r>
          </a:p>
          <a:p>
            <a:endParaRPr lang="pt-BR" dirty="0"/>
          </a:p>
          <a:p>
            <a:r>
              <a:rPr lang="pt-BR" dirty="0"/>
              <a:t>CONTROLE HUMANO: use a frase segura “você define o que o agente faz sozinho e o que precisa da sua aprovação”. Os padrões não são iguais. Claude Cowork: o padrão é o modo Manual, que pede aprovação antes de agir; o modo Auto segue sozinho, com checagem de segurança. ChatGPT Work: cada app vem em “Allow low-risk actions”, ou seja, ele faz sozinho o que é de baixo risco; para aprovar tudo, deixe o app em “Always ask”. Para a plateia, diga isso em português, sem ler o rótulo em inglês. Copilot Cowork: antes de ações sensíveis (enviar e-mail, postar no Teams, marcar reunião, alterar arquivos), mostra uma prévia e pede aprovação. Não diga que os três “sempre pedem aprovação”. Em tarefas agendadas, peça rascunhos para revisão: a Anthropic desaconselha agendar envio automático de mensagens.</a:t>
            </a:r>
          </a:p>
          <a:p>
            <a:endParaRPr lang="pt-BR" dirty="0"/>
          </a:p>
          <a:p>
            <a:r>
              <a:rPr lang="pt-BR" dirty="0"/>
              <a:t>CLAUDE COWORK (Anthropic). Datas: prévia de pesquisa em 12/01/2026 (Mac, plano Max); Pro em 16/01; Team e Enterprise em 23/01; Windows em 10/02; disponível para todos os planos pagos em 09/04/2026, no macOS e no Windows; web e celular desde 07/07/2026; desde 06/10/2026, as novas tarefas no Pro e no Max rodam na nuvem da Anthropic. Em 16/09/2026, a Anthropic anunciou “Claude Cowork and chat are now one Claude”: no Pro e no Max, não há mais a opção separada “Cowork” e qualquer conversa pode virar tarefa (implantação gradual, na web, no computador e no celular; a tela pode variar de uma conta para outra). Team e Enterprise continuam com Chat e Cowork separados (no Enterprise, a versão unificada está em beta opcional). Onde: app Claude Desktop (macOS 11+ e Windows 10+); web (claude.ai) e celular no Pro e no Max (Team em beta; Enterprise se o admin ligar). Arquivos do computador, navegador integrado e uso do computador exigem o app de computador aberto. O que faz: planeja e executa em etapas, mostrando cada passo, e você pode corrigir o rumo; lê, organiza e cria arquivos só nas pastas autorizadas; usa apps conectados (Gmail, Google Agenda, Google Drive, Microsoft 365 — e-mail e calendário do Outlook, OneDrive, SharePoint, Teams —, Slack, Zoom); navegador integrado ou extensão Claude in Chrome; entrega Word, Excel (com fórmulas) e PowerPoint; tarefas agendadas (de hora em hora, diária, semanal, dias úteis); projetos com memória; plugins e skills. Quem pode usar: só planos pagos (Pro, Max, Team e Enterprise); não está no Free. No Team e no Enterprise, o admin liga ou desliga o Cowork (vem ligado). Aprovação: o modo Manual (padrão) pede aprovação antes de agir; o modo Auto segue sozinho, com checagem de segurança; sempre pede antes de apagar arquivos de vez; no Gmail, enviar, responder e encaminhar pedem aprovação por padrão. Brasil: país atendido (a lista oficial cita o Cowork pelo nome); interface em português (Brasil) na web e no desktop; ajuda em português. Exemplo do cartão: adaptado do exemplo oficial “Process receipts: drop receipts in a folder and ask Claude to create a formatted expense report”; o nome da pasta (Viagem) é ilustrativo. Não confundir com Claude Code (programação), Claude in Chrome (extensão), complementos do Claude para Microsoft 365 nem com o Copilot Cowork (produto da Microsoft que usa a tecnologia do Claude Cowork).</a:t>
            </a:r>
          </a:p>
          <a:p>
            <a:endParaRPr lang="pt-BR" dirty="0"/>
          </a:p>
          <a:p>
            <a:r>
              <a:rPr lang="pt-BR" dirty="0"/>
              <a:t>CHATGPT WORK (OpenAI). Datas: lançado em 09/07/2026, com liberação gradual; disponível, não é beta. Substituiu o ChatGPT agent, o modo agente de jul/2025 que aparece na linha do tempo do slide 9: “ChatGPT agent is no longer available. Use ChatGPT Work for longer, multi-step tasks and finished deliverables.” Nome: “ChatGPT Work”, com W maiúsculo; no app, “Work” aparece ao lado de “Chat”, no seletor do topo (os materiais oficiais em pt-BR mantêm “ChatGPT Work”; a ajuda traduzida automaticamente usa “Trabalho” no título). Onde: web (chatgpt.com), celular (iOS e Android) e o novo app ChatGPT para computador (Mac e Windows; Linux em prévia); o app antigo “ChatGPT Classic” não tem o Work. Quem pode usar: todos os planos no app de computador (macOS e Windows); na web e no celular, Plus, Pro, Business, Enterprise e Edu; Free e Go: “Limited (desktop app)”. No Business, no Enterprise e no Edu, o admin liga ou desliga o Work por papel; no Enterprise e no Edu, os plugins vêm desligados. O que faz: tarefas longas, em várias etapas, com entrega pronta (documento, planilha, apresentação, relatório ou site); usa seus arquivos e apps conectados por plugins (mais de 1.400, como Outlook Email, Outlook Calendar, Teams, SharePoint, Gmail, Google Calendar, Google Drive, Slack e Zoom); Plan mode (você aprova o plano antes de começar); dá para acompanhar o progresso, responder perguntas, mudar a direção e aprovar ações importantes; tarefas agendadas e disparadas por evento (só Gmail, Slack e GitHub disparam; com o Outlook, use horário fixo); no app de computador, arquivos e apps locais com sua permissão, navegador embutido e uso do computador; voz. Aprovação: permissão por app — “Always ask”, “Allow read actions”, “Allow low-risk actions” (o padrão, se você não mudar nada) e “Allow all actions”. Em português simples: por padrão, ele faz sozinho o que é de baixo risco. Enviar e-mail, mensagem ou convite, editar ou apagar arquivos e fazer compras podem pedir confirmação; para nada sair sem você aprovar, deixe o app em “Always ask”. O navegador na nuvem pergunta antes de abrir site novo; tarefas em sites com login só no Plus e no Pro, sempre com confirmação antes de reservar ou pagar. Dados: nos planos pessoais (Free, Go, Plus, Pro), o conteúdo pode ser usado para treinar os modelos, salvo se você desligar “Improve the model for everyone”; Business, Enterprise e Edu não treinam por padrão. Brasil: disponível (“Work is available in all supported regions”), interface em português e página oficial em pt-BR. Exemplo do cartão: adaptado do exemplo oficial “Respostas de e-mail” (“Encontre os e-mails que preciso responder. Resuma cada um, redija respostas e deixe tudo sem enviar para revisão.”). Não confundir com o Chat (conversa rápida), o dots (agentes “sempre ligados”, lançados em 29/09/2026, que aparecem no próximo slide), o Codex (programação), os workspace agents e o ChatGPT agent (descontinuado).</a:t>
            </a:r>
          </a:p>
          <a:p>
            <a:endParaRPr lang="pt-BR" dirty="0"/>
          </a:p>
          <a:p>
            <a:r>
              <a:rPr lang="pt-BR" dirty="0"/>
              <a:t>COPILOT COWORK (Microsoft). Datas: anunciado em 09/03/2026 como prévia de pesquisa com poucos clientes, feito “working closely with Anthropic” e com “the technology behind Claude Cowork”; programa Frontier em 30/03/2026; celular em 05/05/2026; disponível no mundo todo em 16/06/2026 para clientes Microsoft 365 Copilot; tarefas por evento e navegador local (Edge) em ago/2026; em 25/09/2026, a Microsoft anunciou a “Home”, que junta Chat e Cowork numa tela; a implantação começa pelo programa Frontier (a tela pode mudar). Nome: “Copilot Cowork”, também escrito “Microsoft Copilot Cowork” e “Microsoft 365 Copilot Cowork”; em ago–set/2026, o “Microsoft 365 Copilot” passou a se chamar “Microsoft Copilot”, e as duas grafias convivem. Onde: navegador (copilot.cloud.microsoft, antes m365.cloud.microsoft), app Microsoft Copilot para Windows e macOS e celular (iOS e Android). Algumas páginas citam Outlook e Teams, mas a visão geral não: não prometa o Cowork dentro do Outlook ou do Teams. Não acessa arquivos locais do computador: trabalha com arquivos no OneDrive e no SharePoint. O que faz: planeja e executa em segundo plano (de minutos a horas); redige e envia e-mails (após aprovação), organiza a caixa, marca reuniões com link do Teams, resolve conflitos de agenda, prepara o contexto das reuniões e um briefing diário; cria e edita Word, Excel, PowerPoint e PDF no OneDrive e no SharePoint; publica no Teams; até 25 automações agendadas, além de automações por evento (e-mail recebido, mensagem ou @menção no Teams); tarefas em sites pelo Edge (desligado por padrão; a TI libera). Roda na nuvem da Microsoft: as tarefas continuam com o notebook desligado, exceto as do navegador local. Quem pode usar: exige a licença paga Microsoft 365 Copilot mais o consumo cobrado em Copilot Credits; o Copilot Chat gratuito não dá acesso; o E7 inclui a licença do Copilot. Contas pessoais: em prévia (Microsoft 365 Premium ou Pro). Educação: só docentes e funcionários, não estudantes. Vem desligado (“Cowork is off by default”): a TI precisa ativar a cobrança por consumo e incluir os usuários numa política de gastos. Aprovação: antes de ações sensíveis (enviar e-mail, postar no Teams, marcar reunião, alterar arquivos), mostra uma prévia e pede aprovação; tem indicador de risco; dá para pausar ou cancelar. Auditoria e conformidade pelo Microsoft Purview. Brasil: disponível, com residência de dados no Brasil; os modelos da Anthropic vêm ligados por padrão no Brasil. Português: não confirmado (ver ATENÇÃO). Exemplo do cartão: montado com recursos citados pela Microsoft (propor como resolver conflitos de agenda e preparar um briefing diário); não é o briefing pré-reunião da demonstração com o Claude. Não confundir com o Copilot Chat (respostas rápidas; a versão gratuita não tem Cowork), os agentes Researcher e Analyst, o Copilot Studio (para construir agentes), o Agent 365 (controle de agentes para a TI), o Copilot dentro do Word ou do Excel (um app só) nem com o Claude Cowork (produto separado, da Anthropic).</a:t>
            </a:r>
          </a:p>
          <a:p>
            <a:endParaRPr lang="pt-BR" dirty="0"/>
          </a:p>
          <a:p>
            <a:r>
              <a:rPr lang="pt-BR" dirty="0"/>
              <a:t>ATENÇÃO:</a:t>
            </a:r>
          </a:p>
          <a:p>
            <a:r>
              <a:rPr lang="pt-BR" dirty="0"/>
              <a:t>– Telas variam por conta e por data. No Claude Pro e Max, o Cowork está virando parte do chat (implantação gradual) e pode não aparecer como opção separada; no Team e no Enterprise, Chat e Cowork seguem separados. No ChatGPT, procure “Work” ao lado de “Chat” (o app antigo “ChatGPT Classic” não tem o Work). Na Microsoft, a “Home”, que junta Chat e Cowork numa tela, começa a chegar pelo programa Frontier. Se for mostrar alguma tela, ensaie na conta que vai usar no dia 17.</a:t>
            </a:r>
          </a:p>
          <a:p>
            <a:r>
              <a:rPr lang="pt-BR" dirty="0"/>
              <a:t>– Copilot Cowork vem desligado e depende da TI: licença Microsoft 365 Copilot, cobrança por consumo ativada e usuário incluído numa política de gastos. Quem tem só o Copilot Chat gratuito não tem acesso. Não diga que quem tem Copilot já tem o Cowork.</a:t>
            </a:r>
          </a:p>
          <a:p>
            <a:r>
              <a:rPr lang="pt-BR" dirty="0"/>
              <a:t>– Copilot Cowork: não prometa o Cowork dentro do Outlook ou do Teams (algumas páginas citam, mas a visão geral não) nem acesso a arquivos do computador (ele trabalha com arquivos no OneDrive e no SharePoint).</a:t>
            </a:r>
          </a:p>
          <a:p>
            <a:r>
              <a:rPr lang="pt-BR" dirty="0"/>
              <a:t>– Português no Copilot Cowork: não confirmado. O Microsoft Copilot suporta português, mas o Application card diz “Cowork is optimized for English”. Não prometa; teste antes.</a:t>
            </a:r>
          </a:p>
          <a:p>
            <a:r>
              <a:rPr lang="pt-BR" dirty="0"/>
              <a:t>– ChatGPT: o padrão por app é “Allow low-risk actions”, ou seja, ele faz sozinho o que é de baixo risco. Para nada sair sem aprovação, mude para “Always ask”. Os rótulos citados são os da ajuda oficial, em inglês; confira como aparecem na conta que você vai usar.</a:t>
            </a:r>
          </a:p>
          <a:p>
            <a:r>
              <a:rPr lang="pt-BR" dirty="0"/>
              <a:t>– Envio automático: a Anthropic desaconselha agendar envio automático de mensagens. E-mails e sites podem trazer instruções escondidas (prompt injection) que tentam desviar o agente; mais um motivo para aprovar cada envio.</a:t>
            </a:r>
          </a:p>
          <a:p>
            <a:r>
              <a:rPr lang="pt-BR" dirty="0"/>
              <a:t>– Consumo: o Cowork gasta o limite de uso do Claude mais rápido que o chat; o Copilot Cowork consome Copilot Credits, além da licença.</a:t>
            </a:r>
          </a:p>
          <a:p>
            <a:r>
              <a:rPr lang="pt-BR" dirty="0"/>
              <a:t>– Nomes, planos e preços mudam. Confira de novo na véspera (16/10).</a:t>
            </a:r>
          </a:p>
          <a:p>
            <a:r>
              <a:rPr lang="pt-BR" dirty="0"/>
              <a:t>– Sem ranking e sem recomendação de compra. A ordem dos cartões não é classificação, e os exemplos não indicam especialidade: os três trabalham com arquivos, e-mail e agenda conectados.</a:t>
            </a:r>
          </a:p>
          <a:p>
            <a:r>
              <a:rPr lang="pt-BR" dirty="0"/>
              <a:t>– Marcas pertencem aos respectivos titulares. Cartões sem logo: as regras da Microsoft proíbem logos e ícones da Microsoft em seminários sem licença, então os três ficam iguais, só com o nome.</a:t>
            </a:r>
          </a:p>
          <a:p>
            <a:endParaRPr lang="pt-BR" dirty="0"/>
          </a:p>
          <a:p>
            <a:r>
              <a:rPr lang="pt-BR" dirty="0"/>
              <a:t>PARA PERGUNTAS:</a:t>
            </a:r>
          </a:p>
          <a:p>
            <a:r>
              <a:rPr lang="pt-BR" dirty="0"/>
              <a:t>– Preços (US$ por mês, consulta em 12/10/2026). Claude: Pro US$ 17 no plano anual ou US$ 20 no mensal; Max a partir de US$ 100; Team e Enterprise na página de preços; não está no Free; preço em reais não confirmado.</a:t>
            </a:r>
          </a:p>
          <a:p>
            <a:r>
              <a:rPr lang="pt-BR" dirty="0"/>
              <a:t>– ChatGPT: Plus US$ 20; Pro US$ 100, 200 ou 500; Business US$ 25 por usuário no mensal ou US$ 20 no anual; Enterprise sob consulta; preço em reais não confirmado.</a:t>
            </a:r>
          </a:p>
          <a:p>
            <a:r>
              <a:rPr lang="pt-BR" dirty="0"/>
              <a:t>– Copilot Cowork: licença Microsoft 365 Copilot de US$ 30 por usuário/mês no anual; no Brasil, R$ 171,80 por usuário/mês no anual ou R$ 180,39 no pagamento mensal com compromisso anual (sem impostos); mais o consumo em Copilot Credits (US$ 0,01 por crédito). O E7 inclui a licença do Copilot.</a:t>
            </a:r>
          </a:p>
          <a:p>
            <a:r>
              <a:rPr lang="pt-BR" dirty="0"/>
              <a:t>– “O que mais dá para pedir?” Exemplos e recursos oficiais. Claude: resumo diário de e-mails ou eventos da agenda das últimas 24 horas (tarefa agendada); organizar pastas por tipo e data; criar apresentações a partir de notas ou transcrições; extrair itens de ação de anotações de reunião (útil para a ata); achar horário comum no Google Agenda e criar reunião recorrente. ChatGPT: “Transforme meu calendário, mensagens e documentos em um resumo semanal com prioridades, riscos, decisões e acompanhamentos.”; “Monte uma lista de participantes com base nesses líderes, redija os convites, crie um rastreador e sinalize tudo o que precisar de revisão manual.” Copilot: organizar a caixa de entrada, marcar reuniões com link do Teams, preparar o contexto das reuniões e criar ou editar Word, Excel, PowerPoint e PDF no OneDrive e no SharePoint.</a:t>
            </a:r>
          </a:p>
          <a:p>
            <a:r>
              <a:rPr lang="pt-BR" dirty="0"/>
              <a:t>– “Dá para agendar?” Os três têm tarefas agendadas. Claude: de hora em hora, diária, semanal ou em dias úteis. ChatGPT: também por evento, mas só Gmail, Slack e GitHub disparam (com Outlook, use horário fixo). Copilot: automações agendadas (até 25) e por evento (e-mail recebido, mensagem ou @menção no Teams). Para mensagens, agende rascunhos, não envios.</a:t>
            </a:r>
          </a:p>
          <a:p>
            <a:r>
              <a:rPr lang="pt-BR" dirty="0"/>
              <a:t>– “O Copilot Cowork é o Claude dentro da Microsoft?” É um produto da Microsoft, feito “working closely with Anthropic” e com “the technology behind Claude Cowork”; no Brasil, os modelos da Anthropic vêm ligados por padrão. Funciona no Microsoft 365, com licença, cobrança e controles da Microsoft. O Claude Cowork é outro produto, da Anthropic.</a:t>
            </a:r>
          </a:p>
          <a:p>
            <a:r>
              <a:rPr lang="pt-BR" dirty="0"/>
              <a:t>– “Já temos Copilot. É a mesma coisa?” Não necessariamente. O Copilot Chat (gratuito) dá respostas rápidas e não inclui o Cowork. O Copilot dentro do Word ou do Excel trabalha em um app só. O Cowork executa tarefas de várias etapas em segundo plano e precisa da licença paga e da liberação da TI. Researcher e Analyst são outros agentes; o Copilot Studio serve para construir agentes; o Agent 365 é o controle de agentes para a TI.</a:t>
            </a:r>
          </a:p>
          <a:p>
            <a:r>
              <a:rPr lang="pt-BR" dirty="0"/>
              <a:t>– “E o controle da empresa?” Claude: no Team e no Enterprise, o admin liga ou desliga o Cowork. ChatGPT: no Business, Enterprise e Edu, o admin liga ou desliga o Work por papel. Microsoft: a TI ativa o Cowork; auditoria e conformidade pelo Microsoft Purview; residência de dados no Brasil.</a:t>
            </a:r>
          </a:p>
          <a:p>
            <a:r>
              <a:rPr lang="pt-BR" dirty="0"/>
              <a:t>– “E o dots, do próximo slide?” São os agentes “sempre ligados” da OpenAI, lançados em 29/09/2026. O ChatGPT Work é o modo de tarefas longas do ChatGPT e substituiu o ChatGPT agent.</a:t>
            </a:r>
          </a:p>
          <a:p>
            <a:r>
              <a:rPr lang="pt-BR" dirty="0"/>
              <a:t>– “O Claude está na galeria do próximo slide?” Não: desde 12/10 a galeria tem seis assistentes, sem Instinct, Gemini Spark, Claude e Perplexity Computer. O Claude aparece neste slide (Cowork) e nas demos; no Pro e no Max, Cowork e chat estão virando um só, aos poucos; no Team e no Enterprise, seguem separados.</a:t>
            </a:r>
          </a:p>
          <a:p>
            <a:r>
              <a:rPr lang="pt-BR" dirty="0"/>
              <a:t>– “Claude Code e Codex?” São ferramentas de programação, fora do tema de hoje.</a:t>
            </a:r>
          </a:p>
          <a:p>
            <a:r>
              <a:rPr lang="pt-BR" dirty="0"/>
              <a:t>– “Meus dados treinam a IA?” No ChatGPT, os planos pessoais (Free, Go, Plus, Pro) podem ser usados para treinar, salvo se você desligar “Improve the model for everyone”; Business, Enterprise e Edu não treinam por padrão. Para Claude e Copilot, consulte a política do plano contratado.</a:t>
            </a:r>
          </a:p>
          <a:p>
            <a:r>
              <a:rPr lang="pt-BR" dirty="0"/>
              <a:t>– “Funciona em português?” Claude: interface em português (Brasil) na web e no desktop, e ajuda em português. ChatGPT: interface em português e página oficial em pt-BR. Copilot Cowork: não confirmado (“Cowork is optimized for English”); teste antes.</a:t>
            </a:r>
          </a:p>
          <a:p>
            <a:r>
              <a:rPr lang="pt-BR" dirty="0"/>
              <a:t>– “Continua trabalhando com o notebook desligado?” Copilot Cowork: sim, roda na nuvem da Microsoft, exceto as tarefas do navegador local. Claude: desde 06/10/2026, as novas tarefas no Pro e no Max rodam na nuvem da Anthropic, mas arquivos do computador, navegador integrado e uso do computador exigem o app de computador aberto. ChatGPT: não verificado nesta pesquisa; não afirme.</a:t>
            </a:r>
          </a:p>
          <a:p>
            <a:endParaRPr lang="pt-BR" dirty="0"/>
          </a:p>
          <a:p>
            <a:r>
              <a:rPr lang="pt-BR" dirty="0"/>
              <a:t>Fontes (consulta em 12/10/2026):</a:t>
            </a:r>
          </a:p>
          <a:p>
            <a:r>
              <a:rPr lang="pt-BR" dirty="0"/>
              <a:t>Anthropic — Claude Cowork (produto): https://claude.com/product/cowork</a:t>
            </a:r>
          </a:p>
          <a:p>
            <a:r>
              <a:rPr lang="pt-BR" dirty="0"/>
              <a:t>Anthropic — Claude Cowork e chat são um único Claude (ajuda em português): https://support.claude.com/pt/articles/16761823-claude-cowork-e-chat-sao-um-unico-claude</a:t>
            </a:r>
          </a:p>
          <a:p>
            <a:r>
              <a:rPr lang="pt-BR" dirty="0"/>
              <a:t>Anthropic — Cowork for Enterprise (disponibilidade geral): https://claude.com/resources/articles/cowork-for-enterprise</a:t>
            </a:r>
          </a:p>
          <a:p>
            <a:r>
              <a:rPr lang="pt-BR" dirty="0"/>
              <a:t>Anthropic — Cowork is now Claude (fusão com o chat): https://claude.com/resources/articles/cowork-is-now-claude</a:t>
            </a:r>
          </a:p>
          <a:p>
            <a:r>
              <a:rPr lang="pt-BR" dirty="0"/>
              <a:t>Anthropic — Get started with Claude Cowork: https://support.claude.com/en/articles/13345190-get-started-with-claude-cowork</a:t>
            </a:r>
          </a:p>
          <a:p>
            <a:r>
              <a:rPr lang="pt-BR" dirty="0"/>
              <a:t>Anthropic — Release notes: https://support.claude.com/en/articles/12138966-release-notes</a:t>
            </a:r>
          </a:p>
          <a:p>
            <a:r>
              <a:rPr lang="pt-BR" dirty="0"/>
              <a:t>Anthropic — Países atendidos: https://www.anthropic.com/supported-countries</a:t>
            </a:r>
          </a:p>
          <a:p>
            <a:r>
              <a:rPr lang="pt-BR" dirty="0"/>
              <a:t>Anthropic — Preços: https://claude.com/pricing</a:t>
            </a:r>
          </a:p>
          <a:p>
            <a:r>
              <a:rPr lang="pt-BR" dirty="0"/>
              <a:t>OpenAI — ChatGPT Work (página em pt-BR): https://chatgpt.com/pt-BR/work/</a:t>
            </a:r>
          </a:p>
          <a:p>
            <a:r>
              <a:rPr lang="pt-BR" dirty="0"/>
              <a:t>OpenAI — Lançamento do ChatGPT Work (pt-BR): https://openai.com/pt-BR/index/chatgpt-for-your-most-ambitious-work/</a:t>
            </a:r>
          </a:p>
          <a:p>
            <a:r>
              <a:rPr lang="pt-BR" dirty="0"/>
              <a:t>OpenAI — ChatGPT Work and Codex (ajuda): https://help.openai.com/en/articles/20001275-chatgpt-work-and-codex</a:t>
            </a:r>
          </a:p>
          <a:p>
            <a:r>
              <a:rPr lang="pt-BR" dirty="0"/>
              <a:t>OpenAI — Get started with Work: https://learn.chatgpt.com/docs/get-started-with-work</a:t>
            </a:r>
          </a:p>
          <a:p>
            <a:r>
              <a:rPr lang="pt-BR" dirty="0"/>
              <a:t>OpenAI — Managing app permissions in ChatGPT: https://help.openai.com/en/articles/20001495-managing-app-permissions-in-chatgpt</a:t>
            </a:r>
          </a:p>
          <a:p>
            <a:r>
              <a:rPr lang="pt-BR" dirty="0"/>
              <a:t>OpenAI — Preços: https://chatgpt.com/pricing/</a:t>
            </a:r>
          </a:p>
          <a:p>
            <a:r>
              <a:rPr lang="pt-BR" dirty="0"/>
              <a:t>OpenAI — Notas de versão do ChatGPT: https://help.openai.com/en/articles/6825453-chatgpt-release-notes</a:t>
            </a:r>
          </a:p>
          <a:p>
            <a:r>
              <a:rPr lang="pt-BR" dirty="0"/>
              <a:t>Microsoft — Copilot Cowork, visão geral (pt-BR, tradução automática): https://learn.microsoft.com/pt-br/microsoft-365/copilot/cowork/</a:t>
            </a:r>
          </a:p>
          <a:p>
            <a:r>
              <a:rPr lang="pt-BR" dirty="0"/>
              <a:t>Microsoft — Copilot Cowork overview (en): https://learn.microsoft.com/en-us/microsoft-365/copilot/cowork/</a:t>
            </a:r>
          </a:p>
          <a:p>
            <a:r>
              <a:rPr lang="pt-BR" dirty="0"/>
              <a:t>Microsoft — Copilot Cowork is now generally available: https://www.microsoft.com/en-us/microsoft-365/blog/2026/06/16/copilot-cowork-is-now-generally-available/</a:t>
            </a:r>
          </a:p>
          <a:p>
            <a:r>
              <a:rPr lang="pt-BR" dirty="0"/>
              <a:t>Microsoft — Microsoft 365 Copilot, preços (pt-BR): https://www.microsoft.com/pt-br/microsoft-365-copilot/enterprise</a:t>
            </a:r>
          </a:p>
          <a:p>
            <a:r>
              <a:rPr lang="pt-BR" dirty="0"/>
              <a:t>Microsoft — Copilot Cowork FAQ: https://learn.microsoft.com/en-us/microsoft-365/copilot/cowork/cowork-faq</a:t>
            </a:r>
          </a:p>
          <a:p>
            <a:r>
              <a:rPr lang="pt-BR" dirty="0"/>
              <a:t>Microsoft — Use Copilot Cowork: https://learn.microsoft.com/en-us/microsoft-365/copilot/cowork/use-cowork</a:t>
            </a:r>
          </a:p>
          <a:p>
            <a:r>
              <a:rPr lang="pt-BR" dirty="0"/>
              <a:t>Microsoft — Anúncio com a Anthropic (09/03/2026): https://www.microsoft.com/en-us/microsoft-365/blog/2026/03/09/copilot-cowork-a-new-way-of-getting-work-done/</a:t>
            </a:r>
          </a:p>
          <a:p>
            <a:r>
              <a:rPr lang="pt-BR" dirty="0"/>
              <a:t>Microsoft — Novo Copilot com Home, Code e Autopilot (25/09/2026): https://blogs.microsoft.com/blog/2026/09/25/introducing-the-new-copilot-with-home-code-and-autopilot/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ASSISTENTES DE IA — REFERÊNCIAS EM 07/10/2026 (em 12/10 saíram do slide os cartões 6, 7, 8 e 9 — Instinct, Gemini Spark, Claude e Perplexity Computer; as referências deles ficam abaixo só para consulta)</a:t>
            </a:r>
          </a:p>
          <a:p>
            <a:endParaRPr dirty="0"/>
          </a:p>
          <a:p>
            <a:r>
              <a:t>Objetivo: mostrar seis referências, sem ranking e sem sugerir equivalência entre produtos ou disponibilidade idêntica.</a:t>
            </a:r>
          </a:p>
          <a:p>
            <a:endParaRPr dirty="0"/>
          </a:p>
          <a:p>
            <a:r>
              <a:rPr dirty="0"/>
              <a:t>Fala </a:t>
            </a:r>
            <a:r>
              <a:rPr dirty="0" err="1"/>
              <a:t>sugerida</a:t>
            </a:r>
            <a:r>
              <a:rPr dirty="0"/>
              <a:t> (60–90 </a:t>
            </a:r>
            <a:r>
              <a:rPr dirty="0" err="1"/>
              <a:t>segundos</a:t>
            </a:r>
            <a:r>
              <a:rPr dirty="0"/>
              <a:t>): “</a:t>
            </a:r>
            <a:r>
              <a:rPr dirty="0" err="1"/>
              <a:t>Estas</a:t>
            </a:r>
            <a:r>
              <a:rPr dirty="0"/>
              <a:t> ferramentas </a:t>
            </a:r>
            <a:r>
              <a:rPr dirty="0" err="1"/>
              <a:t>mostram</a:t>
            </a:r>
            <a:r>
              <a:rPr dirty="0"/>
              <a:t> a </a:t>
            </a:r>
            <a:r>
              <a:rPr dirty="0" err="1"/>
              <a:t>passagem</a:t>
            </a:r>
            <a:r>
              <a:rPr dirty="0"/>
              <a:t> da conversa para a </a:t>
            </a:r>
            <a:r>
              <a:rPr dirty="0" err="1"/>
              <a:t>execução</a:t>
            </a:r>
            <a:r>
              <a:rPr dirty="0"/>
              <a:t>. </a:t>
            </a:r>
            <a:r>
              <a:rPr dirty="0" err="1"/>
              <a:t>Algumas</a:t>
            </a:r>
            <a:r>
              <a:rPr dirty="0"/>
              <a:t> </a:t>
            </a:r>
            <a:r>
              <a:rPr dirty="0" err="1"/>
              <a:t>rodam</a:t>
            </a:r>
            <a:r>
              <a:rPr dirty="0"/>
              <a:t> </a:t>
            </a:r>
            <a:r>
              <a:rPr dirty="0" err="1"/>
              <a:t>em</a:t>
            </a:r>
            <a:r>
              <a:rPr dirty="0"/>
              <a:t> </a:t>
            </a:r>
            <a:r>
              <a:rPr dirty="0" err="1"/>
              <a:t>infraestrutura</a:t>
            </a:r>
            <a:r>
              <a:rPr dirty="0"/>
              <a:t> </a:t>
            </a:r>
            <a:r>
              <a:rPr dirty="0" err="1"/>
              <a:t>própria</a:t>
            </a:r>
            <a:r>
              <a:rPr dirty="0"/>
              <a:t>; </a:t>
            </a:r>
            <a:r>
              <a:rPr dirty="0" err="1"/>
              <a:t>outras</a:t>
            </a:r>
            <a:r>
              <a:rPr dirty="0"/>
              <a:t> </a:t>
            </a:r>
            <a:r>
              <a:rPr dirty="0" err="1"/>
              <a:t>funcionam</a:t>
            </a:r>
            <a:r>
              <a:rPr dirty="0"/>
              <a:t> </a:t>
            </a:r>
            <a:r>
              <a:rPr dirty="0" err="1"/>
              <a:t>como</a:t>
            </a:r>
            <a:r>
              <a:rPr dirty="0"/>
              <a:t> serviços e se </a:t>
            </a:r>
            <a:r>
              <a:rPr dirty="0" err="1"/>
              <a:t>conectam</a:t>
            </a:r>
            <a:r>
              <a:rPr dirty="0"/>
              <a:t> </a:t>
            </a:r>
            <a:r>
              <a:rPr dirty="0" err="1"/>
              <a:t>aos</a:t>
            </a:r>
            <a:r>
              <a:rPr dirty="0"/>
              <a:t> </a:t>
            </a:r>
            <a:r>
              <a:rPr dirty="0" err="1"/>
              <a:t>nossos</a:t>
            </a:r>
            <a:r>
              <a:rPr dirty="0"/>
              <a:t> </a:t>
            </a:r>
            <a:r>
              <a:rPr dirty="0" err="1"/>
              <a:t>aplicativos</a:t>
            </a:r>
            <a:r>
              <a:rPr dirty="0"/>
              <a:t>. O </a:t>
            </a:r>
            <a:r>
              <a:rPr dirty="0" err="1"/>
              <a:t>nome</a:t>
            </a:r>
            <a:r>
              <a:rPr dirty="0"/>
              <a:t> da </a:t>
            </a:r>
            <a:r>
              <a:rPr dirty="0" err="1"/>
              <a:t>marca</a:t>
            </a:r>
            <a:r>
              <a:rPr dirty="0"/>
              <a:t> </a:t>
            </a:r>
            <a:r>
              <a:rPr dirty="0" err="1"/>
              <a:t>não</a:t>
            </a:r>
            <a:r>
              <a:rPr dirty="0"/>
              <a:t> basta: </a:t>
            </a:r>
            <a:r>
              <a:rPr dirty="0" err="1"/>
              <a:t>precisamos</a:t>
            </a:r>
            <a:r>
              <a:rPr dirty="0"/>
              <a:t> </a:t>
            </a:r>
            <a:r>
              <a:rPr dirty="0" err="1"/>
              <a:t>conferir</a:t>
            </a:r>
            <a:r>
              <a:rPr dirty="0"/>
              <a:t> quais </a:t>
            </a:r>
            <a:r>
              <a:rPr dirty="0" err="1"/>
              <a:t>tarefas</a:t>
            </a:r>
            <a:r>
              <a:rPr dirty="0"/>
              <a:t> </a:t>
            </a:r>
            <a:r>
              <a:rPr dirty="0" err="1"/>
              <a:t>ela</a:t>
            </a:r>
            <a:r>
              <a:rPr dirty="0"/>
              <a:t> </a:t>
            </a:r>
            <a:r>
              <a:rPr dirty="0" err="1"/>
              <a:t>pode</a:t>
            </a:r>
            <a:r>
              <a:rPr dirty="0"/>
              <a:t> </a:t>
            </a:r>
            <a:r>
              <a:rPr dirty="0" err="1"/>
              <a:t>realizar</a:t>
            </a:r>
            <a:r>
              <a:rPr dirty="0"/>
              <a:t>, a quais dados </a:t>
            </a:r>
            <a:r>
              <a:rPr dirty="0" err="1"/>
              <a:t>terá</a:t>
            </a:r>
            <a:r>
              <a:rPr dirty="0"/>
              <a:t> </a:t>
            </a:r>
            <a:r>
              <a:rPr dirty="0" err="1"/>
              <a:t>acesso</a:t>
            </a:r>
            <a:r>
              <a:rPr dirty="0"/>
              <a:t> e </a:t>
            </a:r>
            <a:r>
              <a:rPr dirty="0" err="1"/>
              <a:t>quando</a:t>
            </a:r>
            <a:r>
              <a:rPr dirty="0"/>
              <a:t> </a:t>
            </a:r>
            <a:r>
              <a:rPr dirty="0" err="1"/>
              <a:t>deverá</a:t>
            </a:r>
            <a:r>
              <a:rPr dirty="0"/>
              <a:t> </a:t>
            </a:r>
            <a:r>
              <a:rPr dirty="0" err="1"/>
              <a:t>pedir</a:t>
            </a:r>
            <a:r>
              <a:rPr dirty="0"/>
              <a:t> </a:t>
            </a:r>
            <a:r>
              <a:rPr dirty="0" err="1"/>
              <a:t>aprovação</a:t>
            </a:r>
            <a:r>
              <a:rPr dirty="0"/>
              <a:t>.”</a:t>
            </a:r>
          </a:p>
          <a:p>
            <a:endParaRPr dirty="0"/>
          </a:p>
          <a:p>
            <a:r>
              <a:rPr dirty="0"/>
              <a:t>CONTROLE HUMANO: antes de usar dados </a:t>
            </a:r>
            <a:r>
              <a:rPr dirty="0" err="1"/>
              <a:t>profissionais</a:t>
            </a:r>
            <a:r>
              <a:rPr dirty="0"/>
              <a:t>, </a:t>
            </a:r>
            <a:r>
              <a:rPr dirty="0" err="1"/>
              <a:t>conferir</a:t>
            </a:r>
            <a:r>
              <a:rPr dirty="0"/>
              <a:t> as </a:t>
            </a:r>
            <a:r>
              <a:rPr dirty="0" err="1"/>
              <a:t>políticas</a:t>
            </a:r>
            <a:r>
              <a:rPr dirty="0"/>
              <a:t> da </a:t>
            </a:r>
            <a:r>
              <a:rPr dirty="0" err="1"/>
              <a:t>organização</a:t>
            </a:r>
            <a:r>
              <a:rPr dirty="0"/>
              <a:t>, </a:t>
            </a:r>
            <a:r>
              <a:rPr dirty="0" err="1"/>
              <a:t>permissões</a:t>
            </a:r>
            <a:r>
              <a:rPr dirty="0"/>
              <a:t>, </a:t>
            </a:r>
            <a:r>
              <a:rPr dirty="0" err="1"/>
              <a:t>região</a:t>
            </a:r>
            <a:r>
              <a:rPr dirty="0"/>
              <a:t>, plano e </a:t>
            </a:r>
            <a:r>
              <a:rPr dirty="0" err="1"/>
              <a:t>condições</a:t>
            </a:r>
            <a:r>
              <a:rPr dirty="0"/>
              <a:t> de </a:t>
            </a:r>
            <a:r>
              <a:rPr dirty="0" err="1"/>
              <a:t>uso</a:t>
            </a:r>
            <a:r>
              <a:rPr dirty="0"/>
              <a:t>. A </a:t>
            </a:r>
            <a:r>
              <a:rPr dirty="0" err="1"/>
              <a:t>presença</a:t>
            </a:r>
            <a:r>
              <a:rPr dirty="0"/>
              <a:t> de </a:t>
            </a:r>
            <a:r>
              <a:rPr dirty="0" err="1"/>
              <a:t>uma</a:t>
            </a:r>
            <a:r>
              <a:rPr dirty="0"/>
              <a:t> </a:t>
            </a:r>
            <a:r>
              <a:rPr dirty="0" err="1"/>
              <a:t>marca</a:t>
            </a:r>
            <a:r>
              <a:rPr dirty="0"/>
              <a:t> </a:t>
            </a:r>
            <a:r>
              <a:rPr dirty="0" err="1"/>
              <a:t>não</a:t>
            </a:r>
            <a:r>
              <a:rPr dirty="0"/>
              <a:t> </a:t>
            </a:r>
            <a:r>
              <a:rPr dirty="0" err="1"/>
              <a:t>representa</a:t>
            </a:r>
            <a:r>
              <a:rPr dirty="0"/>
              <a:t> </a:t>
            </a:r>
            <a:r>
              <a:rPr dirty="0" err="1"/>
              <a:t>recomendação</a:t>
            </a:r>
            <a:r>
              <a:rPr dirty="0"/>
              <a:t>, </a:t>
            </a:r>
            <a:r>
              <a:rPr dirty="0" err="1"/>
              <a:t>parceria</a:t>
            </a:r>
            <a:r>
              <a:rPr dirty="0"/>
              <a:t> </a:t>
            </a:r>
            <a:r>
              <a:rPr dirty="0" err="1"/>
              <a:t>ou</a:t>
            </a:r>
            <a:r>
              <a:rPr dirty="0"/>
              <a:t> </a:t>
            </a:r>
            <a:r>
              <a:rPr dirty="0" err="1"/>
              <a:t>patrocínio</a:t>
            </a:r>
            <a:r>
              <a:rPr dirty="0"/>
              <a:t>.</a:t>
            </a:r>
          </a:p>
          <a:p>
            <a:endParaRPr dirty="0"/>
          </a:p>
          <a:p>
            <a:r>
              <a:rPr dirty="0"/>
              <a:t>REFERÊNCIAS DOS PRODUTOS E VISUAIS:</a:t>
            </a:r>
          </a:p>
          <a:p>
            <a:endParaRPr dirty="0"/>
          </a:p>
          <a:p>
            <a:r>
              <a:rPr dirty="0"/>
              <a:t>1. OpenClaw — PROJETO OPEN SOURCE</a:t>
            </a:r>
          </a:p>
          <a:p>
            <a:endParaRPr dirty="0"/>
          </a:p>
          <a:p>
            <a:r>
              <a:rPr dirty="0" err="1"/>
              <a:t>Infraestrutura</a:t>
            </a:r>
            <a:r>
              <a:rPr dirty="0"/>
              <a:t> </a:t>
            </a:r>
            <a:r>
              <a:rPr dirty="0" err="1"/>
              <a:t>própria</a:t>
            </a:r>
            <a:r>
              <a:rPr dirty="0"/>
              <a:t> e </a:t>
            </a:r>
            <a:r>
              <a:rPr dirty="0" err="1"/>
              <a:t>atuação</a:t>
            </a:r>
            <a:r>
              <a:rPr dirty="0"/>
              <a:t> </a:t>
            </a:r>
            <a:r>
              <a:rPr dirty="0" err="1"/>
              <a:t>por</a:t>
            </a:r>
            <a:r>
              <a:rPr dirty="0"/>
              <a:t> </a:t>
            </a:r>
            <a:r>
              <a:rPr dirty="0" err="1"/>
              <a:t>canais</a:t>
            </a:r>
            <a:r>
              <a:rPr dirty="0"/>
              <a:t> de </a:t>
            </a:r>
            <a:r>
              <a:rPr dirty="0" err="1"/>
              <a:t>mensagens</a:t>
            </a:r>
            <a:r>
              <a:rPr dirty="0"/>
              <a:t>.</a:t>
            </a:r>
          </a:p>
          <a:p>
            <a:endParaRPr dirty="0"/>
          </a:p>
          <a:p>
            <a:r>
              <a:rPr dirty="0" err="1"/>
              <a:t>Produto</a:t>
            </a:r>
            <a:r>
              <a:rPr dirty="0"/>
              <a:t>: https://openclaw.ai/</a:t>
            </a:r>
          </a:p>
          <a:p>
            <a:endParaRPr dirty="0"/>
          </a:p>
          <a:p>
            <a:r>
              <a:rPr dirty="0" err="1"/>
              <a:t>Arquivo</a:t>
            </a:r>
            <a:r>
              <a:rPr dirty="0"/>
              <a:t> visual </a:t>
            </a:r>
            <a:r>
              <a:rPr dirty="0" err="1"/>
              <a:t>ou</a:t>
            </a:r>
            <a:r>
              <a:rPr dirty="0"/>
              <a:t> </a:t>
            </a:r>
            <a:r>
              <a:rPr dirty="0" err="1"/>
              <a:t>página</a:t>
            </a:r>
            <a:r>
              <a:rPr dirty="0"/>
              <a:t> </a:t>
            </a:r>
            <a:r>
              <a:rPr dirty="0" err="1"/>
              <a:t>oficial</a:t>
            </a:r>
            <a:r>
              <a:rPr dirty="0"/>
              <a:t> do </a:t>
            </a:r>
            <a:r>
              <a:rPr dirty="0" err="1"/>
              <a:t>ícone</a:t>
            </a:r>
            <a:r>
              <a:rPr dirty="0"/>
              <a:t>: https://openclaw.ai/favicon.svg</a:t>
            </a:r>
          </a:p>
          <a:p>
            <a:endParaRPr dirty="0"/>
          </a:p>
          <a:p>
            <a:r>
              <a:rPr dirty="0"/>
              <a:t>Neste slide: </a:t>
            </a:r>
            <a:r>
              <a:rPr dirty="0" err="1"/>
              <a:t>identificação</a:t>
            </a:r>
            <a:r>
              <a:rPr dirty="0"/>
              <a:t> textual </a:t>
            </a:r>
            <a:r>
              <a:rPr dirty="0" err="1"/>
              <a:t>editável</a:t>
            </a:r>
            <a:r>
              <a:rPr dirty="0"/>
              <a:t>, NÃO um </a:t>
            </a:r>
            <a:r>
              <a:rPr dirty="0" err="1"/>
              <a:t>logotipo</a:t>
            </a:r>
            <a:r>
              <a:rPr dirty="0"/>
              <a:t> </a:t>
            </a:r>
            <a:r>
              <a:rPr dirty="0" err="1"/>
              <a:t>oficial</a:t>
            </a:r>
            <a:r>
              <a:rPr dirty="0"/>
              <a:t>. </a:t>
            </a:r>
            <a:r>
              <a:rPr dirty="0" err="1"/>
              <a:t>Não</a:t>
            </a:r>
            <a:r>
              <a:rPr dirty="0"/>
              <a:t> </a:t>
            </a:r>
            <a:r>
              <a:rPr dirty="0" err="1"/>
              <a:t>foi</a:t>
            </a:r>
            <a:r>
              <a:rPr dirty="0"/>
              <a:t> </a:t>
            </a:r>
            <a:r>
              <a:rPr dirty="0" err="1"/>
              <a:t>possível</a:t>
            </a:r>
            <a:r>
              <a:rPr dirty="0"/>
              <a:t> </a:t>
            </a:r>
            <a:r>
              <a:rPr dirty="0" err="1"/>
              <a:t>baixar</a:t>
            </a:r>
            <a:r>
              <a:rPr dirty="0"/>
              <a:t> o </a:t>
            </a:r>
            <a:r>
              <a:rPr dirty="0" err="1"/>
              <a:t>arquivo</a:t>
            </a:r>
            <a:r>
              <a:rPr dirty="0"/>
              <a:t> do visual </a:t>
            </a:r>
            <a:r>
              <a:rPr dirty="0" err="1"/>
              <a:t>nesta</a:t>
            </a:r>
            <a:r>
              <a:rPr dirty="0"/>
              <a:t> </a:t>
            </a:r>
            <a:r>
              <a:rPr dirty="0" err="1"/>
              <a:t>sessão</a:t>
            </a:r>
            <a:r>
              <a:rPr dirty="0"/>
              <a:t>. O </a:t>
            </a:r>
            <a:r>
              <a:rPr dirty="0" err="1"/>
              <a:t>nome</a:t>
            </a:r>
            <a:r>
              <a:rPr dirty="0"/>
              <a:t> no </a:t>
            </a:r>
            <a:r>
              <a:rPr dirty="0" err="1"/>
              <a:t>cartão</a:t>
            </a:r>
            <a:r>
              <a:rPr dirty="0"/>
              <a:t> é </a:t>
            </a:r>
            <a:r>
              <a:rPr dirty="0" err="1"/>
              <a:t>clicável</a:t>
            </a:r>
            <a:r>
              <a:rPr dirty="0"/>
              <a:t> e </a:t>
            </a:r>
            <a:r>
              <a:rPr dirty="0" err="1"/>
              <a:t>abre</a:t>
            </a:r>
            <a:r>
              <a:rPr dirty="0"/>
              <a:t> a </a:t>
            </a:r>
            <a:r>
              <a:rPr dirty="0" err="1"/>
              <a:t>fonte</a:t>
            </a:r>
            <a:r>
              <a:rPr dirty="0"/>
              <a:t> visual para </a:t>
            </a:r>
            <a:r>
              <a:rPr dirty="0" err="1"/>
              <a:t>futura</a:t>
            </a:r>
            <a:r>
              <a:rPr dirty="0"/>
              <a:t> </a:t>
            </a:r>
            <a:r>
              <a:rPr dirty="0" err="1"/>
              <a:t>substituição</a:t>
            </a:r>
            <a:r>
              <a:rPr dirty="0"/>
              <a:t>.</a:t>
            </a:r>
          </a:p>
          <a:p>
            <a:endParaRPr dirty="0"/>
          </a:p>
          <a:p>
            <a:r>
              <a:rPr dirty="0"/>
              <a:t>2. Hermes Agent — NOUS RESEARCH</a:t>
            </a:r>
          </a:p>
          <a:p>
            <a:endParaRPr dirty="0"/>
          </a:p>
          <a:p>
            <a:r>
              <a:rPr dirty="0" err="1"/>
              <a:t>Memória</a:t>
            </a:r>
            <a:r>
              <a:rPr dirty="0"/>
              <a:t> </a:t>
            </a:r>
            <a:r>
              <a:rPr dirty="0" err="1"/>
              <a:t>persistente</a:t>
            </a:r>
            <a:r>
              <a:rPr dirty="0"/>
              <a:t>, skills </a:t>
            </a:r>
            <a:r>
              <a:rPr dirty="0" err="1"/>
              <a:t>reutilizáveis</a:t>
            </a:r>
            <a:r>
              <a:rPr dirty="0"/>
              <a:t> e </a:t>
            </a:r>
            <a:r>
              <a:rPr dirty="0" err="1"/>
              <a:t>automações</a:t>
            </a:r>
            <a:r>
              <a:rPr dirty="0"/>
              <a:t>.</a:t>
            </a:r>
          </a:p>
          <a:p>
            <a:endParaRPr dirty="0"/>
          </a:p>
          <a:p>
            <a:r>
              <a:rPr dirty="0" err="1"/>
              <a:t>Produto</a:t>
            </a:r>
            <a:r>
              <a:rPr dirty="0"/>
              <a:t>: https://hermes-agent.nousresearch.com/</a:t>
            </a:r>
          </a:p>
          <a:p>
            <a:endParaRPr dirty="0"/>
          </a:p>
          <a:p>
            <a:r>
              <a:rPr dirty="0" err="1"/>
              <a:t>Arquivo</a:t>
            </a:r>
            <a:r>
              <a:rPr dirty="0"/>
              <a:t> visual </a:t>
            </a:r>
            <a:r>
              <a:rPr dirty="0" err="1"/>
              <a:t>ou</a:t>
            </a:r>
            <a:r>
              <a:rPr dirty="0"/>
              <a:t> </a:t>
            </a:r>
            <a:r>
              <a:rPr dirty="0" err="1"/>
              <a:t>página</a:t>
            </a:r>
            <a:r>
              <a:rPr dirty="0"/>
              <a:t> </a:t>
            </a:r>
            <a:r>
              <a:rPr dirty="0" err="1"/>
              <a:t>oficial</a:t>
            </a:r>
            <a:r>
              <a:rPr dirty="0"/>
              <a:t> do </a:t>
            </a:r>
            <a:r>
              <a:rPr dirty="0" err="1"/>
              <a:t>ícone</a:t>
            </a:r>
            <a:r>
              <a:rPr dirty="0"/>
              <a:t>: https://web-assets.nousresearch.com/portal/6bc387fa746a094b1a580922ce43bfd82dd243a2/assets/hermes-landing/teams/hermes-wing.svg</a:t>
            </a:r>
          </a:p>
          <a:p>
            <a:endParaRPr dirty="0"/>
          </a:p>
          <a:p>
            <a:r>
              <a:rPr dirty="0"/>
              <a:t>Neste slide: </a:t>
            </a:r>
            <a:r>
              <a:rPr dirty="0" err="1"/>
              <a:t>identificação</a:t>
            </a:r>
            <a:r>
              <a:rPr dirty="0"/>
              <a:t> textual </a:t>
            </a:r>
            <a:r>
              <a:rPr dirty="0" err="1"/>
              <a:t>editável</a:t>
            </a:r>
            <a:r>
              <a:rPr dirty="0"/>
              <a:t>, NÃO um </a:t>
            </a:r>
            <a:r>
              <a:rPr dirty="0" err="1"/>
              <a:t>logotipo</a:t>
            </a:r>
            <a:r>
              <a:rPr dirty="0"/>
              <a:t> </a:t>
            </a:r>
            <a:r>
              <a:rPr dirty="0" err="1"/>
              <a:t>oficial</a:t>
            </a:r>
            <a:r>
              <a:rPr dirty="0"/>
              <a:t>. </a:t>
            </a:r>
            <a:r>
              <a:rPr dirty="0" err="1"/>
              <a:t>Não</a:t>
            </a:r>
            <a:r>
              <a:rPr dirty="0"/>
              <a:t> </a:t>
            </a:r>
            <a:r>
              <a:rPr dirty="0" err="1"/>
              <a:t>foi</a:t>
            </a:r>
            <a:r>
              <a:rPr dirty="0"/>
              <a:t> </a:t>
            </a:r>
            <a:r>
              <a:rPr dirty="0" err="1"/>
              <a:t>possível</a:t>
            </a:r>
            <a:r>
              <a:rPr dirty="0"/>
              <a:t> </a:t>
            </a:r>
            <a:r>
              <a:rPr dirty="0" err="1"/>
              <a:t>baixar</a:t>
            </a:r>
            <a:r>
              <a:rPr dirty="0"/>
              <a:t> o </a:t>
            </a:r>
            <a:r>
              <a:rPr dirty="0" err="1"/>
              <a:t>arquivo</a:t>
            </a:r>
            <a:r>
              <a:rPr dirty="0"/>
              <a:t> do visual </a:t>
            </a:r>
            <a:r>
              <a:rPr dirty="0" err="1"/>
              <a:t>nesta</a:t>
            </a:r>
            <a:r>
              <a:rPr dirty="0"/>
              <a:t> </a:t>
            </a:r>
            <a:r>
              <a:rPr dirty="0" err="1"/>
              <a:t>sessão</a:t>
            </a:r>
            <a:r>
              <a:rPr dirty="0"/>
              <a:t>. O </a:t>
            </a:r>
            <a:r>
              <a:rPr dirty="0" err="1"/>
              <a:t>nome</a:t>
            </a:r>
            <a:r>
              <a:rPr dirty="0"/>
              <a:t> no </a:t>
            </a:r>
            <a:r>
              <a:rPr dirty="0" err="1"/>
              <a:t>cartão</a:t>
            </a:r>
            <a:r>
              <a:rPr dirty="0"/>
              <a:t> é </a:t>
            </a:r>
            <a:r>
              <a:rPr dirty="0" err="1"/>
              <a:t>clicável</a:t>
            </a:r>
            <a:r>
              <a:rPr dirty="0"/>
              <a:t> e </a:t>
            </a:r>
            <a:r>
              <a:rPr dirty="0" err="1"/>
              <a:t>abre</a:t>
            </a:r>
            <a:r>
              <a:rPr dirty="0"/>
              <a:t> a </a:t>
            </a:r>
            <a:r>
              <a:rPr dirty="0" err="1"/>
              <a:t>fonte</a:t>
            </a:r>
            <a:r>
              <a:rPr dirty="0"/>
              <a:t> visual para </a:t>
            </a:r>
            <a:r>
              <a:rPr dirty="0" err="1"/>
              <a:t>futura</a:t>
            </a:r>
            <a:r>
              <a:rPr dirty="0"/>
              <a:t> </a:t>
            </a:r>
            <a:r>
              <a:rPr dirty="0" err="1"/>
              <a:t>substituição</a:t>
            </a:r>
            <a:r>
              <a:rPr dirty="0"/>
              <a:t>.</a:t>
            </a:r>
          </a:p>
          <a:p>
            <a:endParaRPr dirty="0"/>
          </a:p>
          <a:p>
            <a:r>
              <a:rPr dirty="0"/>
              <a:t>A </a:t>
            </a:r>
            <a:r>
              <a:rPr dirty="0" err="1"/>
              <a:t>referência</a:t>
            </a:r>
            <a:r>
              <a:rPr dirty="0"/>
              <a:t> </a:t>
            </a:r>
            <a:r>
              <a:rPr dirty="0" err="1"/>
              <a:t>localizada</a:t>
            </a:r>
            <a:r>
              <a:rPr dirty="0"/>
              <a:t> no </a:t>
            </a:r>
            <a:r>
              <a:rPr dirty="0" err="1"/>
              <a:t>catálogo</a:t>
            </a:r>
            <a:r>
              <a:rPr dirty="0"/>
              <a:t> é </a:t>
            </a:r>
            <a:r>
              <a:rPr dirty="0" err="1"/>
              <a:t>uma</a:t>
            </a:r>
            <a:r>
              <a:rPr dirty="0"/>
              <a:t> </a:t>
            </a:r>
            <a:r>
              <a:rPr dirty="0" err="1"/>
              <a:t>asa</a:t>
            </a:r>
            <a:r>
              <a:rPr dirty="0"/>
              <a:t> </a:t>
            </a:r>
            <a:r>
              <a:rPr dirty="0" err="1"/>
              <a:t>usada</a:t>
            </a:r>
            <a:r>
              <a:rPr dirty="0"/>
              <a:t> no site da Nous Research, um </a:t>
            </a:r>
            <a:r>
              <a:rPr dirty="0" err="1"/>
              <a:t>elemento</a:t>
            </a:r>
            <a:r>
              <a:rPr dirty="0"/>
              <a:t> visual; </a:t>
            </a:r>
            <a:r>
              <a:rPr dirty="0" err="1"/>
              <a:t>não</a:t>
            </a:r>
            <a:r>
              <a:rPr dirty="0"/>
              <a:t> um </a:t>
            </a:r>
            <a:r>
              <a:rPr dirty="0" err="1"/>
              <a:t>logotipo</a:t>
            </a:r>
            <a:r>
              <a:rPr dirty="0"/>
              <a:t> </a:t>
            </a:r>
            <a:r>
              <a:rPr dirty="0" err="1"/>
              <a:t>completo</a:t>
            </a:r>
            <a:r>
              <a:rPr dirty="0"/>
              <a:t> </a:t>
            </a:r>
            <a:r>
              <a:rPr dirty="0" err="1"/>
              <a:t>confirmado</a:t>
            </a:r>
            <a:r>
              <a:rPr dirty="0"/>
              <a:t>.</a:t>
            </a:r>
          </a:p>
          <a:p>
            <a:endParaRPr dirty="0"/>
          </a:p>
          <a:p>
            <a:r>
              <a:rPr dirty="0"/>
              <a:t>3. Muse — META</a:t>
            </a:r>
          </a:p>
          <a:p>
            <a:endParaRPr dirty="0"/>
          </a:p>
          <a:p>
            <a:r>
              <a:rPr dirty="0" err="1"/>
              <a:t>Agente</a:t>
            </a:r>
            <a:r>
              <a:rPr dirty="0"/>
              <a:t> </a:t>
            </a:r>
            <a:r>
              <a:rPr dirty="0" err="1"/>
              <a:t>proativo</a:t>
            </a:r>
            <a:r>
              <a:rPr dirty="0"/>
              <a:t> com </a:t>
            </a:r>
            <a:r>
              <a:rPr dirty="0" err="1"/>
              <a:t>uso</a:t>
            </a:r>
            <a:r>
              <a:rPr dirty="0"/>
              <a:t> de </a:t>
            </a:r>
            <a:r>
              <a:rPr dirty="0" err="1"/>
              <a:t>computador</a:t>
            </a:r>
            <a:r>
              <a:rPr dirty="0"/>
              <a:t> e </a:t>
            </a:r>
            <a:r>
              <a:rPr dirty="0" err="1"/>
              <a:t>navegador</a:t>
            </a:r>
            <a:r>
              <a:rPr dirty="0"/>
              <a:t>.</a:t>
            </a:r>
          </a:p>
          <a:p>
            <a:endParaRPr dirty="0"/>
          </a:p>
          <a:p>
            <a:r>
              <a:rPr dirty="0" err="1"/>
              <a:t>Produto</a:t>
            </a:r>
            <a:r>
              <a:rPr dirty="0"/>
              <a:t>: https://about.fb.com/news/2026/09/introducing-muse-personal-ai-agent/</a:t>
            </a:r>
          </a:p>
          <a:p>
            <a:endParaRPr dirty="0"/>
          </a:p>
          <a:p>
            <a:r>
              <a:rPr dirty="0" err="1"/>
              <a:t>Arquivo</a:t>
            </a:r>
            <a:r>
              <a:rPr dirty="0"/>
              <a:t> visual </a:t>
            </a:r>
            <a:r>
              <a:rPr dirty="0" err="1"/>
              <a:t>ou</a:t>
            </a:r>
            <a:r>
              <a:rPr dirty="0"/>
              <a:t> </a:t>
            </a:r>
            <a:r>
              <a:rPr dirty="0" err="1"/>
              <a:t>página</a:t>
            </a:r>
            <a:r>
              <a:rPr dirty="0"/>
              <a:t> </a:t>
            </a:r>
            <a:r>
              <a:rPr dirty="0" err="1"/>
              <a:t>oficial</a:t>
            </a:r>
            <a:r>
              <a:rPr dirty="0"/>
              <a:t> do </a:t>
            </a:r>
            <a:r>
              <a:rPr dirty="0" err="1"/>
              <a:t>ícone</a:t>
            </a:r>
            <a:r>
              <a:rPr dirty="0"/>
              <a:t>: https://introducing.muse.ai/landing/MuseLogo.svg</a:t>
            </a:r>
          </a:p>
          <a:p>
            <a:endParaRPr dirty="0"/>
          </a:p>
          <a:p>
            <a:r>
              <a:rPr dirty="0"/>
              <a:t>4. dots — OPENAI</a:t>
            </a:r>
          </a:p>
          <a:p>
            <a:endParaRPr dirty="0"/>
          </a:p>
          <a:p>
            <a:r>
              <a:rPr dirty="0" err="1"/>
              <a:t>Agentes</a:t>
            </a:r>
            <a:r>
              <a:rPr dirty="0"/>
              <a:t> </a:t>
            </a:r>
            <a:r>
              <a:rPr dirty="0" err="1"/>
              <a:t>persistentes</a:t>
            </a:r>
            <a:r>
              <a:rPr dirty="0"/>
              <a:t>, </a:t>
            </a:r>
            <a:r>
              <a:rPr dirty="0" err="1"/>
              <a:t>computador</a:t>
            </a:r>
            <a:r>
              <a:rPr dirty="0"/>
              <a:t> </a:t>
            </a:r>
            <a:r>
              <a:rPr dirty="0" err="1"/>
              <a:t>na</a:t>
            </a:r>
            <a:r>
              <a:rPr dirty="0"/>
              <a:t> </a:t>
            </a:r>
            <a:r>
              <a:rPr dirty="0" err="1"/>
              <a:t>nuvem</a:t>
            </a:r>
            <a:r>
              <a:rPr dirty="0"/>
              <a:t> e apps </a:t>
            </a:r>
            <a:r>
              <a:rPr dirty="0" err="1"/>
              <a:t>conectados</a:t>
            </a:r>
            <a:r>
              <a:rPr dirty="0"/>
              <a:t>.</a:t>
            </a:r>
          </a:p>
          <a:p>
            <a:endParaRPr dirty="0"/>
          </a:p>
          <a:p>
            <a:r>
              <a:rPr dirty="0" err="1"/>
              <a:t>Produto</a:t>
            </a:r>
            <a:r>
              <a:rPr dirty="0"/>
              <a:t>: https://openai.com/index/introducing-dots/</a:t>
            </a:r>
          </a:p>
          <a:p>
            <a:endParaRPr dirty="0"/>
          </a:p>
          <a:p>
            <a:r>
              <a:rPr dirty="0" err="1"/>
              <a:t>Arquivo</a:t>
            </a:r>
            <a:r>
              <a:rPr dirty="0"/>
              <a:t> visual </a:t>
            </a:r>
            <a:r>
              <a:rPr dirty="0" err="1"/>
              <a:t>ou</a:t>
            </a:r>
            <a:r>
              <a:rPr dirty="0"/>
              <a:t> </a:t>
            </a:r>
            <a:r>
              <a:rPr dirty="0" err="1"/>
              <a:t>página</a:t>
            </a:r>
            <a:r>
              <a:rPr dirty="0"/>
              <a:t> </a:t>
            </a:r>
            <a:r>
              <a:rPr dirty="0" err="1"/>
              <a:t>oficial</a:t>
            </a:r>
            <a:r>
              <a:rPr dirty="0"/>
              <a:t> do </a:t>
            </a:r>
            <a:r>
              <a:rPr dirty="0" err="1"/>
              <a:t>ícone</a:t>
            </a:r>
            <a:r>
              <a:rPr dirty="0"/>
              <a:t>: https://images.ctfassets.net/kftzwdyauwt9/KKSjto3MtJguvsLQsM1Bp/1704a6937d22b1bb3cac38dc5f43f9df/dots-o.svg</a:t>
            </a:r>
          </a:p>
          <a:p>
            <a:endParaRPr dirty="0"/>
          </a:p>
          <a:p>
            <a:r>
              <a:rPr dirty="0"/>
              <a:t>5. Grok Bot — ECOSSISTEMA GROK</a:t>
            </a:r>
          </a:p>
          <a:p>
            <a:endParaRPr dirty="0"/>
          </a:p>
          <a:p>
            <a:r>
              <a:rPr dirty="0"/>
              <a:t>Bots </a:t>
            </a:r>
            <a:r>
              <a:rPr dirty="0" err="1"/>
              <a:t>que</a:t>
            </a:r>
            <a:r>
              <a:rPr dirty="0"/>
              <a:t> </a:t>
            </a:r>
            <a:r>
              <a:rPr dirty="0" err="1"/>
              <a:t>usam</a:t>
            </a:r>
            <a:r>
              <a:rPr dirty="0"/>
              <a:t> ferramentas para </a:t>
            </a:r>
            <a:r>
              <a:rPr dirty="0" err="1"/>
              <a:t>concluir</a:t>
            </a:r>
            <a:r>
              <a:rPr dirty="0"/>
              <a:t> </a:t>
            </a:r>
            <a:r>
              <a:rPr dirty="0" err="1"/>
              <a:t>tarefas</a:t>
            </a:r>
            <a:r>
              <a:rPr dirty="0"/>
              <a:t>.</a:t>
            </a:r>
          </a:p>
          <a:p>
            <a:endParaRPr dirty="0"/>
          </a:p>
          <a:p>
            <a:r>
              <a:rPr dirty="0" err="1"/>
              <a:t>Produto</a:t>
            </a:r>
            <a:r>
              <a:rPr dirty="0"/>
              <a:t>: https://x.ai/bot</a:t>
            </a:r>
          </a:p>
          <a:p>
            <a:endParaRPr dirty="0"/>
          </a:p>
          <a:p>
            <a:r>
              <a:rPr dirty="0" err="1"/>
              <a:t>Arquivo</a:t>
            </a:r>
            <a:r>
              <a:rPr dirty="0"/>
              <a:t> visual </a:t>
            </a:r>
            <a:r>
              <a:rPr dirty="0" err="1"/>
              <a:t>ou</a:t>
            </a:r>
            <a:r>
              <a:rPr dirty="0"/>
              <a:t> </a:t>
            </a:r>
            <a:r>
              <a:rPr dirty="0" err="1"/>
              <a:t>página</a:t>
            </a:r>
            <a:r>
              <a:rPr dirty="0"/>
              <a:t> </a:t>
            </a:r>
            <a:r>
              <a:rPr dirty="0" err="1"/>
              <a:t>oficial</a:t>
            </a:r>
            <a:r>
              <a:rPr dirty="0"/>
              <a:t> do </a:t>
            </a:r>
            <a:r>
              <a:rPr dirty="0" err="1"/>
              <a:t>ícone</a:t>
            </a:r>
            <a:r>
              <a:rPr dirty="0"/>
              <a:t>: https://play.google.com/store/apps/details?id=ai.x.grok.bot</a:t>
            </a:r>
          </a:p>
          <a:p>
            <a:endParaRPr dirty="0"/>
          </a:p>
          <a:p>
            <a:r>
              <a:rPr dirty="0"/>
              <a:t>6. Instinct — ASSISTENTE PESSOAL</a:t>
            </a:r>
          </a:p>
          <a:p>
            <a:endParaRPr dirty="0"/>
          </a:p>
          <a:p>
            <a:r>
              <a:rPr dirty="0"/>
              <a:t>Resolve </a:t>
            </a:r>
            <a:r>
              <a:rPr dirty="0" err="1"/>
              <a:t>tarefas</a:t>
            </a:r>
            <a:r>
              <a:rPr dirty="0"/>
              <a:t> </a:t>
            </a:r>
            <a:r>
              <a:rPr dirty="0" err="1"/>
              <a:t>por</a:t>
            </a:r>
            <a:r>
              <a:rPr dirty="0"/>
              <a:t> </a:t>
            </a:r>
            <a:r>
              <a:rPr dirty="0" err="1"/>
              <a:t>mensagens</a:t>
            </a:r>
            <a:r>
              <a:rPr dirty="0"/>
              <a:t> e </a:t>
            </a:r>
            <a:r>
              <a:rPr dirty="0" err="1"/>
              <a:t>chamadas</a:t>
            </a:r>
            <a:r>
              <a:rPr dirty="0"/>
              <a:t>.</a:t>
            </a:r>
          </a:p>
          <a:p>
            <a:endParaRPr dirty="0"/>
          </a:p>
          <a:p>
            <a:r>
              <a:rPr dirty="0" err="1"/>
              <a:t>Produto</a:t>
            </a:r>
            <a:r>
              <a:rPr dirty="0"/>
              <a:t>: https://instinct.co/</a:t>
            </a:r>
          </a:p>
          <a:p>
            <a:endParaRPr dirty="0"/>
          </a:p>
          <a:p>
            <a:r>
              <a:rPr dirty="0" err="1"/>
              <a:t>Arquivo</a:t>
            </a:r>
            <a:r>
              <a:rPr dirty="0"/>
              <a:t> visual </a:t>
            </a:r>
            <a:r>
              <a:rPr dirty="0" err="1"/>
              <a:t>ou</a:t>
            </a:r>
            <a:r>
              <a:rPr dirty="0"/>
              <a:t> </a:t>
            </a:r>
            <a:r>
              <a:rPr dirty="0" err="1"/>
              <a:t>página</a:t>
            </a:r>
            <a:r>
              <a:rPr dirty="0"/>
              <a:t> </a:t>
            </a:r>
            <a:r>
              <a:rPr dirty="0" err="1"/>
              <a:t>oficial</a:t>
            </a:r>
            <a:r>
              <a:rPr dirty="0"/>
              <a:t> do </a:t>
            </a:r>
            <a:r>
              <a:rPr dirty="0" err="1"/>
              <a:t>ícone</a:t>
            </a:r>
            <a:r>
              <a:rPr dirty="0"/>
              <a:t>: https://instinct.co/favicon.svg</a:t>
            </a:r>
          </a:p>
          <a:p>
            <a:endParaRPr dirty="0"/>
          </a:p>
          <a:p>
            <a:r>
              <a:rPr dirty="0"/>
              <a:t>Neste slide: </a:t>
            </a:r>
            <a:r>
              <a:rPr dirty="0" err="1"/>
              <a:t>identificação</a:t>
            </a:r>
            <a:r>
              <a:rPr dirty="0"/>
              <a:t> textual </a:t>
            </a:r>
            <a:r>
              <a:rPr dirty="0" err="1"/>
              <a:t>editável</a:t>
            </a:r>
            <a:r>
              <a:rPr dirty="0"/>
              <a:t>, NÃO um </a:t>
            </a:r>
            <a:r>
              <a:rPr dirty="0" err="1"/>
              <a:t>logotipo</a:t>
            </a:r>
            <a:r>
              <a:rPr dirty="0"/>
              <a:t> </a:t>
            </a:r>
            <a:r>
              <a:rPr dirty="0" err="1"/>
              <a:t>oficial</a:t>
            </a:r>
            <a:r>
              <a:rPr dirty="0"/>
              <a:t>. </a:t>
            </a:r>
            <a:r>
              <a:rPr dirty="0" err="1"/>
              <a:t>Não</a:t>
            </a:r>
            <a:r>
              <a:rPr dirty="0"/>
              <a:t> </a:t>
            </a:r>
            <a:r>
              <a:rPr dirty="0" err="1"/>
              <a:t>foi</a:t>
            </a:r>
            <a:r>
              <a:rPr dirty="0"/>
              <a:t> </a:t>
            </a:r>
            <a:r>
              <a:rPr dirty="0" err="1"/>
              <a:t>possível</a:t>
            </a:r>
            <a:r>
              <a:rPr dirty="0"/>
              <a:t> </a:t>
            </a:r>
            <a:r>
              <a:rPr dirty="0" err="1"/>
              <a:t>baixar</a:t>
            </a:r>
            <a:r>
              <a:rPr dirty="0"/>
              <a:t> o </a:t>
            </a:r>
            <a:r>
              <a:rPr dirty="0" err="1"/>
              <a:t>arquivo</a:t>
            </a:r>
            <a:r>
              <a:rPr dirty="0"/>
              <a:t> do visual </a:t>
            </a:r>
            <a:r>
              <a:rPr dirty="0" err="1"/>
              <a:t>nesta</a:t>
            </a:r>
            <a:r>
              <a:rPr dirty="0"/>
              <a:t> </a:t>
            </a:r>
            <a:r>
              <a:rPr dirty="0" err="1"/>
              <a:t>sessão</a:t>
            </a:r>
            <a:r>
              <a:rPr dirty="0"/>
              <a:t>. O </a:t>
            </a:r>
            <a:r>
              <a:rPr dirty="0" err="1"/>
              <a:t>nome</a:t>
            </a:r>
            <a:r>
              <a:rPr dirty="0"/>
              <a:t> no </a:t>
            </a:r>
            <a:r>
              <a:rPr dirty="0" err="1"/>
              <a:t>cartão</a:t>
            </a:r>
            <a:r>
              <a:rPr dirty="0"/>
              <a:t> é </a:t>
            </a:r>
            <a:r>
              <a:rPr dirty="0" err="1"/>
              <a:t>clicável</a:t>
            </a:r>
            <a:r>
              <a:rPr dirty="0"/>
              <a:t> e </a:t>
            </a:r>
            <a:r>
              <a:rPr dirty="0" err="1"/>
              <a:t>abre</a:t>
            </a:r>
            <a:r>
              <a:rPr dirty="0"/>
              <a:t> a </a:t>
            </a:r>
            <a:r>
              <a:rPr dirty="0" err="1"/>
              <a:t>fonte</a:t>
            </a:r>
            <a:r>
              <a:rPr dirty="0"/>
              <a:t> visual para </a:t>
            </a:r>
            <a:r>
              <a:rPr dirty="0" err="1"/>
              <a:t>futura</a:t>
            </a:r>
            <a:r>
              <a:rPr dirty="0"/>
              <a:t> </a:t>
            </a:r>
            <a:r>
              <a:rPr dirty="0" err="1"/>
              <a:t>substituição</a:t>
            </a:r>
            <a:r>
              <a:rPr dirty="0"/>
              <a:t>.</a:t>
            </a:r>
          </a:p>
          <a:p>
            <a:endParaRPr dirty="0"/>
          </a:p>
          <a:p>
            <a:r>
              <a:rPr dirty="0"/>
              <a:t>7. Gemini Spark — GOOGLE</a:t>
            </a:r>
          </a:p>
          <a:p>
            <a:endParaRPr dirty="0"/>
          </a:p>
          <a:p>
            <a:r>
              <a:rPr dirty="0" err="1"/>
              <a:t>Tarefas</a:t>
            </a:r>
            <a:r>
              <a:rPr dirty="0"/>
              <a:t> </a:t>
            </a:r>
            <a:r>
              <a:rPr dirty="0" err="1"/>
              <a:t>em</a:t>
            </a:r>
            <a:r>
              <a:rPr dirty="0"/>
              <a:t> </a:t>
            </a:r>
            <a:r>
              <a:rPr dirty="0" err="1"/>
              <a:t>segundo</a:t>
            </a:r>
            <a:r>
              <a:rPr dirty="0"/>
              <a:t> plano com </a:t>
            </a:r>
            <a:r>
              <a:rPr dirty="0" err="1"/>
              <a:t>acesso</a:t>
            </a:r>
            <a:r>
              <a:rPr dirty="0"/>
              <a:t> a </a:t>
            </a:r>
            <a:r>
              <a:rPr dirty="0" err="1"/>
              <a:t>aplicativos</a:t>
            </a:r>
            <a:r>
              <a:rPr dirty="0"/>
              <a:t> Google.</a:t>
            </a:r>
          </a:p>
          <a:p>
            <a:endParaRPr dirty="0"/>
          </a:p>
          <a:p>
            <a:r>
              <a:rPr dirty="0" err="1"/>
              <a:t>Produto</a:t>
            </a:r>
            <a:r>
              <a:rPr dirty="0"/>
              <a:t>: https://gemini.google/overview/agent/spark/</a:t>
            </a:r>
          </a:p>
          <a:p>
            <a:endParaRPr dirty="0"/>
          </a:p>
          <a:p>
            <a:r>
              <a:rPr dirty="0" err="1"/>
              <a:t>Arquivo</a:t>
            </a:r>
            <a:r>
              <a:rPr dirty="0"/>
              <a:t> visual </a:t>
            </a:r>
            <a:r>
              <a:rPr dirty="0" err="1"/>
              <a:t>ou</a:t>
            </a:r>
            <a:r>
              <a:rPr dirty="0"/>
              <a:t> </a:t>
            </a:r>
            <a:r>
              <a:rPr dirty="0" err="1"/>
              <a:t>página</a:t>
            </a:r>
            <a:r>
              <a:rPr dirty="0"/>
              <a:t> </a:t>
            </a:r>
            <a:r>
              <a:rPr dirty="0" err="1"/>
              <a:t>oficial</a:t>
            </a:r>
            <a:r>
              <a:rPr dirty="0"/>
              <a:t> do </a:t>
            </a:r>
            <a:r>
              <a:rPr dirty="0" err="1"/>
              <a:t>ícone</a:t>
            </a:r>
            <a:r>
              <a:rPr dirty="0"/>
              <a:t>: https://play.google.com/store/apps/details?id=com.google.android.apps.bard</a:t>
            </a:r>
          </a:p>
          <a:p>
            <a:endParaRPr dirty="0"/>
          </a:p>
          <a:p>
            <a:r>
              <a:rPr dirty="0"/>
              <a:t>O </a:t>
            </a:r>
            <a:r>
              <a:rPr dirty="0" err="1"/>
              <a:t>símbolo</a:t>
            </a:r>
            <a:r>
              <a:rPr dirty="0"/>
              <a:t> e a </a:t>
            </a:r>
            <a:r>
              <a:rPr dirty="0" err="1"/>
              <a:t>assinatura</a:t>
            </a:r>
            <a:r>
              <a:rPr dirty="0"/>
              <a:t> </a:t>
            </a:r>
            <a:r>
              <a:rPr dirty="0" err="1"/>
              <a:t>utilizados</a:t>
            </a:r>
            <a:r>
              <a:rPr dirty="0"/>
              <a:t> </a:t>
            </a:r>
            <a:r>
              <a:rPr dirty="0" err="1"/>
              <a:t>são</a:t>
            </a:r>
            <a:r>
              <a:rPr dirty="0"/>
              <a:t> da </a:t>
            </a:r>
            <a:r>
              <a:rPr dirty="0" err="1"/>
              <a:t>marca</a:t>
            </a:r>
            <a:r>
              <a:rPr dirty="0"/>
              <a:t> Gemini; Spark </a:t>
            </a:r>
            <a:r>
              <a:rPr dirty="0" err="1"/>
              <a:t>está</a:t>
            </a:r>
            <a:r>
              <a:rPr dirty="0"/>
              <a:t> </a:t>
            </a:r>
            <a:r>
              <a:rPr dirty="0" err="1"/>
              <a:t>identificado</a:t>
            </a:r>
            <a:r>
              <a:rPr dirty="0"/>
              <a:t> </a:t>
            </a:r>
            <a:r>
              <a:rPr dirty="0" err="1"/>
              <a:t>em</a:t>
            </a:r>
            <a:r>
              <a:rPr dirty="0"/>
              <a:t> </a:t>
            </a:r>
            <a:r>
              <a:rPr dirty="0" err="1"/>
              <a:t>texto</a:t>
            </a:r>
            <a:r>
              <a:rPr dirty="0"/>
              <a:t> </a:t>
            </a:r>
            <a:r>
              <a:rPr dirty="0" err="1"/>
              <a:t>editável</a:t>
            </a:r>
            <a:r>
              <a:rPr dirty="0"/>
              <a:t>. </a:t>
            </a:r>
            <a:r>
              <a:rPr dirty="0" err="1"/>
              <a:t>Não</a:t>
            </a:r>
            <a:r>
              <a:rPr dirty="0"/>
              <a:t> </a:t>
            </a:r>
            <a:r>
              <a:rPr dirty="0" err="1"/>
              <a:t>são</a:t>
            </a:r>
            <a:r>
              <a:rPr dirty="0"/>
              <a:t> um logo </a:t>
            </a:r>
            <a:r>
              <a:rPr dirty="0" err="1"/>
              <a:t>exclusivo</a:t>
            </a:r>
            <a:r>
              <a:rPr dirty="0"/>
              <a:t> de Spark.</a:t>
            </a:r>
          </a:p>
          <a:p>
            <a:endParaRPr dirty="0"/>
          </a:p>
          <a:p>
            <a:r>
              <a:rPr dirty="0"/>
              <a:t>8. Claude — ANTHROPIC</a:t>
            </a:r>
          </a:p>
          <a:p>
            <a:endParaRPr dirty="0"/>
          </a:p>
          <a:p>
            <a:r>
              <a:rPr dirty="0" err="1"/>
              <a:t>Arquivos</a:t>
            </a:r>
            <a:r>
              <a:rPr dirty="0"/>
              <a:t>, </a:t>
            </a:r>
            <a:r>
              <a:rPr dirty="0" err="1"/>
              <a:t>aplicativos</a:t>
            </a:r>
            <a:r>
              <a:rPr dirty="0"/>
              <a:t> e </a:t>
            </a:r>
            <a:r>
              <a:rPr dirty="0" err="1"/>
              <a:t>execução</a:t>
            </a:r>
            <a:r>
              <a:rPr dirty="0"/>
              <a:t> de </a:t>
            </a:r>
            <a:r>
              <a:rPr dirty="0" err="1"/>
              <a:t>tarefas</a:t>
            </a:r>
            <a:r>
              <a:rPr dirty="0"/>
              <a:t> no </a:t>
            </a:r>
            <a:r>
              <a:rPr dirty="0" err="1"/>
              <a:t>computador</a:t>
            </a:r>
            <a:r>
              <a:rPr dirty="0"/>
              <a:t>.</a:t>
            </a:r>
          </a:p>
          <a:p>
            <a:endParaRPr dirty="0"/>
          </a:p>
          <a:p>
            <a:r>
              <a:rPr dirty="0" err="1"/>
              <a:t>Produto</a:t>
            </a:r>
            <a:r>
              <a:rPr dirty="0"/>
              <a:t>: https://claude.com/download</a:t>
            </a:r>
          </a:p>
          <a:p>
            <a:endParaRPr dirty="0"/>
          </a:p>
          <a:p>
            <a:r>
              <a:rPr dirty="0" err="1"/>
              <a:t>Arquivo</a:t>
            </a:r>
            <a:r>
              <a:rPr dirty="0"/>
              <a:t> visual </a:t>
            </a:r>
            <a:r>
              <a:rPr dirty="0" err="1"/>
              <a:t>ou</a:t>
            </a:r>
            <a:r>
              <a:rPr dirty="0"/>
              <a:t> </a:t>
            </a:r>
            <a:r>
              <a:rPr dirty="0" err="1"/>
              <a:t>página</a:t>
            </a:r>
            <a:r>
              <a:rPr dirty="0"/>
              <a:t> </a:t>
            </a:r>
            <a:r>
              <a:rPr dirty="0" err="1"/>
              <a:t>oficial</a:t>
            </a:r>
            <a:r>
              <a:rPr dirty="0"/>
              <a:t> do </a:t>
            </a:r>
            <a:r>
              <a:rPr dirty="0" err="1"/>
              <a:t>ícone</a:t>
            </a:r>
            <a:r>
              <a:rPr dirty="0"/>
              <a:t>: https://play.google.com/store/apps/details?id=com.anthropic.claude</a:t>
            </a:r>
          </a:p>
          <a:p>
            <a:endParaRPr dirty="0"/>
          </a:p>
          <a:p>
            <a:r>
              <a:rPr dirty="0"/>
              <a:t>9. Perplexity Computer — PERPLEXITY</a:t>
            </a:r>
          </a:p>
          <a:p>
            <a:endParaRPr dirty="0"/>
          </a:p>
          <a:p>
            <a:r>
              <a:rPr dirty="0"/>
              <a:t>Pesquisa, </a:t>
            </a:r>
            <a:r>
              <a:rPr dirty="0" err="1"/>
              <a:t>navegação</a:t>
            </a:r>
            <a:r>
              <a:rPr dirty="0"/>
              <a:t> e </a:t>
            </a:r>
            <a:r>
              <a:rPr dirty="0" err="1"/>
              <a:t>execução</a:t>
            </a:r>
            <a:r>
              <a:rPr dirty="0"/>
              <a:t> de </a:t>
            </a:r>
            <a:r>
              <a:rPr dirty="0" err="1"/>
              <a:t>fluxos</a:t>
            </a:r>
            <a:r>
              <a:rPr dirty="0"/>
              <a:t> de </a:t>
            </a:r>
            <a:r>
              <a:rPr dirty="0" err="1"/>
              <a:t>trabalho</a:t>
            </a:r>
            <a:r>
              <a:rPr dirty="0"/>
              <a:t>.</a:t>
            </a:r>
          </a:p>
          <a:p>
            <a:endParaRPr dirty="0"/>
          </a:p>
          <a:p>
            <a:r>
              <a:rPr dirty="0" err="1"/>
              <a:t>Produto</a:t>
            </a:r>
            <a:r>
              <a:rPr dirty="0"/>
              <a:t>: https://www.perplexity.ai/products/computer</a:t>
            </a:r>
          </a:p>
          <a:p>
            <a:endParaRPr dirty="0"/>
          </a:p>
          <a:p>
            <a:r>
              <a:rPr dirty="0" err="1"/>
              <a:t>Arquivo</a:t>
            </a:r>
            <a:r>
              <a:rPr dirty="0"/>
              <a:t> visual </a:t>
            </a:r>
            <a:r>
              <a:rPr dirty="0" err="1"/>
              <a:t>ou</a:t>
            </a:r>
            <a:r>
              <a:rPr dirty="0"/>
              <a:t> </a:t>
            </a:r>
            <a:r>
              <a:rPr dirty="0" err="1"/>
              <a:t>página</a:t>
            </a:r>
            <a:r>
              <a:rPr dirty="0"/>
              <a:t> </a:t>
            </a:r>
            <a:r>
              <a:rPr dirty="0" err="1"/>
              <a:t>oficial</a:t>
            </a:r>
            <a:r>
              <a:rPr dirty="0"/>
              <a:t> do </a:t>
            </a:r>
            <a:r>
              <a:rPr dirty="0" err="1"/>
              <a:t>ícone</a:t>
            </a:r>
            <a:r>
              <a:rPr dirty="0"/>
              <a:t>: https://www.perplexity.ai/favicon.svg</a:t>
            </a:r>
          </a:p>
          <a:p>
            <a:endParaRPr dirty="0"/>
          </a:p>
          <a:p>
            <a:r>
              <a:rPr dirty="0"/>
              <a:t>O </a:t>
            </a:r>
            <a:r>
              <a:rPr dirty="0" err="1"/>
              <a:t>símbolo</a:t>
            </a:r>
            <a:r>
              <a:rPr dirty="0"/>
              <a:t> é da </a:t>
            </a:r>
            <a:r>
              <a:rPr dirty="0" err="1"/>
              <a:t>marca</a:t>
            </a:r>
            <a:r>
              <a:rPr dirty="0"/>
              <a:t> Perplexity, </a:t>
            </a:r>
            <a:r>
              <a:rPr dirty="0" err="1"/>
              <a:t>extraído</a:t>
            </a:r>
            <a:r>
              <a:rPr dirty="0"/>
              <a:t> </a:t>
            </a:r>
            <a:r>
              <a:rPr dirty="0" err="1"/>
              <a:t>como</a:t>
            </a:r>
            <a:r>
              <a:rPr dirty="0"/>
              <a:t> </a:t>
            </a:r>
            <a:r>
              <a:rPr dirty="0" err="1"/>
              <a:t>imagem</a:t>
            </a:r>
            <a:r>
              <a:rPr dirty="0"/>
              <a:t> </a:t>
            </a:r>
            <a:r>
              <a:rPr dirty="0" err="1"/>
              <a:t>vetorial</a:t>
            </a:r>
            <a:r>
              <a:rPr dirty="0"/>
              <a:t> da </a:t>
            </a:r>
            <a:r>
              <a:rPr dirty="0" err="1"/>
              <a:t>biblioteca</a:t>
            </a:r>
            <a:r>
              <a:rPr dirty="0"/>
              <a:t> Simple Icons 14.9.0 </a:t>
            </a:r>
            <a:r>
              <a:rPr dirty="0" err="1"/>
              <a:t>disponível</a:t>
            </a:r>
            <a:r>
              <a:rPr dirty="0"/>
              <a:t> no </a:t>
            </a:r>
            <a:r>
              <a:rPr dirty="0" err="1"/>
              <a:t>ambiente</a:t>
            </a:r>
            <a:r>
              <a:rPr dirty="0"/>
              <a:t>. </a:t>
            </a:r>
            <a:r>
              <a:rPr dirty="0" err="1"/>
              <a:t>Não</a:t>
            </a:r>
            <a:r>
              <a:rPr dirty="0"/>
              <a:t> é um </a:t>
            </a:r>
            <a:r>
              <a:rPr dirty="0" err="1"/>
              <a:t>logotipo</a:t>
            </a:r>
            <a:r>
              <a:rPr dirty="0"/>
              <a:t> </a:t>
            </a:r>
            <a:r>
              <a:rPr dirty="0" err="1"/>
              <a:t>exclusivo</a:t>
            </a:r>
            <a:r>
              <a:rPr dirty="0"/>
              <a:t> de Computer. Biblioteca: https://simpleicons.org/ ; </a:t>
            </a:r>
            <a:r>
              <a:rPr dirty="0" err="1"/>
              <a:t>guia</a:t>
            </a:r>
            <a:r>
              <a:rPr dirty="0"/>
              <a:t> de </a:t>
            </a:r>
            <a:r>
              <a:rPr dirty="0" err="1"/>
              <a:t>marca</a:t>
            </a:r>
            <a:r>
              <a:rPr dirty="0"/>
              <a:t>: https://live.standards.site/perplexity/</a:t>
            </a:r>
          </a:p>
          <a:p>
            <a:endParaRPr dirty="0"/>
          </a:p>
          <a:p>
            <a:r>
              <a:rPr dirty="0"/>
              <a:t>10. Manus — AGENTE DE EXECUÇÃO</a:t>
            </a:r>
          </a:p>
          <a:p>
            <a:endParaRPr dirty="0"/>
          </a:p>
          <a:p>
            <a:r>
              <a:rPr dirty="0" err="1"/>
              <a:t>Execução</a:t>
            </a:r>
            <a:r>
              <a:rPr dirty="0"/>
              <a:t> de </a:t>
            </a:r>
            <a:r>
              <a:rPr dirty="0" err="1"/>
              <a:t>tarefas</a:t>
            </a:r>
            <a:r>
              <a:rPr dirty="0"/>
              <a:t> e </a:t>
            </a:r>
            <a:r>
              <a:rPr dirty="0" err="1"/>
              <a:t>automação</a:t>
            </a:r>
            <a:r>
              <a:rPr dirty="0"/>
              <a:t> de </a:t>
            </a:r>
            <a:r>
              <a:rPr dirty="0" err="1"/>
              <a:t>fluxos</a:t>
            </a:r>
            <a:r>
              <a:rPr dirty="0"/>
              <a:t> de </a:t>
            </a:r>
            <a:r>
              <a:rPr dirty="0" err="1"/>
              <a:t>trabalho</a:t>
            </a:r>
            <a:r>
              <a:rPr dirty="0"/>
              <a:t>.</a:t>
            </a:r>
          </a:p>
          <a:p>
            <a:endParaRPr dirty="0"/>
          </a:p>
          <a:p>
            <a:r>
              <a:rPr dirty="0" err="1"/>
              <a:t>Produto</a:t>
            </a:r>
            <a:r>
              <a:rPr dirty="0"/>
              <a:t>: https://manus.im/</a:t>
            </a:r>
          </a:p>
          <a:p>
            <a:endParaRPr dirty="0"/>
          </a:p>
          <a:p>
            <a:r>
              <a:rPr dirty="0" err="1"/>
              <a:t>Arquivo</a:t>
            </a:r>
            <a:r>
              <a:rPr dirty="0"/>
              <a:t> visual </a:t>
            </a:r>
            <a:r>
              <a:rPr dirty="0" err="1"/>
              <a:t>ou</a:t>
            </a:r>
            <a:r>
              <a:rPr dirty="0"/>
              <a:t> </a:t>
            </a:r>
            <a:r>
              <a:rPr dirty="0" err="1"/>
              <a:t>página</a:t>
            </a:r>
            <a:r>
              <a:rPr dirty="0"/>
              <a:t> </a:t>
            </a:r>
            <a:r>
              <a:rPr dirty="0" err="1"/>
              <a:t>oficial</a:t>
            </a:r>
            <a:r>
              <a:rPr dirty="0"/>
              <a:t> do </a:t>
            </a:r>
            <a:r>
              <a:rPr dirty="0" err="1"/>
              <a:t>ícone</a:t>
            </a:r>
            <a:r>
              <a:rPr dirty="0"/>
              <a:t>: https://play.google.com/store/apps/details?id=tech.butterfly.app</a:t>
            </a:r>
          </a:p>
          <a:p>
            <a:endParaRPr dirty="0"/>
          </a:p>
          <a:p>
            <a:r>
              <a:rPr dirty="0"/>
              <a:t>Neste slide: </a:t>
            </a:r>
            <a:r>
              <a:rPr dirty="0" err="1"/>
              <a:t>identificação</a:t>
            </a:r>
            <a:r>
              <a:rPr dirty="0"/>
              <a:t> textual </a:t>
            </a:r>
            <a:r>
              <a:rPr dirty="0" err="1"/>
              <a:t>editável</a:t>
            </a:r>
            <a:r>
              <a:rPr dirty="0"/>
              <a:t>, NÃO um </a:t>
            </a:r>
            <a:r>
              <a:rPr dirty="0" err="1"/>
              <a:t>logotipo</a:t>
            </a:r>
            <a:r>
              <a:rPr dirty="0"/>
              <a:t> </a:t>
            </a:r>
            <a:r>
              <a:rPr dirty="0" err="1"/>
              <a:t>oficial</a:t>
            </a:r>
            <a:r>
              <a:rPr dirty="0"/>
              <a:t>. </a:t>
            </a:r>
            <a:r>
              <a:rPr dirty="0" err="1"/>
              <a:t>Não</a:t>
            </a:r>
            <a:r>
              <a:rPr dirty="0"/>
              <a:t> </a:t>
            </a:r>
            <a:r>
              <a:rPr dirty="0" err="1"/>
              <a:t>foi</a:t>
            </a:r>
            <a:r>
              <a:rPr dirty="0"/>
              <a:t> </a:t>
            </a:r>
            <a:r>
              <a:rPr dirty="0" err="1"/>
              <a:t>possível</a:t>
            </a:r>
            <a:r>
              <a:rPr dirty="0"/>
              <a:t> </a:t>
            </a:r>
            <a:r>
              <a:rPr dirty="0" err="1"/>
              <a:t>baixar</a:t>
            </a:r>
            <a:r>
              <a:rPr dirty="0"/>
              <a:t> o </a:t>
            </a:r>
            <a:r>
              <a:rPr dirty="0" err="1"/>
              <a:t>arquivo</a:t>
            </a:r>
            <a:r>
              <a:rPr dirty="0"/>
              <a:t> do visual </a:t>
            </a:r>
            <a:r>
              <a:rPr dirty="0" err="1"/>
              <a:t>nesta</a:t>
            </a:r>
            <a:r>
              <a:rPr dirty="0"/>
              <a:t> </a:t>
            </a:r>
            <a:r>
              <a:rPr dirty="0" err="1"/>
              <a:t>sessão</a:t>
            </a:r>
            <a:r>
              <a:rPr dirty="0"/>
              <a:t>. O </a:t>
            </a:r>
            <a:r>
              <a:rPr dirty="0" err="1"/>
              <a:t>nome</a:t>
            </a:r>
            <a:r>
              <a:rPr dirty="0"/>
              <a:t> no </a:t>
            </a:r>
            <a:r>
              <a:rPr dirty="0" err="1"/>
              <a:t>cartão</a:t>
            </a:r>
            <a:r>
              <a:rPr dirty="0"/>
              <a:t> é </a:t>
            </a:r>
            <a:r>
              <a:rPr dirty="0" err="1"/>
              <a:t>clicável</a:t>
            </a:r>
            <a:r>
              <a:rPr dirty="0"/>
              <a:t> e </a:t>
            </a:r>
            <a:r>
              <a:rPr dirty="0" err="1"/>
              <a:t>abre</a:t>
            </a:r>
            <a:r>
              <a:rPr dirty="0"/>
              <a:t> a </a:t>
            </a:r>
            <a:r>
              <a:rPr dirty="0" err="1"/>
              <a:t>fonte</a:t>
            </a:r>
            <a:r>
              <a:rPr dirty="0"/>
              <a:t> visual para </a:t>
            </a:r>
            <a:r>
              <a:rPr dirty="0" err="1"/>
              <a:t>futura</a:t>
            </a:r>
            <a:r>
              <a:rPr dirty="0"/>
              <a:t> </a:t>
            </a:r>
            <a:r>
              <a:rPr dirty="0" err="1"/>
              <a:t>substituição</a:t>
            </a:r>
            <a:r>
              <a:rPr dirty="0"/>
              <a:t>.</a:t>
            </a:r>
          </a:p>
          <a:p>
            <a:endParaRPr dirty="0"/>
          </a:p>
          <a:p>
            <a:r>
              <a:rPr dirty="0"/>
              <a:t>PROVENIÊNCIA DOS ARQUIVOS INCORPORADOS:</a:t>
            </a:r>
          </a:p>
          <a:p>
            <a:endParaRPr dirty="0"/>
          </a:p>
          <a:p>
            <a:r>
              <a:rPr dirty="0"/>
              <a:t>As </a:t>
            </a:r>
            <a:r>
              <a:rPr dirty="0" err="1"/>
              <a:t>marcas</a:t>
            </a:r>
            <a:r>
              <a:rPr dirty="0"/>
              <a:t> </a:t>
            </a:r>
            <a:r>
              <a:rPr dirty="0" err="1"/>
              <a:t>gráficas</a:t>
            </a:r>
            <a:r>
              <a:rPr dirty="0"/>
              <a:t> de Claude, Gemini, dots, Muse e Grok Bot </a:t>
            </a:r>
            <a:r>
              <a:rPr dirty="0" err="1"/>
              <a:t>foram</a:t>
            </a:r>
            <a:r>
              <a:rPr dirty="0"/>
              <a:t> </a:t>
            </a:r>
            <a:r>
              <a:rPr dirty="0" err="1"/>
              <a:t>extraídas</a:t>
            </a:r>
            <a:r>
              <a:rPr dirty="0"/>
              <a:t> do </a:t>
            </a:r>
            <a:r>
              <a:rPr dirty="0" err="1"/>
              <a:t>arquivo</a:t>
            </a:r>
            <a:r>
              <a:rPr dirty="0"/>
              <a:t> do </a:t>
            </a:r>
            <a:r>
              <a:rPr dirty="0" err="1"/>
              <a:t>próprio</a:t>
            </a:r>
            <a:r>
              <a:rPr dirty="0"/>
              <a:t> </a:t>
            </a:r>
            <a:r>
              <a:rPr dirty="0" err="1"/>
              <a:t>usuário</a:t>
            </a:r>
            <a:r>
              <a:rPr dirty="0"/>
              <a:t> Agentes_IA_Secretariado_Lawrence_v3_final.pptx. O </a:t>
            </a:r>
            <a:r>
              <a:rPr dirty="0" err="1"/>
              <a:t>conteúdo</a:t>
            </a:r>
            <a:r>
              <a:rPr dirty="0"/>
              <a:t> </a:t>
            </a:r>
            <a:r>
              <a:rPr dirty="0" err="1"/>
              <a:t>gráfico</a:t>
            </a:r>
            <a:r>
              <a:rPr dirty="0"/>
              <a:t> </a:t>
            </a:r>
            <a:r>
              <a:rPr dirty="0" err="1"/>
              <a:t>foi</a:t>
            </a:r>
            <a:r>
              <a:rPr dirty="0"/>
              <a:t> </a:t>
            </a:r>
            <a:r>
              <a:rPr dirty="0" err="1"/>
              <a:t>preservado</a:t>
            </a:r>
            <a:r>
              <a:rPr dirty="0"/>
              <a:t>; </a:t>
            </a:r>
            <a:r>
              <a:rPr dirty="0" err="1"/>
              <a:t>apenas</a:t>
            </a:r>
            <a:r>
              <a:rPr dirty="0"/>
              <a:t> </a:t>
            </a:r>
            <a:r>
              <a:rPr dirty="0" err="1"/>
              <a:t>margens</a:t>
            </a:r>
            <a:r>
              <a:rPr dirty="0"/>
              <a:t> </a:t>
            </a:r>
            <a:r>
              <a:rPr dirty="0" err="1"/>
              <a:t>transparentes</a:t>
            </a:r>
            <a:r>
              <a:rPr dirty="0"/>
              <a:t> </a:t>
            </a:r>
            <a:r>
              <a:rPr dirty="0" err="1"/>
              <a:t>foram</a:t>
            </a:r>
            <a:r>
              <a:rPr dirty="0"/>
              <a:t> </a:t>
            </a:r>
            <a:r>
              <a:rPr dirty="0" err="1"/>
              <a:t>aparadas</a:t>
            </a:r>
            <a:r>
              <a:rPr dirty="0"/>
              <a:t>. </a:t>
            </a:r>
            <a:r>
              <a:rPr dirty="0" err="1"/>
              <a:t>Não</a:t>
            </a:r>
            <a:r>
              <a:rPr dirty="0"/>
              <a:t> </a:t>
            </a:r>
            <a:r>
              <a:rPr dirty="0" err="1"/>
              <a:t>foi</a:t>
            </a:r>
            <a:r>
              <a:rPr dirty="0"/>
              <a:t> </a:t>
            </a:r>
            <a:r>
              <a:rPr dirty="0" err="1"/>
              <a:t>usado</a:t>
            </a:r>
            <a:r>
              <a:rPr dirty="0"/>
              <a:t> </a:t>
            </a:r>
            <a:r>
              <a:rPr dirty="0" err="1"/>
              <a:t>gerador</a:t>
            </a:r>
            <a:r>
              <a:rPr dirty="0"/>
              <a:t> de imagens para </a:t>
            </a:r>
            <a:r>
              <a:rPr dirty="0" err="1"/>
              <a:t>recriar</a:t>
            </a:r>
            <a:r>
              <a:rPr dirty="0"/>
              <a:t> </a:t>
            </a:r>
            <a:r>
              <a:rPr dirty="0" err="1"/>
              <a:t>marcas</a:t>
            </a:r>
            <a:r>
              <a:rPr dirty="0"/>
              <a:t>.</a:t>
            </a:r>
          </a:p>
          <a:p>
            <a:endParaRPr dirty="0"/>
          </a:p>
          <a:p>
            <a:r>
              <a:rPr dirty="0" err="1"/>
              <a:t>Os</a:t>
            </a:r>
            <a:r>
              <a:rPr dirty="0"/>
              <a:t> seis </a:t>
            </a:r>
            <a:r>
              <a:rPr dirty="0" err="1"/>
              <a:t>gráficos</a:t>
            </a:r>
            <a:r>
              <a:rPr dirty="0"/>
              <a:t> </a:t>
            </a:r>
            <a:r>
              <a:rPr dirty="0" err="1"/>
              <a:t>estão</a:t>
            </a:r>
            <a:r>
              <a:rPr dirty="0"/>
              <a:t> </a:t>
            </a:r>
            <a:r>
              <a:rPr dirty="0" err="1"/>
              <a:t>incorporados</a:t>
            </a:r>
            <a:r>
              <a:rPr dirty="0"/>
              <a:t> no PPTX e </a:t>
            </a:r>
            <a:r>
              <a:rPr dirty="0" err="1"/>
              <a:t>aparecem</a:t>
            </a:r>
            <a:r>
              <a:rPr dirty="0"/>
              <a:t> offline. </a:t>
            </a:r>
            <a:r>
              <a:rPr dirty="0" err="1"/>
              <a:t>Os</a:t>
            </a:r>
            <a:r>
              <a:rPr dirty="0"/>
              <a:t> outros </a:t>
            </a:r>
            <a:r>
              <a:rPr dirty="0" err="1"/>
              <a:t>quatro</a:t>
            </a:r>
            <a:r>
              <a:rPr dirty="0"/>
              <a:t> </a:t>
            </a:r>
            <a:r>
              <a:rPr dirty="0" err="1"/>
              <a:t>produtos</a:t>
            </a:r>
            <a:r>
              <a:rPr dirty="0"/>
              <a:t> </a:t>
            </a:r>
            <a:r>
              <a:rPr dirty="0" err="1"/>
              <a:t>usam</a:t>
            </a:r>
            <a:r>
              <a:rPr dirty="0"/>
              <a:t> </a:t>
            </a:r>
            <a:r>
              <a:rPr dirty="0" err="1"/>
              <a:t>apenas</a:t>
            </a:r>
            <a:r>
              <a:rPr dirty="0"/>
              <a:t> </a:t>
            </a:r>
            <a:r>
              <a:rPr dirty="0" err="1"/>
              <a:t>identificação</a:t>
            </a:r>
            <a:r>
              <a:rPr dirty="0"/>
              <a:t> textual </a:t>
            </a:r>
            <a:r>
              <a:rPr dirty="0" err="1"/>
              <a:t>editável</a:t>
            </a:r>
            <a:r>
              <a:rPr dirty="0"/>
              <a:t>. Todos </a:t>
            </a:r>
            <a:r>
              <a:rPr dirty="0" err="1"/>
              <a:t>os</a:t>
            </a:r>
            <a:r>
              <a:rPr dirty="0"/>
              <a:t> </a:t>
            </a:r>
            <a:r>
              <a:rPr dirty="0" err="1"/>
              <a:t>textos</a:t>
            </a:r>
            <a:r>
              <a:rPr dirty="0"/>
              <a:t>, </a:t>
            </a:r>
            <a:r>
              <a:rPr dirty="0" err="1"/>
              <a:t>cartões</a:t>
            </a:r>
            <a:r>
              <a:rPr dirty="0"/>
              <a:t> e cores </a:t>
            </a:r>
            <a:r>
              <a:rPr dirty="0" err="1"/>
              <a:t>são</a:t>
            </a:r>
            <a:r>
              <a:rPr dirty="0"/>
              <a:t> </a:t>
            </a:r>
            <a:r>
              <a:rPr dirty="0" err="1"/>
              <a:t>editáveis</a:t>
            </a:r>
            <a:r>
              <a:rPr dirty="0"/>
              <a:t>. Marcas </a:t>
            </a:r>
            <a:r>
              <a:rPr dirty="0" err="1"/>
              <a:t>pertencem</a:t>
            </a:r>
            <a:r>
              <a:rPr dirty="0"/>
              <a:t> a </a:t>
            </a:r>
            <a:r>
              <a:rPr dirty="0" err="1"/>
              <a:t>seus</a:t>
            </a:r>
            <a:r>
              <a:rPr dirty="0"/>
              <a:t> </a:t>
            </a:r>
            <a:r>
              <a:rPr dirty="0" err="1"/>
              <a:t>titulares</a:t>
            </a:r>
            <a:r>
              <a:rPr dirty="0"/>
              <a:t>.</a:t>
            </a:r>
          </a:p>
          <a:p>
            <a:endParaRPr dirty="0"/>
          </a:p>
          <a:p>
            <a:r>
              <a:rPr dirty="0"/>
              <a:t>Guia OpenAI: https://openai.com/brand/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Cowork e assistentes persistentes têm diferença de ênfase, não uma fronteira rígida. Ambas as categorias podem usar ferramentas, executar ações e trabalhar de forma proativa, inclusive com agendamentos.</a:t>
            </a:r>
          </a:p>
          <a:p>
            <a:endParaRPr/>
          </a:p>
          <a:p>
            <a:r>
              <a:t>No Cowork, o ponto de partida costuma ser um trabalho com um resultado definido: analisar documentos, comparar fornecedores, preparar orçamento e produzir uma apresentação. O contexto vem principalmente de arquivos, instruções e sistemas.</a:t>
            </a:r>
          </a:p>
          <a:p>
            <a:endParaRPr/>
          </a:p>
          <a:p>
            <a:r>
              <a:t>No assistente persistente, a proposta central é a continuidade da assistência: manter contexto, considerar preferências, acompanhar atividades e identificar quando há algo a fazer ou uma decisão a pedir ao usuário. O horizonte pode ser de dias, semanas ou meses.</a:t>
            </a:r>
          </a:p>
          <a:p>
            <a:endParaRPr/>
          </a:p>
          <a:p>
            <a:r>
              <a:t>O mesmo evento ilustra as duas formas de delegação. O Cowork entrega a comparação, o orçamento e a apresentação. O assistente acompanha respostas, pendências e decisões ao longo da organização. Um assistente também pode usar ferramentas de trabalho para produzir esses materiais.</a:t>
            </a:r>
          </a:p>
          <a:p>
            <a:endParaRPr/>
          </a:p>
          <a:p>
            <a:r>
              <a:t>As abordagens podem coexistir e convergir. Proatividade e memória dependem da implementação. Permissões, privacidade, rastreabilidade, custos e supervisão humana permanecem essenciais.</a:t>
            </a:r>
          </a:p>
          <a:p>
            <a:endParaRPr/>
          </a:p>
          <a:p>
            <a:r>
              <a:t>Fonte: texto “Cowork vs. Assistentes de IA: qual é a diferença?”, fornecido por Lawrence Teixeira em 15/10/2026.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Abrir o ChatGPT e o Claude para iniciar as demonstrações práticas. Usar os arquivos fictícios preparados para os casos da reunião e da ata. Alternar entre os aplicativos e os próximos slides conforme a explicação. Conferir o resultado antes de qualquer ação externa.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Agradecer à plateia após a apresentação e a demonstração do Jarvis. Este é o encerramento da fala. Os slides seguintes ficam como material de apoio e fontes para consulta.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Apêndice de consulta. Os seis assistentes à esquerda aparecem no conteúdo principal. À direita, recursos extras que não foram demonstrados. Planos, disponibilidade, privacidade e permissões precisam de avaliação antes do uso.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Recursos extras para aprendizagem e atualização. O QR da capa e do fechamento aponta para o LinkedIn de Lawrence, não para uma pasta de materiais.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Referências correspondentes ao conteúdo da apresentação. Consulta em 7 de outubro de 2026.</a:t>
            </a:r>
          </a:p>
          <a:p>
            <a:r>
              <a:t>Gartner: gasto mundial com IA em 2026: https://www.gartner.com/en/newsroom/press-releases/2026-09-16-gartner-forecasts-worldwide-ai-spending-to-grow-49-point-5-percent-in-2026</a:t>
            </a:r>
          </a:p>
          <a:p>
            <a:r>
              <a:t>Gartner: agentes nos apps e habilidades: https://www.gartner.com/en/newsroom/press-releases/2025-08-26-gartner-predicts-40-percent-of-enterprise-apps-will-feature-task-specific-ai-agents-by-2026-up-from-less-than-5-percent-in-2025</a:t>
            </a:r>
          </a:p>
          <a:p>
            <a:r>
              <a:t>MarketsandMarkets: mercado de agentes: https://www.marketsandmarkets.com/PressReleases/ai-agents.asp</a:t>
            </a:r>
          </a:p>
          <a:p>
            <a:r>
              <a:t>OpenAI: 900 milhões por semana: https://openai.com/index/scaling-ai-for-everyone/</a:t>
            </a:r>
          </a:p>
          <a:p>
            <a:r>
              <a:t>Google: Gemini, 1 bilhão por mês: https://blog.google/innovation-and-ai/products/gemini-app/one-billion-monthly-users/</a:t>
            </a:r>
          </a:p>
          <a:p>
            <a:r>
              <a:t>Sam Altman: 1 milhão no lançamento: https://x.com/sama/status/1599668808285028353</a:t>
            </a:r>
          </a:p>
          <a:p>
            <a:r>
              <a:t>CNBC: 400 milhões por semana: https://www.cnbc.com/2025/02/20/openai-tops-400-million-users-despite-deepseeks-emergence.html</a:t>
            </a:r>
          </a:p>
          <a:p>
            <a:r>
              <a:t>OpenAI DevDay: 800 milhões (cobertura): https://techcrunch.com/2025/10/06/sam-altman-says-chatgpt-has-hit-800m-weekly-active-users</a:t>
            </a:r>
          </a:p>
          <a:p>
            <a:r>
              <a:t>OpenAI: presença e uso no Brasil: https://openai.com/index/expanding-our-presence-in-brazil/</a:t>
            </a:r>
          </a:p>
          <a:p>
            <a:r>
              <a:t>OpenAI: uso no Brasil em 2025: https://openai.com/global-affairs/brazil-ai-moment-is-here/</a:t>
            </a:r>
          </a:p>
          <a:p>
            <a:r>
              <a:t>Cetic.br: TIC Domicílios 2025: https://cetic.br/pt/noticia/50-milhoes-de-brasileiros-ja-usam-ia-mas-potenciais-beneficios-continuam-limitados-as-camadas-de-maior-renda-e-escolaridade/</a:t>
            </a:r>
          </a:p>
          <a:p>
            <a:r>
              <a:t>Cetic.br: TIC Empresas 2025: https://cetic.br/pt/noticia/uso-de-inteligencia-artificial-por-empresas-brasileiras-avanca-e-atinge-17-aponta-pesquisa-do-cetic-br/</a:t>
            </a:r>
          </a:p>
          <a:p>
            <a:r>
              <a:t>Cetic.br: TIC Governo 2025: https://cetic.br/pt/noticia/ia-esta-presente-em-seis-de-cada-dez-orgaos-publicos-federais-e-estaduais-e-chega-a-94-no-judiciario-aponta-tic-governo/</a:t>
            </a:r>
          </a:p>
          <a:p>
            <a:r>
              <a:t>WEF: Future of Jobs 2025, cap. 2: https://www.weforum.org/publications/the-future-of-jobs-report-2025/in-full/2-jobs-outlook/</a:t>
            </a:r>
          </a:p>
          <a:p>
            <a:r>
              <a:t>Anthropic: Economic Index, junho/2026: https://www.anthropic.com/research/economic-index-june-2026-report</a:t>
            </a:r>
          </a:p>
          <a:p>
            <a:r>
              <a:t>Anthropic: dados por país, maio/2026: https://huggingface.co/datasets/Anthropic/EconomicIndex/blob/main/release_2026_06_26/data/aei_claude_ai_2026-06-26.csv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Referências correspondentes ao conteúdo da apresentação. Consulta em 7 de outubro de 2026.</a:t>
            </a:r>
          </a:p>
          <a:p>
            <a:r>
              <a:t>Transformer: Attention Is All You Need: https://arxiv.org/abs/1706.03762</a:t>
            </a:r>
          </a:p>
          <a:p>
            <a:r>
              <a:t>GPT-3: Language Models are Few-Shot Learners: https://arxiv.org/abs/2005.14165</a:t>
            </a:r>
          </a:p>
          <a:p>
            <a:r>
              <a:t>OpenAI: lançamento do ChatGPT: https://openai.com/index/chatgpt/</a:t>
            </a:r>
          </a:p>
          <a:p>
            <a:r>
              <a:t>OpenAI: GPT-4: https://openai.com/index/gpt-4-research/</a:t>
            </a:r>
          </a:p>
          <a:p>
            <a:r>
              <a:t>Anthropic: lançamento do Claude: https://www.anthropic.com/news/introducing-claude</a:t>
            </a:r>
          </a:p>
          <a:p>
            <a:r>
              <a:t>Google: lançamento do Gemini: https://blog.google/technology/ai/google-gemini-ai/</a:t>
            </a:r>
          </a:p>
          <a:p>
            <a:r>
              <a:t>Parlamento Europeu: acordo do AI Act: https://www.europarl.europa.eu/news/en/press-room/20231206IPR15699/artificial-intelligence-act-deal-on-comprehensive-rules-for-trustworthy-ai</a:t>
            </a:r>
          </a:p>
          <a:p>
            <a:r>
              <a:t>OpenAI: GPT-4o: https://openai.com/index/hello-gpt-4o/</a:t>
            </a:r>
          </a:p>
          <a:p>
            <a:r>
              <a:t>Anthropic: computer use: https://www.anthropic.com/news/3-5-models-and-computer-use</a:t>
            </a:r>
          </a:p>
          <a:p>
            <a:r>
              <a:t>Anthropic: Model Context Protocol: https://www.anthropic.com/news/model-context-protocol</a:t>
            </a:r>
          </a:p>
          <a:p>
            <a:r>
              <a:t>Anthropic: Claude Code: https://www.anthropic.com/news/claude-3-7-sonnet</a:t>
            </a:r>
          </a:p>
          <a:p>
            <a:r>
              <a:t>OpenAI: ChatGPT agent, lançamento: https://openai.com/index/introducing-chatgpt-agent/</a:t>
            </a:r>
          </a:p>
          <a:p>
            <a:r>
              <a:t>OpenAI: GPT-5: https://openai.com/index/introducing-gpt-5/</a:t>
            </a:r>
          </a:p>
          <a:p>
            <a:r>
              <a:t>OpenAI: incidente em avaliação de modelos: https://openai.com/index/hugging-face-model-evaluation-security-incident/</a:t>
            </a:r>
          </a:p>
          <a:p>
            <a:r>
              <a:t>Dario Amodei: We Must Pace the Frontier: https://darioamodei.com/post/we-must-pace-the-frontier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Referências correspondentes ao conteúdo da apresentação. Consulta em 7 de outubro de 2026.</a:t>
            </a:r>
          </a:p>
          <a:p>
            <a:r>
              <a:t>ChatGPT: Work: https://learn.chatgpt.com/docs/get-started-with-work</a:t>
            </a:r>
          </a:p>
          <a:p>
            <a:r>
              <a:t>ChatGPT: apps e permissões: https://learn.chatgpt.com/docs/enterprise/chatgpt-work-overview</a:t>
            </a:r>
          </a:p>
          <a:p>
            <a:r>
              <a:t>ChatGPT: plugins e skills: https://learn.chatgpt.com/docs/skills-and-plugins</a:t>
            </a:r>
          </a:p>
          <a:p>
            <a:r>
              <a:t>ChatGPT: controles de skills: https://learn.chatgpt.com/docs/enterprise/skills</a:t>
            </a:r>
          </a:p>
          <a:p>
            <a:r>
              <a:t>Claude: unificação de Chat e Cowork: https://support.claude.com/en/articles/16761823-claude-cowork-and-chat-are-one-claude</a:t>
            </a:r>
          </a:p>
          <a:p>
            <a:r>
              <a:t>Claude: plugins: https://support.claude.com/en/articles/13837440-use-plugins-in-claude</a:t>
            </a:r>
          </a:p>
          <a:p>
            <a:r>
              <a:t>Google: requisitos do Gemini Spark: https://support.google.com/gemini/answer/17094507</a:t>
            </a:r>
          </a:p>
          <a:p>
            <a:r>
              <a:t>OpenAI: primeiros passos com dot: https://learn.chatgpt.com/docs/dots</a:t>
            </a:r>
          </a:p>
          <a:p>
            <a:r>
              <a:t>Meta: apresentação do Muse: https://about.fb.com/news/2026/09/introducing-muse-personal-ai-agent/</a:t>
            </a:r>
          </a:p>
          <a:p>
            <a:r>
              <a:t>xAI: Grok Bot: https://docs.x.ai/grok-bot/overview</a:t>
            </a:r>
          </a:p>
          <a:p>
            <a:r>
              <a:t>Anthropic: Building effective agents: https://www.anthropic.com/engineering/building-effective-agents</a:t>
            </a:r>
          </a:p>
          <a:p>
            <a:r>
              <a:t>Anthropic: context engineering: https://www.anthropic.com/engineering/effective-context-engineering-for-ai-agents</a:t>
            </a:r>
          </a:p>
          <a:p>
            <a:r>
              <a:t>METR: capacidade em tarefas longas: https://metr.org/blog/2025-03-19-measuring-ai-ability-to-complete-long-tasks/</a:t>
            </a:r>
          </a:p>
          <a:p>
            <a:r>
              <a:t>OWASP: segurança de agentes: https://cheatsheetseries.owasp.org/cheatsheets/AI_Agent_Security_Cheat_Sheet.html</a:t>
            </a:r>
          </a:p>
          <a:p>
            <a:r>
              <a:t>OpenAI: segurança de agentes: https://developers.openai.com/api/docs/guides/agent-builder-safety</a:t>
            </a:r>
          </a:p>
          <a:p>
            <a:r>
              <a:t>NIST: AI Risk Management Framework: https://www.nist.gov/itl/ai-risk-management-framework</a:t>
            </a:r>
          </a:p>
          <a:p>
            <a:r>
              <a:rPr lang="pt-BR"/>
              <a:t>Acréscimos de 12/10/2026 (slide 12, agentes de trabalho):</a:t>
            </a:r>
          </a:p>
          <a:p>
            <a:r>
              <a:rPr lang="pt-BR" dirty="0"/>
              <a:t>Microsoft: Copilot Cowork: https://learn.microsoft.com/en-us/microsoft-365/copilot/cowork/</a:t>
            </a:r>
          </a:p>
          <a:p>
            <a:r>
              <a:rPr lang="pt-BR" dirty="0"/>
              <a:t>Microsoft: Copilot Cowork disponível para todos (16/06/2026): https://www.microsoft.com/en-us/microsoft-365/blog/2026/06/16/copilot-cowork-is-now-generally-available/</a:t>
            </a:r>
          </a:p>
          <a:p>
            <a:r>
              <a:rPr lang="pt-BR" dirty="0"/>
              <a:t>Anthropic: Claude Cowork: https://claude.com/product/cowork</a:t>
            </a:r>
          </a:p>
          <a:p>
            <a:r>
              <a:rPr lang="pt-BR" dirty="0"/>
              <a:t>OpenAI: ChatGPT Work (pt-BR): https://chatgpt.com/pt-BR/work/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Referências dos slides 7 e 9. Consulta em 11 de outubro de 2026.</a:t>
            </a:r>
          </a:p>
          <a:p>
            <a:r>
              <a:t>Casa Branca: Ordem Executiva 14434: https://www.whitehouse.gov/presidential-actions/2026/09/inaugurating-the-era-of-super-intelligence/</a:t>
            </a:r>
          </a:p>
          <a:p>
            <a:r>
              <a:t>Casa Branca: fact sheet da ordem: https://www.whitehouse.gov/fact-sheets/2026/09/fact-sheet-president-donald-j-trump-inaugurates-the-era-of-super-intelligence/</a:t>
            </a:r>
          </a:p>
          <a:p>
            <a:r>
              <a:t>Federal Register: publicação oficial (PDF): https://www.govinfo.gov/content/pkg/FR-2026-10-02/pdf/2026-20321.pdf</a:t>
            </a:r>
          </a:p>
          <a:p>
            <a:r>
              <a:t>ONU: discurso de Trump, 22/09/2026: https://gadebate.un.org/en/81/united-states-america</a:t>
            </a:r>
          </a:p>
          <a:p>
            <a:r>
              <a:t>AP: diplomatas e o novo termo: https://apnews.com/article/trump-super-intelligence-rebrand-ai-diplomats-02123c7bf18c692a12b2b3e3b9ce30c5</a:t>
            </a:r>
          </a:p>
          <a:p>
            <a:r>
              <a:t>CNN Brasil: o discurso na ONU, em português: https://www.cnnbrasil.com.br/internacional/trump-diz-que-eua-chamarao-inteligencia-artificial-de-superinteligencia/</a:t>
            </a:r>
          </a:p>
          <a:p>
            <a:r>
              <a:t>IBM: o que é IA (e AGI): https://www.ibm.com/think/topics/artificial-intelligence</a:t>
            </a:r>
          </a:p>
          <a:p>
            <a:r>
              <a:t>Google DeepMind: From AGI to ASI: https://deepmind.google/research/publications/239142/</a:t>
            </a:r>
          </a:p>
          <a:p>
            <a:r>
              <a:t>OIT: IA generativa e empregos, 2025: https://www.ilo.org/publications/generative-ai-and-jobs-refined-global-index-occupational-exposure</a:t>
            </a:r>
          </a:p>
          <a:p>
            <a:r>
              <a:t>ONU Brasil: resumo da OIT em português: https://brasil.un.org/pt-br/294685-oit-um-em-cada-quatro-empregos-corre-o-risco-de-ser-transformado-pela-ia-generativa</a:t>
            </a:r>
          </a:p>
          <a:p>
            <a:r>
              <a:t>FGV IBRE: IA e mercado de trabalho, 2026: https://blogdoibre.fgv.br/posts/inteligencia-artificial-e-mercado-de-trabalho-0</a:t>
            </a:r>
          </a:p>
          <a:p>
            <a:r>
              <a:t>BLS: projeções para secretárias, 2025–35: https://www.bls.gov/ooh/office-and-administrative-support/secretaries-and-administrative-assistants.htm</a:t>
            </a:r>
          </a:p>
          <a:p>
            <a:r>
              <a:t>Microsoft: Work Trend Index 2026: https://www.microsoft.com/en-us/worklab/work-trend-index/agents-human-agency-and-the-opportunity-for-every-organization</a:t>
            </a:r>
          </a:p>
          <a:p>
            <a:r>
              <a:t>Anthropic Economic Index: explorador de dados: https://www.anthropic.com/economic-index</a:t>
            </a:r>
          </a:p>
          <a:p>
            <a:r>
              <a:t>WEF: Future of Jobs 2025, cap. 2: https://www.weforum.org/publications/the-future-of-jobs-report-2025/in-full/2-jobs-outlook/</a:t>
            </a:r>
          </a:p>
          <a:p>
            <a:r>
              <a:t>Gartner: agentes nos apps e habilidades: https://www.gartner.com/en/newsroom/press-releases/2025-08-26-gartner-predicts-40-percent-of-enterprise-apps-will-feature-task-specific-ai-agents-by-2026-up-from-less-than-5-percent-in-2025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21A482C-C319-43FD-93FF-980D21E2E1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pPr>
              <a:buNone/>
            </a:pPr>
            <a:r>
              <a:t>Clique para editar o estilo de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4203A496-9194-4AF3-A700-304E648B30AF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pPr>
              <a:buNone/>
            </a:pPr>
            <a:fld id="{703E2F8D-62B3-48AF-BAF5-944399905ED0}" type="datetimeFigureOut">
              <a:t>10/15/2026</a:t>
            </a:fld>
            <a:endParaRPr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5303CEB3-10DB-4C6B-B786-6EA61FEAF4ED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pPr>
              <a:buNone/>
            </a:pPr>
            <a:endParaRPr/>
          </a:p>
        </p:txBody>
      </p:sp>
      <p:sp>
        <p:nvSpPr>
          <p:cNvPr id="5" name="Espaço Reservado para o Número do Slide 4">
            <a:extLst>
              <a:ext uri="{FF2B5EF4-FFF2-40B4-BE49-F238E27FC236}">
                <a16:creationId xmlns:a16="http://schemas.microsoft.com/office/drawing/2014/main" id="{E36A844B-2D32-4E86-8B10-61DBDBE59C29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>
              <a:buNone/>
            </a:pPr>
            <a:fld id="{5F44216D-285E-4743-ADC0-F517FFC76697}" type="slidenum">
              <a:t>‹#›</a:t>
            </a:fld>
            <a:endParaRPr/>
          </a:p>
        </p:txBody>
      </p:sp>
    </p:spTree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Espaço Reservado para Conteúdo 2">
            <a:extLst>
              <a:ext uri="{FF2B5EF4-FFF2-40B4-BE49-F238E27FC236}">
                <a16:creationId xmlns:a16="http://schemas.microsoft.com/office/drawing/2014/main" id="{72A72F24-C2F4-A848-9526-6DDE3032300C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444500" y="1460500"/>
            <a:ext cx="5327904" cy="3977640"/>
          </a:xfrm>
          <a:prstGeom prst="rect">
            <a:avLst/>
          </a:prstGeom>
        </p:spPr>
        <p:txBody>
          <a:bodyPr vert="horz" lIns="91440" tIns="45720" rIns="91440" bIns="45720">
            <a:normAutofit/>
          </a:bodyPr>
          <a:lstStyle>
            <a:lvl1pPr>
              <a:lnSpc>
                <a:spcPct val="100000"/>
              </a:lnSpc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lnSpc>
                <a:spcPct val="100000"/>
              </a:lnSpc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lnSpc>
                <a:spcPct val="100000"/>
              </a:lnSpc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lnSpc>
                <a:spcPct val="100000"/>
              </a:lnSpc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lnSpc>
                <a:spcPct val="100000"/>
              </a:lnSpc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marL="0" lvl="0" indent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t>Clique para editar o texto Mestre</a:t>
            </a:r>
          </a:p>
          <a:p>
            <a:pPr marL="0" lvl="1" indent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t>Segundo nível</a:t>
            </a:r>
          </a:p>
          <a:p>
            <a:pPr marL="0" lvl="2" indent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t>Terceiro nível</a:t>
            </a:r>
          </a:p>
          <a:p>
            <a:pPr marL="0" lvl="3" indent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t>Quarto nível</a:t>
            </a:r>
          </a:p>
          <a:p>
            <a:pPr marL="0" lvl="4" indent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t>Quinto nível</a:t>
            </a:r>
          </a:p>
        </p:txBody>
      </p:sp>
      <p:sp>
        <p:nvSpPr>
          <p:cNvPr id="9" name="Espaço Reservado para Data 3">
            <a:extLst>
              <a:ext uri="{FF2B5EF4-FFF2-40B4-BE49-F238E27FC236}">
                <a16:creationId xmlns:a16="http://schemas.microsoft.com/office/drawing/2014/main" id="{0B5A9DDA-5C61-C94F-9C1E-F412423AF3E7}"/>
              </a:ext>
            </a:extLst>
          </p:cNvPr>
          <p:cNvSpPr>
            <a:spLocks noGrp="1"/>
          </p:cNvSpPr>
          <p:nvPr>
            <p:ph type="dt" idx="2"/>
          </p:nvPr>
        </p:nvSpPr>
        <p:spPr>
          <a:xfrm>
            <a:off x="539496" y="6203952"/>
            <a:ext cx="32766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l">
              <a:buNone/>
              <a:defRPr sz="120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>
              <a:buNone/>
            </a:pPr>
            <a:fld id="{8BEEBAAA-29B5-4AF5-BC5F-7E580C29002D}" type="datetimeFigureOut">
              <a:t>10/15/2026</a:t>
            </a:fld>
            <a:endParaRPr/>
          </a:p>
        </p:txBody>
      </p:sp>
      <p:sp>
        <p:nvSpPr>
          <p:cNvPr id="10" name="Espaço Reservado para Rodapé 4">
            <a:extLst>
              <a:ext uri="{FF2B5EF4-FFF2-40B4-BE49-F238E27FC236}">
                <a16:creationId xmlns:a16="http://schemas.microsoft.com/office/drawing/2014/main" id="{AB9CE1BE-CD51-BD42-A659-2F084EB57DE7}"/>
              </a:ext>
            </a:extLst>
          </p:cNvPr>
          <p:cNvSpPr>
            <a:spLocks noGrp="1"/>
          </p:cNvSpPr>
          <p:nvPr>
            <p:ph type="ftr" idx="3"/>
          </p:nvPr>
        </p:nvSpPr>
        <p:spPr>
          <a:xfrm>
            <a:off x="4648200" y="6203952"/>
            <a:ext cx="28956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ctr">
              <a:buNone/>
              <a:defRPr sz="120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>
              <a:buNone/>
            </a:pPr>
            <a:endParaRPr/>
          </a:p>
        </p:txBody>
      </p:sp>
      <p:sp>
        <p:nvSpPr>
          <p:cNvPr id="11" name="Espaço Reservado para o Número do Slide 5">
            <a:extLst>
              <a:ext uri="{FF2B5EF4-FFF2-40B4-BE49-F238E27FC236}">
                <a16:creationId xmlns:a16="http://schemas.microsoft.com/office/drawing/2014/main" id="{F2707C4E-5419-8141-80B3-E4B112655C23}"/>
              </a:ext>
            </a:extLst>
          </p:cNvPr>
          <p:cNvSpPr>
            <a:spLocks noGrp="1"/>
          </p:cNvSpPr>
          <p:nvPr>
            <p:ph type="sldNum" idx="4"/>
          </p:nvPr>
        </p:nvSpPr>
        <p:spPr>
          <a:xfrm>
            <a:off x="8371926" y="6203952"/>
            <a:ext cx="32766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r">
              <a:buNone/>
              <a:defRPr sz="120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>
              <a:buNone/>
            </a:pPr>
            <a:fld id="{9860EDB8-5305-433F-BE41-D7A86D811DB3}" type="slidenum">
              <a:t>‹#›</a:t>
            </a:fld>
            <a:endParaRPr/>
          </a:p>
        </p:txBody>
      </p:sp>
      <p:sp>
        <p:nvSpPr>
          <p:cNvPr id="12" name="Conector Reto 11">
            <a:extLst>
              <a:ext uri="{FF2B5EF4-FFF2-40B4-BE49-F238E27FC236}">
                <a16:creationId xmlns:a16="http://schemas.microsoft.com/office/drawing/2014/main" id="{897861EF-5F9B-426E-8A73-3A85D1728B77}"/>
              </a:ext>
            </a:extLst>
          </p:cNvPr>
          <p:cNvSpPr>
            <a:spLocks noGrp="1"/>
          </p:cNvSpPr>
          <p:nvPr/>
        </p:nvSpPr>
        <p:spPr>
          <a:xfrm>
            <a:off x="533400" y="1104900"/>
            <a:ext cx="11119104" cy="0"/>
          </a:xfrm>
          <a:prstGeom prst="line">
            <a:avLst/>
          </a:prstGeom>
          <a:ln w="25400">
            <a:solidFill>
              <a:srgbClr val="D2472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3" name="Título 1">
            <a:extLst>
              <a:ext uri="{FF2B5EF4-FFF2-40B4-BE49-F238E27FC236}">
                <a16:creationId xmlns:a16="http://schemas.microsoft.com/office/drawing/2014/main" id="{2AC75DAD-32BC-CC41-8DF4-9E68DB31CF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430609"/>
            <a:ext cx="9146972" cy="640080"/>
          </a:xfrm>
          <a:prstGeom prst="rect">
            <a:avLst/>
          </a:prstGeom>
        </p:spPr>
        <p:txBody>
          <a:bodyPr>
            <a:normAutofit/>
          </a:bodyPr>
          <a:lstStyle>
            <a:lvl1pPr>
              <a:buNone/>
              <a:defRPr sz="2800"/>
            </a:lvl1pPr>
          </a:lstStyle>
          <a:p>
            <a:pPr>
              <a:buNone/>
            </a:pPr>
            <a:r>
              <a:t>Clique para editar o estilo de título Mestre</a:t>
            </a:r>
          </a:p>
        </p:txBody>
      </p:sp>
    </p:spTree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F82A43F-BE0A-4C1D-82DF-A3B3CCA879CF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5BCAD085-E8A6-8845-BD4E-CB4CCA059FC4}" type="datetimeFigureOut">
              <a:t>10/15/2026</a:t>
            </a:fld>
            <a:endParaRPr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922C7E8-B155-486E-B3F2-A5D7B5E9201A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051F151-A658-42A7-9522-8A3F074A6B6C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C1FF6DA9-008F-8B48-92A6-B652298478BF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hyperlink" Target="https://lawrence.eti.br/" TargetMode="External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" Target="slide7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slide" Target="slide6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'1.0' encoding='UTF-8' standalone='yes'?>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manus.im/share/BjEY8DMT0VCjYXyg96TCKf" TargetMode="Externa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hyperlink" Target="https://claude.com/product/cowork" TargetMode="External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4.xml"/><Relationship Id="rId5" Type="http://schemas.openxmlformats.org/officeDocument/2006/relationships/hyperlink" Target="https://learn.microsoft.com/pt-br/microsoft-365/copilot/cowork/" TargetMode="External"/><Relationship Id="rId4" Type="http://schemas.openxmlformats.org/officeDocument/2006/relationships/hyperlink" Target="https://chatgpt.com/pt-BR/work/" TargetMode="External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hyperlink" Target="https://x.ai/bot" TargetMode="External"/><Relationship Id="rId13" Type="http://schemas.openxmlformats.org/officeDocument/2006/relationships/image" Target="../media/image14.png"/><Relationship Id="rId3" Type="http://schemas.openxmlformats.org/officeDocument/2006/relationships/hyperlink" Target="https://openclaw.ai/favicon.svg" TargetMode="External"/><Relationship Id="rId7" Type="http://schemas.openxmlformats.org/officeDocument/2006/relationships/hyperlink" Target="https://openai.com/index/introducing-dots/" TargetMode="External"/><Relationship Id="rId12" Type="http://schemas.openxmlformats.org/officeDocument/2006/relationships/image" Target="../media/image13.jpe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0.png"/><Relationship Id="rId11" Type="http://schemas.openxmlformats.org/officeDocument/2006/relationships/image" Target="../media/image12.jpeg"/><Relationship Id="rId5" Type="http://schemas.openxmlformats.org/officeDocument/2006/relationships/hyperlink" Target="https://about.fb.com/news/2026/09/introducing-muse-personal-ai-agent/" TargetMode="External"/><Relationship Id="rId15" Type="http://schemas.openxmlformats.org/officeDocument/2006/relationships/image" Target="../media/image16.png"/><Relationship Id="rId10" Type="http://schemas.openxmlformats.org/officeDocument/2006/relationships/hyperlink" Target="https://play.google.com/store/apps/details?id=tech.butterfly.app" TargetMode="External"/><Relationship Id="rId4" Type="http://schemas.openxmlformats.org/officeDocument/2006/relationships/hyperlink" Target="https://web-assets.nousresearch.com/portal/6bc387fa746a094b1a580922ce43bfd82dd243a2/assets/hermes-landing/teams/hermes-wing.svg" TargetMode="External"/><Relationship Id="rId9" Type="http://schemas.openxmlformats.org/officeDocument/2006/relationships/image" Target="../media/image11.png"/><Relationship Id="rId14" Type="http://schemas.openxmlformats.org/officeDocument/2006/relationships/image" Target="../media/image15.jpe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4.xml"/></Relationships>
</file>

<file path=ppt/slides/_rels/slide15.xml.rels><?xml version='1.0' encoding='UTF-8' standalone='yes'?>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github.com/LawrenceTeixeira/Secretariado/archive/refs/heads/main.zip" TargetMode="Externa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hyperlink" Target="https://x.ai/bot" TargetMode="External"/><Relationship Id="rId13" Type="http://schemas.openxmlformats.org/officeDocument/2006/relationships/hyperlink" Target="https://zapier.com/agents" TargetMode="External"/><Relationship Id="rId3" Type="http://schemas.openxmlformats.org/officeDocument/2006/relationships/hyperlink" Target="https://chatgpt.com/" TargetMode="External"/><Relationship Id="rId7" Type="http://schemas.openxmlformats.org/officeDocument/2006/relationships/hyperlink" Target="https://muse.ai/" TargetMode="External"/><Relationship Id="rId12" Type="http://schemas.openxmlformats.org/officeDocument/2006/relationships/hyperlink" Target="https://gamma.app/" TargetMode="External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chatgpt.com/features/dots/" TargetMode="External"/><Relationship Id="rId11" Type="http://schemas.openxmlformats.org/officeDocument/2006/relationships/hyperlink" Target="https://fireflies.ai/" TargetMode="External"/><Relationship Id="rId5" Type="http://schemas.openxmlformats.org/officeDocument/2006/relationships/hyperlink" Target="https://gemini.google.com/" TargetMode="External"/><Relationship Id="rId10" Type="http://schemas.openxmlformats.org/officeDocument/2006/relationships/hyperlink" Target="https://copilot.com/" TargetMode="External"/><Relationship Id="rId4" Type="http://schemas.openxmlformats.org/officeDocument/2006/relationships/hyperlink" Target="https://claude.ai/" TargetMode="External"/><Relationship Id="rId9" Type="http://schemas.openxmlformats.org/officeDocument/2006/relationships/hyperlink" Target="https://notebook.google.com/" TargetMode="External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hyperlink" Target="https://www.anthropic.com/economic-index" TargetMode="External"/><Relationship Id="rId13" Type="http://schemas.openxmlformats.org/officeDocument/2006/relationships/hyperlink" Target="https://lawrence.eti.br/" TargetMode="External"/><Relationship Id="rId3" Type="http://schemas.openxmlformats.org/officeDocument/2006/relationships/hyperlink" Target="https://help.openai.com/" TargetMode="External"/><Relationship Id="rId7" Type="http://schemas.openxmlformats.org/officeDocument/2006/relationships/hyperlink" Target="https://modelcontextprotocol.io/" TargetMode="External"/><Relationship Id="rId12" Type="http://schemas.openxmlformats.org/officeDocument/2006/relationships/hyperlink" Target="https://cheatsheetseries.owasp.org/cheatsheets/AI_Agent_Security_Cheat_Sheet.html" TargetMode="External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agentskills.io/" TargetMode="External"/><Relationship Id="rId11" Type="http://schemas.openxmlformats.org/officeDocument/2006/relationships/hyperlink" Target="https://www.weforum.org/publications/the-future-of-jobs-report-2025/" TargetMode="External"/><Relationship Id="rId5" Type="http://schemas.openxmlformats.org/officeDocument/2006/relationships/hyperlink" Target="https://gemini.google.com/updates" TargetMode="External"/><Relationship Id="rId10" Type="http://schemas.openxmlformats.org/officeDocument/2006/relationships/hyperlink" Target="https://cetic.br/" TargetMode="External"/><Relationship Id="rId4" Type="http://schemas.openxmlformats.org/officeDocument/2006/relationships/hyperlink" Target="https://support.claude.com/" TargetMode="External"/><Relationship Id="rId9" Type="http://schemas.openxmlformats.org/officeDocument/2006/relationships/hyperlink" Target="https://metr.org/" TargetMode="External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hyperlink" Target="https://x.com/sama/status/1599668808285028353" TargetMode="External"/><Relationship Id="rId13" Type="http://schemas.openxmlformats.org/officeDocument/2006/relationships/hyperlink" Target="https://cetic.br/pt/noticia/50-milhoes-de-brasileiros-ja-usam-ia-mas-potenciais-beneficios-continuam-limitados-as-camadas-de-maior-renda-e-escolaridade/" TargetMode="External"/><Relationship Id="rId18" Type="http://schemas.openxmlformats.org/officeDocument/2006/relationships/hyperlink" Target="https://huggingface.co/datasets/Anthropic/EconomicIndex/blob/main/release_2026_06_26/data/aei_claude_ai_2026-06-26.csv" TargetMode="External"/><Relationship Id="rId3" Type="http://schemas.openxmlformats.org/officeDocument/2006/relationships/hyperlink" Target="https://www.gartner.com/en/newsroom/press-releases/2026-09-16-gartner-forecasts-worldwide-ai-spending-to-grow-49-point-5-percent-in-2026" TargetMode="External"/><Relationship Id="rId7" Type="http://schemas.openxmlformats.org/officeDocument/2006/relationships/hyperlink" Target="https://blog.google/innovation-and-ai/products/gemini-app/one-billion-monthly-users/" TargetMode="External"/><Relationship Id="rId12" Type="http://schemas.openxmlformats.org/officeDocument/2006/relationships/hyperlink" Target="https://openai.com/global-affairs/brazil-ai-moment-is-here/" TargetMode="External"/><Relationship Id="rId17" Type="http://schemas.openxmlformats.org/officeDocument/2006/relationships/hyperlink" Target="https://www.anthropic.com/research/economic-index-june-2026-report" TargetMode="External"/><Relationship Id="rId2" Type="http://schemas.openxmlformats.org/officeDocument/2006/relationships/notesSlide" Target="../notesSlides/notesSlide20.xml"/><Relationship Id="rId16" Type="http://schemas.openxmlformats.org/officeDocument/2006/relationships/hyperlink" Target="https://www.weforum.org/publications/the-future-of-jobs-report-2025/in-full/2-jobs-outlook/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openai.com/index/scaling-ai-for-everyone/" TargetMode="External"/><Relationship Id="rId11" Type="http://schemas.openxmlformats.org/officeDocument/2006/relationships/hyperlink" Target="https://openai.com/index/expanding-our-presence-in-brazil/" TargetMode="External"/><Relationship Id="rId5" Type="http://schemas.openxmlformats.org/officeDocument/2006/relationships/hyperlink" Target="https://www.marketsandmarkets.com/PressReleases/ai-agents.asp" TargetMode="External"/><Relationship Id="rId15" Type="http://schemas.openxmlformats.org/officeDocument/2006/relationships/hyperlink" Target="https://cetic.br/pt/noticia/ia-esta-presente-em-seis-de-cada-dez-orgaos-publicos-federais-e-estaduais-e-chega-a-94-no-judiciario-aponta-tic-governo/" TargetMode="External"/><Relationship Id="rId10" Type="http://schemas.openxmlformats.org/officeDocument/2006/relationships/hyperlink" Target="https://techcrunch.com/2025/10/06/sam-altman-says-chatgpt-has-hit-800m-weekly-active-users" TargetMode="External"/><Relationship Id="rId4" Type="http://schemas.openxmlformats.org/officeDocument/2006/relationships/hyperlink" Target="https://www.gartner.com/en/newsroom/press-releases/2025-08-26-gartner-predicts-40-percent-of-enterprise-apps-will-feature-task-specific-ai-agents-by-2026-up-from-less-than-5-percent-in-2025" TargetMode="External"/><Relationship Id="rId9" Type="http://schemas.openxmlformats.org/officeDocument/2006/relationships/hyperlink" Target="https://www.cnbc.com/2025/02/20/openai-tops-400-million-users-despite-deepseeks-emergence.html" TargetMode="External"/><Relationship Id="rId14" Type="http://schemas.openxmlformats.org/officeDocument/2006/relationships/hyperlink" Target="https://cetic.br/pt/noticia/uso-de-inteligencia-artificial-por-empresas-brasileiras-avanca-e-atinge-17-aponta-pesquisa-do-cetic-br/" TargetMode="External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hyperlink" Target="https://blog.google/technology/ai/google-gemini-ai/" TargetMode="External"/><Relationship Id="rId13" Type="http://schemas.openxmlformats.org/officeDocument/2006/relationships/hyperlink" Target="https://www.anthropic.com/news/claude-3-7-sonnet" TargetMode="External"/><Relationship Id="rId3" Type="http://schemas.openxmlformats.org/officeDocument/2006/relationships/hyperlink" Target="https://arxiv.org/abs/1706.03762" TargetMode="External"/><Relationship Id="rId7" Type="http://schemas.openxmlformats.org/officeDocument/2006/relationships/hyperlink" Target="https://www.anthropic.com/news/introducing-claude" TargetMode="External"/><Relationship Id="rId12" Type="http://schemas.openxmlformats.org/officeDocument/2006/relationships/hyperlink" Target="https://www.anthropic.com/news/model-context-protocol" TargetMode="External"/><Relationship Id="rId17" Type="http://schemas.openxmlformats.org/officeDocument/2006/relationships/hyperlink" Target="https://darioamodei.com/post/we-must-pace-the-frontier" TargetMode="External"/><Relationship Id="rId2" Type="http://schemas.openxmlformats.org/officeDocument/2006/relationships/notesSlide" Target="../notesSlides/notesSlide21.xml"/><Relationship Id="rId16" Type="http://schemas.openxmlformats.org/officeDocument/2006/relationships/hyperlink" Target="https://openai.com/index/hugging-face-model-evaluation-security-incident/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openai.com/index/gpt-4-research/" TargetMode="External"/><Relationship Id="rId11" Type="http://schemas.openxmlformats.org/officeDocument/2006/relationships/hyperlink" Target="https://www.anthropic.com/news/3-5-models-and-computer-use" TargetMode="External"/><Relationship Id="rId5" Type="http://schemas.openxmlformats.org/officeDocument/2006/relationships/hyperlink" Target="https://openai.com/index/chatgpt/" TargetMode="External"/><Relationship Id="rId15" Type="http://schemas.openxmlformats.org/officeDocument/2006/relationships/hyperlink" Target="https://openai.com/index/introducing-gpt-5/" TargetMode="External"/><Relationship Id="rId10" Type="http://schemas.openxmlformats.org/officeDocument/2006/relationships/hyperlink" Target="https://openai.com/index/hello-gpt-4o/" TargetMode="External"/><Relationship Id="rId4" Type="http://schemas.openxmlformats.org/officeDocument/2006/relationships/hyperlink" Target="https://arxiv.org/abs/2005.14165" TargetMode="External"/><Relationship Id="rId9" Type="http://schemas.openxmlformats.org/officeDocument/2006/relationships/hyperlink" Target="https://www.europarl.europa.eu/news/en/press-room/20231206IPR15699/artificial-intelligence-act-deal-on-comprehensive-rules-for-trustworthy-ai" TargetMode="External"/><Relationship Id="rId14" Type="http://schemas.openxmlformats.org/officeDocument/2006/relationships/hyperlink" Target="https://openai.com/index/introducing-chatgpt-agent/" TargetMode="External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hyperlink" Target="https://support.claude.com/en/articles/13837440-use-plugins-in-claude" TargetMode="External"/><Relationship Id="rId13" Type="http://schemas.openxmlformats.org/officeDocument/2006/relationships/hyperlink" Target="https://www.anthropic.com/engineering/building-effective-agents" TargetMode="External"/><Relationship Id="rId18" Type="http://schemas.openxmlformats.org/officeDocument/2006/relationships/hyperlink" Target="https://www.nist.gov/itl/ai-risk-management-framework" TargetMode="External"/><Relationship Id="rId3" Type="http://schemas.openxmlformats.org/officeDocument/2006/relationships/hyperlink" Target="https://learn.chatgpt.com/docs/get-started-with-work" TargetMode="External"/><Relationship Id="rId7" Type="http://schemas.openxmlformats.org/officeDocument/2006/relationships/hyperlink" Target="https://support.claude.com/en/articles/16761823-claude-cowork-and-chat-are-one-claude" TargetMode="External"/><Relationship Id="rId12" Type="http://schemas.openxmlformats.org/officeDocument/2006/relationships/hyperlink" Target="https://docs.x.ai/grok-bot/overview" TargetMode="External"/><Relationship Id="rId17" Type="http://schemas.openxmlformats.org/officeDocument/2006/relationships/hyperlink" Target="https://developers.openai.com/api/docs/guides/agent-builder-safety" TargetMode="External"/><Relationship Id="rId2" Type="http://schemas.openxmlformats.org/officeDocument/2006/relationships/notesSlide" Target="../notesSlides/notesSlide22.xml"/><Relationship Id="rId16" Type="http://schemas.openxmlformats.org/officeDocument/2006/relationships/hyperlink" Target="https://cheatsheetseries.owasp.org/cheatsheets/AI_Agent_Security_Cheat_Sheet.html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learn.chatgpt.com/docs/enterprise/skills" TargetMode="External"/><Relationship Id="rId11" Type="http://schemas.openxmlformats.org/officeDocument/2006/relationships/hyperlink" Target="https://about.fb.com/news/2026/09/introducing-muse-personal-ai-agent/" TargetMode="External"/><Relationship Id="rId5" Type="http://schemas.openxmlformats.org/officeDocument/2006/relationships/hyperlink" Target="https://learn.chatgpt.com/docs/skills-and-plugins" TargetMode="External"/><Relationship Id="rId15" Type="http://schemas.openxmlformats.org/officeDocument/2006/relationships/hyperlink" Target="https://metr.org/blog/2025-03-19-measuring-ai-ability-to-complete-long-tasks/" TargetMode="External"/><Relationship Id="rId10" Type="http://schemas.openxmlformats.org/officeDocument/2006/relationships/hyperlink" Target="https://learn.chatgpt.com/docs/dots" TargetMode="External"/><Relationship Id="rId19" Type="http://schemas.openxmlformats.org/officeDocument/2006/relationships/hyperlink" Target="https://learn.microsoft.com/en-us/microsoft-365/copilot/cowork/" TargetMode="External"/><Relationship Id="rId4" Type="http://schemas.openxmlformats.org/officeDocument/2006/relationships/hyperlink" Target="https://learn.chatgpt.com/docs/enterprise/chatgpt-work-overview" TargetMode="External"/><Relationship Id="rId9" Type="http://schemas.openxmlformats.org/officeDocument/2006/relationships/hyperlink" Target="https://support.google.com/gemini/answer/17094507" TargetMode="External"/><Relationship Id="rId14" Type="http://schemas.openxmlformats.org/officeDocument/2006/relationships/hyperlink" Target="https://www.anthropic.com/engineering/effective-context-engineering-for-ai-agents" TargetMode="External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hyperlink" Target="https://www.cnnbrasil.com.br/internacional/trump-diz-que-eua-chamarao-inteligencia-artificial-de-superinteligencia/" TargetMode="External"/><Relationship Id="rId13" Type="http://schemas.openxmlformats.org/officeDocument/2006/relationships/hyperlink" Target="https://blogdoibre.fgv.br/posts/inteligencia-artificial-e-mercado-de-trabalho-0" TargetMode="External"/><Relationship Id="rId18" Type="http://schemas.openxmlformats.org/officeDocument/2006/relationships/hyperlink" Target="https://www.gartner.com/en/newsroom/press-releases/2025-08-26-gartner-predicts-40-percent-of-enterprise-apps-will-feature-task-specific-ai-agents-by-2026-up-from-less-than-5-percent-in-2025" TargetMode="External"/><Relationship Id="rId3" Type="http://schemas.openxmlformats.org/officeDocument/2006/relationships/hyperlink" Target="https://www.whitehouse.gov/presidential-actions/2026/09/inaugurating-the-era-of-super-intelligence/" TargetMode="External"/><Relationship Id="rId7" Type="http://schemas.openxmlformats.org/officeDocument/2006/relationships/hyperlink" Target="https://apnews.com/article/trump-super-intelligence-rebrand-ai-diplomats-02123c7bf18c692a12b2b3e3b9ce30c5" TargetMode="External"/><Relationship Id="rId12" Type="http://schemas.openxmlformats.org/officeDocument/2006/relationships/hyperlink" Target="https://brasil.un.org/pt-br/294685-oit-um-em-cada-quatro-empregos-corre-o-risco-de-ser-transformado-pela-ia-generativa" TargetMode="External"/><Relationship Id="rId17" Type="http://schemas.openxmlformats.org/officeDocument/2006/relationships/hyperlink" Target="https://www.weforum.org/publications/the-future-of-jobs-report-2025/in-full/2-jobs-outlook/" TargetMode="External"/><Relationship Id="rId2" Type="http://schemas.openxmlformats.org/officeDocument/2006/relationships/notesSlide" Target="../notesSlides/notesSlide23.xml"/><Relationship Id="rId16" Type="http://schemas.openxmlformats.org/officeDocument/2006/relationships/hyperlink" Target="https://www.anthropic.com/economic-index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gadebate.un.org/en/81/united-states-america" TargetMode="External"/><Relationship Id="rId11" Type="http://schemas.openxmlformats.org/officeDocument/2006/relationships/hyperlink" Target="https://www.ilo.org/publications/generative-ai-and-jobs-refined-global-index-occupational-exposure" TargetMode="External"/><Relationship Id="rId5" Type="http://schemas.openxmlformats.org/officeDocument/2006/relationships/hyperlink" Target="https://www.govinfo.gov/content/pkg/FR-2026-10-02/pdf/2026-20321.pdf" TargetMode="External"/><Relationship Id="rId15" Type="http://schemas.openxmlformats.org/officeDocument/2006/relationships/hyperlink" Target="https://www.microsoft.com/en-us/worklab/work-trend-index/agents-human-agency-and-the-opportunity-for-every-organization" TargetMode="External"/><Relationship Id="rId10" Type="http://schemas.openxmlformats.org/officeDocument/2006/relationships/hyperlink" Target="https://deepmind.google/research/publications/239142/" TargetMode="External"/><Relationship Id="rId4" Type="http://schemas.openxmlformats.org/officeDocument/2006/relationships/hyperlink" Target="https://www.whitehouse.gov/fact-sheets/2026/09/fact-sheet-president-donald-j-trump-inaugurates-the-era-of-super-intelligence/" TargetMode="External"/><Relationship Id="rId9" Type="http://schemas.openxmlformats.org/officeDocument/2006/relationships/hyperlink" Target="https://www.ibm.com/think/topics/artificial-intelligence" TargetMode="External"/><Relationship Id="rId14" Type="http://schemas.openxmlformats.org/officeDocument/2006/relationships/hyperlink" Target="https://www.bls.gov/ooh/office-and-administrative-support/secretaries-and-administrative-assistants.htm" TargetMode="Externa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Imagem 8"/>
          <p:cNvPicPr>
            <a:picLocks noChangeAspect="1"/>
          </p:cNvPicPr>
          <p:nvPr/>
        </p:nvPicPr>
        <p:blipFill>
          <a:blip r:embed="rId3"/>
          <a:srcRect l="10691" r="10691"/>
          <a:stretch>
            <a:fillRect/>
          </a:stretch>
        </p:blipFill>
        <p:spPr>
          <a:xfrm>
            <a:off x="7877175" y="0"/>
            <a:ext cx="4314825" cy="6858000"/>
          </a:xfrm>
          <a:prstGeom prst="rect">
            <a:avLst/>
          </a:prstGeom>
        </p:spPr>
      </p:pic>
      <p:sp>
        <p:nvSpPr>
          <p:cNvPr id="2" name="Retângulo 1">
            <a:extLst>
              <a:ext uri="{FF2B5EF4-FFF2-40B4-BE49-F238E27FC236}">
                <a16:creationId xmlns:a16="http://schemas.microsoft.com/office/drawing/2014/main" id="{E48A55F7-EAF2-499A-B685-D00C51D7A640}"/>
              </a:ext>
            </a:extLst>
          </p:cNvPr>
          <p:cNvSpPr>
            <a:spLocks noGrp="1"/>
          </p:cNvSpPr>
          <p:nvPr/>
        </p:nvSpPr>
        <p:spPr>
          <a:xfrm>
            <a:off x="609600" y="561975"/>
            <a:ext cx="6762750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 algn="l">
              <a:buNone/>
              <a:defRPr sz="1950" b="1">
                <a:solidFill>
                  <a:srgbClr val="D6482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950" b="1">
                <a:solidFill>
                  <a:srgbClr val="D64826"/>
                </a:solidFill>
                <a:latin typeface="Liberation Sans"/>
                <a:ea typeface="Liberation Sans"/>
                <a:cs typeface="Liberation Sans"/>
              </a:rPr>
              <a:t>Secretariado Sob Medida</a:t>
            </a:r>
          </a:p>
        </p:txBody>
      </p:sp>
      <p:sp>
        <p:nvSpPr>
          <p:cNvPr id="3" name="Retângulo 2">
            <a:extLst>
              <a:ext uri="{FF2B5EF4-FFF2-40B4-BE49-F238E27FC236}">
                <a16:creationId xmlns:a16="http://schemas.microsoft.com/office/drawing/2014/main" id="{9D84E792-EE7C-419D-91E5-FF4F0C64188D}"/>
              </a:ext>
            </a:extLst>
          </p:cNvPr>
          <p:cNvSpPr>
            <a:spLocks noGrp="1"/>
          </p:cNvSpPr>
          <p:nvPr/>
        </p:nvSpPr>
        <p:spPr>
          <a:xfrm>
            <a:off x="609600" y="1524000"/>
            <a:ext cx="7096125" cy="1905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 algn="l">
              <a:buNone/>
              <a:defRPr sz="5925" b="1">
                <a:solidFill>
                  <a:srgbClr val="232322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5925" b="1">
                <a:solidFill>
                  <a:srgbClr val="232322"/>
                </a:solidFill>
                <a:latin typeface="Liberation Sans"/>
                <a:ea typeface="Liberation Sans"/>
                <a:cs typeface="Liberation Sans"/>
              </a:rPr>
              <a:t>Agentes de IA</a:t>
            </a:r>
          </a:p>
          <a:p>
            <a:pPr algn="l">
              <a:buNone/>
              <a:defRPr sz="5925" b="1">
                <a:solidFill>
                  <a:srgbClr val="232322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5925" b="1">
                <a:solidFill>
                  <a:srgbClr val="232322"/>
                </a:solidFill>
                <a:latin typeface="Liberation Sans"/>
                <a:ea typeface="Liberation Sans"/>
                <a:cs typeface="Liberation Sans"/>
              </a:rPr>
              <a:t>na prática</a:t>
            </a:r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F9B4C02C-3D8C-4147-8207-D7A40529A15C}"/>
              </a:ext>
            </a:extLst>
          </p:cNvPr>
          <p:cNvSpPr>
            <a:spLocks noGrp="1"/>
          </p:cNvSpPr>
          <p:nvPr/>
        </p:nvSpPr>
        <p:spPr>
          <a:xfrm>
            <a:off x="647700" y="3629025"/>
            <a:ext cx="6858000" cy="5429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 algn="l">
              <a:buNone/>
              <a:defRPr sz="2400" b="0">
                <a:solidFill>
                  <a:srgbClr val="666660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2400" b="0">
                <a:solidFill>
                  <a:srgbClr val="666660"/>
                </a:solidFill>
                <a:latin typeface="Liberation Sans"/>
                <a:ea typeface="Liberation Sans"/>
                <a:cs typeface="Liberation Sans"/>
              </a:rPr>
              <a:t>Como delegar e conferir o trabalho</a:t>
            </a:r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127FA39D-29F8-4F6B-93FB-1DA93E2028D2}"/>
              </a:ext>
            </a:extLst>
          </p:cNvPr>
          <p:cNvSpPr>
            <a:spLocks noGrp="1"/>
          </p:cNvSpPr>
          <p:nvPr/>
        </p:nvSpPr>
        <p:spPr>
          <a:xfrm>
            <a:off x="647700" y="4562475"/>
            <a:ext cx="6667500" cy="4286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 algn="l">
              <a:buNone/>
              <a:defRPr sz="2550" b="1">
                <a:solidFill>
                  <a:srgbClr val="232322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2550" b="1">
                <a:solidFill>
                  <a:srgbClr val="232322"/>
                </a:solidFill>
                <a:latin typeface="Liberation Sans"/>
                <a:ea typeface="Liberation Sans"/>
                <a:cs typeface="Liberation Sans"/>
              </a:rPr>
              <a:t>Lawrence Teixeira</a:t>
            </a:r>
          </a:p>
        </p:txBody>
      </p:sp>
      <p:sp>
        <p:nvSpPr>
          <p:cNvPr id="6" name="Retângulo 5">
            <a:extLst>
              <a:ext uri="{FF2B5EF4-FFF2-40B4-BE49-F238E27FC236}">
                <a16:creationId xmlns:a16="http://schemas.microsoft.com/office/drawing/2014/main" id="{B776BA87-7910-49C0-8A6D-17135BFF7DE4}"/>
              </a:ext>
            </a:extLst>
          </p:cNvPr>
          <p:cNvSpPr>
            <a:spLocks noGrp="1"/>
          </p:cNvSpPr>
          <p:nvPr/>
        </p:nvSpPr>
        <p:spPr>
          <a:xfrm>
            <a:off x="647700" y="5029200"/>
            <a:ext cx="6762750" cy="3524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 algn="l">
              <a:buNone/>
              <a:defRPr sz="1950" b="0">
                <a:solidFill>
                  <a:srgbClr val="666660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950" b="0">
                <a:solidFill>
                  <a:srgbClr val="666660"/>
                </a:solidFill>
                <a:latin typeface="Liberation Sans"/>
                <a:ea typeface="Liberation Sans"/>
                <a:cs typeface="Liberation Sans"/>
              </a:rPr>
              <a:t>17 de outubro de 2026</a:t>
            </a:r>
          </a:p>
        </p:txBody>
      </p:sp>
    </p:spTree>
    <p:extLst>
      <p:ext uri="{BB962C8B-B14F-4D97-AF65-F5344CB8AC3E}">
        <p14:creationId xmlns:p14="http://schemas.microsoft.com/office/powerpoint/2010/main" val="193054486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Lawrence Teixeira">
            <a:extLst>
              <a:ext uri="{FF2B5EF4-FFF2-40B4-BE49-F238E27FC236}">
                <a16:creationId xmlns:a16="http://schemas.microsoft.com/office/drawing/2014/main" id="{75C2BDB9-93EA-4C90-B3F5-F3A9E73E27A5}"/>
              </a:ext>
            </a:extLst>
          </p:cNvPr>
          <p:cNvSpPr>
            <a:spLocks noGrp="1"/>
          </p:cNvSpPr>
          <p:nvPr/>
        </p:nvSpPr>
        <p:spPr>
          <a:xfrm>
            <a:off x="609600" y="419100"/>
            <a:ext cx="10972800" cy="685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  <a:defRPr sz="3450" b="1" i="0">
                <a:solidFill>
                  <a:srgbClr val="232322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3450" b="1" i="0">
                <a:solidFill>
                  <a:srgbClr val="232322"/>
                </a:solidFill>
                <a:latin typeface="Liberation Sans"/>
                <a:ea typeface="Liberation Sans"/>
                <a:cs typeface="Liberation Sans"/>
              </a:rPr>
              <a:t>Lawrence Teixeira</a:t>
            </a:r>
          </a:p>
        </p:txBody>
      </p:sp>
      <p:sp>
        <p:nvSpPr>
          <p:cNvPr id="2" name="Tecnologia aplicada ao trabalho">
            <a:extLst>
              <a:ext uri="{FF2B5EF4-FFF2-40B4-BE49-F238E27FC236}">
                <a16:creationId xmlns:a16="http://schemas.microsoft.com/office/drawing/2014/main" id="{CB7002EE-AA29-4A42-A627-CE8D56C5387A}"/>
              </a:ext>
            </a:extLst>
          </p:cNvPr>
          <p:cNvSpPr>
            <a:spLocks noGrp="1"/>
          </p:cNvSpPr>
          <p:nvPr/>
        </p:nvSpPr>
        <p:spPr>
          <a:xfrm>
            <a:off x="609600" y="1343025"/>
            <a:ext cx="10382250" cy="476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  <a:defRPr sz="2250" b="1" i="0">
                <a:solidFill>
                  <a:srgbClr val="D6482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2250" b="1" i="0">
                <a:solidFill>
                  <a:srgbClr val="D64826"/>
                </a:solidFill>
                <a:latin typeface="Liberation Sans"/>
                <a:ea typeface="Liberation Sans"/>
                <a:cs typeface="Liberation Sans"/>
              </a:rPr>
              <a:t>Tecnologia aplicada ao trabalho</a:t>
            </a:r>
          </a:p>
        </p:txBody>
      </p:sp>
      <p:sp>
        <p:nvSpPr>
          <p:cNvPr id="3" name="30+">
            <a:extLst>
              <a:ext uri="{FF2B5EF4-FFF2-40B4-BE49-F238E27FC236}">
                <a16:creationId xmlns:a16="http://schemas.microsoft.com/office/drawing/2014/main" id="{6F469A45-CE4B-41C2-9A97-847FF51CFF3D}"/>
              </a:ext>
            </a:extLst>
          </p:cNvPr>
          <p:cNvSpPr>
            <a:spLocks noGrp="1"/>
          </p:cNvSpPr>
          <p:nvPr/>
        </p:nvSpPr>
        <p:spPr>
          <a:xfrm>
            <a:off x="609600" y="2004114"/>
            <a:ext cx="2714625" cy="12001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  <a:defRPr sz="7350" b="1" i="0">
                <a:solidFill>
                  <a:srgbClr val="D6482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7350" b="1" i="0">
                <a:solidFill>
                  <a:srgbClr val="D64826"/>
                </a:solidFill>
                <a:latin typeface="Liberation Sans"/>
                <a:ea typeface="Liberation Sans"/>
                <a:cs typeface="Liberation Sans"/>
              </a:rPr>
              <a:t>30+</a:t>
            </a:r>
          </a:p>
        </p:txBody>
      </p:sp>
      <p:sp>
        <p:nvSpPr>
          <p:cNvPr id="4" name="anos em tecnologia&#10;da informação">
            <a:extLst>
              <a:ext uri="{FF2B5EF4-FFF2-40B4-BE49-F238E27FC236}">
                <a16:creationId xmlns:a16="http://schemas.microsoft.com/office/drawing/2014/main" id="{D4A1801A-9D58-4021-84C2-F1693CC5C050}"/>
              </a:ext>
            </a:extLst>
          </p:cNvPr>
          <p:cNvSpPr>
            <a:spLocks noGrp="1"/>
          </p:cNvSpPr>
          <p:nvPr/>
        </p:nvSpPr>
        <p:spPr>
          <a:xfrm>
            <a:off x="609600" y="3053684"/>
            <a:ext cx="2857500" cy="971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  <a:defRPr sz="2325" b="1" i="0">
                <a:solidFill>
                  <a:srgbClr val="232322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2325" b="1" i="0">
                <a:solidFill>
                  <a:srgbClr val="232322"/>
                </a:solidFill>
                <a:latin typeface="Liberation Sans"/>
                <a:ea typeface="Liberation Sans"/>
                <a:cs typeface="Liberation Sans"/>
              </a:rPr>
              <a:t>anos em tecnologia</a:t>
            </a:r>
          </a:p>
          <a:p>
            <a:pPr algn="l">
              <a:buNone/>
              <a:defRPr sz="2325" b="1" i="0">
                <a:solidFill>
                  <a:srgbClr val="232322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2325" b="1" i="0">
                <a:solidFill>
                  <a:srgbClr val="232322"/>
                </a:solidFill>
                <a:latin typeface="Liberation Sans"/>
                <a:ea typeface="Liberation Sans"/>
                <a:cs typeface="Liberation Sans"/>
              </a:rPr>
              <a:t>da informação</a:t>
            </a:r>
          </a:p>
        </p:txBody>
      </p:sp>
      <p:sp>
        <p:nvSpPr>
          <p:cNvPr id="5" name="Transformação digital,&#10;IA e automação, dados e BI">
            <a:extLst>
              <a:ext uri="{FF2B5EF4-FFF2-40B4-BE49-F238E27FC236}">
                <a16:creationId xmlns:a16="http://schemas.microsoft.com/office/drawing/2014/main" id="{984070B2-FE9E-4C9A-9AE8-DB4C6491C5B8}"/>
              </a:ext>
            </a:extLst>
          </p:cNvPr>
          <p:cNvSpPr>
            <a:spLocks noGrp="1"/>
          </p:cNvSpPr>
          <p:nvPr/>
        </p:nvSpPr>
        <p:spPr>
          <a:xfrm>
            <a:off x="609600" y="4002520"/>
            <a:ext cx="3524250" cy="1085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  <a:defRPr sz="2025" b="0" i="0">
                <a:solidFill>
                  <a:srgbClr val="666660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2025" b="0" i="0">
                <a:solidFill>
                  <a:srgbClr val="666660"/>
                </a:solidFill>
                <a:latin typeface="Liberation Sans"/>
                <a:ea typeface="Liberation Sans"/>
                <a:cs typeface="Liberation Sans"/>
              </a:rPr>
              <a:t>Transformação digital,</a:t>
            </a:r>
          </a:p>
          <a:p>
            <a:pPr algn="l">
              <a:buNone/>
              <a:defRPr sz="2025" b="0" i="0">
                <a:solidFill>
                  <a:srgbClr val="666660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2025" b="0" i="0">
                <a:solidFill>
                  <a:srgbClr val="666660"/>
                </a:solidFill>
                <a:latin typeface="Liberation Sans"/>
                <a:ea typeface="Liberation Sans"/>
                <a:cs typeface="Liberation Sans"/>
              </a:rPr>
              <a:t>IA e automação, dados e BI</a:t>
            </a:r>
          </a:p>
        </p:txBody>
      </p:sp>
      <p:sp>
        <p:nvSpPr>
          <p:cNvPr id="6" name="CTO e IT System Director">
            <a:extLst>
              <a:ext uri="{FF2B5EF4-FFF2-40B4-BE49-F238E27FC236}">
                <a16:creationId xmlns:a16="http://schemas.microsoft.com/office/drawing/2014/main" id="{4C9649E3-6560-4CD1-A90E-1CFA50438C1F}"/>
              </a:ext>
            </a:extLst>
          </p:cNvPr>
          <p:cNvSpPr>
            <a:spLocks noGrp="1"/>
          </p:cNvSpPr>
          <p:nvPr/>
        </p:nvSpPr>
        <p:spPr>
          <a:xfrm>
            <a:off x="4762500" y="2085975"/>
            <a:ext cx="6800850" cy="3524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  <a:defRPr sz="1950" b="1" i="0">
                <a:solidFill>
                  <a:srgbClr val="D6482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950" b="1" i="0">
                <a:solidFill>
                  <a:srgbClr val="D64826"/>
                </a:solidFill>
                <a:latin typeface="Liberation Sans"/>
                <a:ea typeface="Liberation Sans"/>
                <a:cs typeface="Liberation Sans"/>
              </a:rPr>
              <a:t>CTO e IT System Director</a:t>
            </a:r>
          </a:p>
        </p:txBody>
      </p:sp>
      <p:sp>
        <p:nvSpPr>
          <p:cNvPr id="7" name="Licks Attorneys, desde 2018">
            <a:extLst>
              <a:ext uri="{FF2B5EF4-FFF2-40B4-BE49-F238E27FC236}">
                <a16:creationId xmlns:a16="http://schemas.microsoft.com/office/drawing/2014/main" id="{F85A7126-B074-4D01-8898-1E5FCA5A95AC}"/>
              </a:ext>
            </a:extLst>
          </p:cNvPr>
          <p:cNvSpPr>
            <a:spLocks noGrp="1"/>
          </p:cNvSpPr>
          <p:nvPr/>
        </p:nvSpPr>
        <p:spPr>
          <a:xfrm>
            <a:off x="4762500" y="2457450"/>
            <a:ext cx="6800850" cy="5048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  <a:defRPr sz="1875" b="0" i="0">
                <a:solidFill>
                  <a:srgbClr val="232322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875" b="0" i="0">
                <a:solidFill>
                  <a:srgbClr val="232322"/>
                </a:solidFill>
                <a:latin typeface="Liberation Sans"/>
                <a:ea typeface="Liberation Sans"/>
                <a:cs typeface="Liberation Sans"/>
              </a:rPr>
              <a:t>Licks Attorneys, desde 2018</a:t>
            </a:r>
          </a:p>
        </p:txBody>
      </p:sp>
      <p:sp>
        <p:nvSpPr>
          <p:cNvPr id="8" name="Trajetória de liderança">
            <a:extLst>
              <a:ext uri="{FF2B5EF4-FFF2-40B4-BE49-F238E27FC236}">
                <a16:creationId xmlns:a16="http://schemas.microsoft.com/office/drawing/2014/main" id="{2A29749F-ACAC-4C5E-B998-68361DCCB9B8}"/>
              </a:ext>
            </a:extLst>
          </p:cNvPr>
          <p:cNvSpPr>
            <a:spLocks noGrp="1"/>
          </p:cNvSpPr>
          <p:nvPr/>
        </p:nvSpPr>
        <p:spPr>
          <a:xfrm>
            <a:off x="4762500" y="3038475"/>
            <a:ext cx="6800850" cy="3524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  <a:defRPr sz="1950" b="1" i="0">
                <a:solidFill>
                  <a:srgbClr val="D6482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950" b="1" i="0">
                <a:solidFill>
                  <a:srgbClr val="D64826"/>
                </a:solidFill>
                <a:latin typeface="Liberation Sans"/>
                <a:ea typeface="Liberation Sans"/>
                <a:cs typeface="Liberation Sans"/>
              </a:rPr>
              <a:t>Trajetória de liderança</a:t>
            </a:r>
          </a:p>
        </p:txBody>
      </p:sp>
      <p:sp>
        <p:nvSpPr>
          <p:cNvPr id="9" name="CIO e IT Director na ClarkeModet, 1999–2018">
            <a:extLst>
              <a:ext uri="{FF2B5EF4-FFF2-40B4-BE49-F238E27FC236}">
                <a16:creationId xmlns:a16="http://schemas.microsoft.com/office/drawing/2014/main" id="{68B391F3-3E03-4E6B-86B7-D5A682C3D1FC}"/>
              </a:ext>
            </a:extLst>
          </p:cNvPr>
          <p:cNvSpPr>
            <a:spLocks noGrp="1"/>
          </p:cNvSpPr>
          <p:nvPr/>
        </p:nvSpPr>
        <p:spPr>
          <a:xfrm>
            <a:off x="4762500" y="3409950"/>
            <a:ext cx="6800850" cy="5048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  <a:defRPr sz="1875" b="0" i="0">
                <a:solidFill>
                  <a:srgbClr val="232322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875" b="0" i="0">
                <a:solidFill>
                  <a:srgbClr val="232322"/>
                </a:solidFill>
                <a:latin typeface="Liberation Sans"/>
                <a:ea typeface="Liberation Sans"/>
                <a:cs typeface="Liberation Sans"/>
              </a:rPr>
              <a:t>CIO e IT Director na ClarkeModet, 1999–2018</a:t>
            </a:r>
          </a:p>
        </p:txBody>
      </p:sp>
      <p:sp>
        <p:nvSpPr>
          <p:cNvPr id="10" name="Formação em IA">
            <a:extLst>
              <a:ext uri="{FF2B5EF4-FFF2-40B4-BE49-F238E27FC236}">
                <a16:creationId xmlns:a16="http://schemas.microsoft.com/office/drawing/2014/main" id="{C91D7ECE-3FC6-4D35-A174-29C2555959B2}"/>
              </a:ext>
            </a:extLst>
          </p:cNvPr>
          <p:cNvSpPr>
            <a:spLocks noGrp="1"/>
          </p:cNvSpPr>
          <p:nvPr/>
        </p:nvSpPr>
        <p:spPr>
          <a:xfrm>
            <a:off x="4762500" y="3990975"/>
            <a:ext cx="6800850" cy="3524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  <a:defRPr sz="1950" b="1" i="0">
                <a:solidFill>
                  <a:srgbClr val="D6482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950" b="1" i="0">
                <a:solidFill>
                  <a:srgbClr val="D64826"/>
                </a:solidFill>
                <a:latin typeface="Liberation Sans"/>
                <a:ea typeface="Liberation Sans"/>
                <a:cs typeface="Liberation Sans"/>
              </a:rPr>
              <a:t>Formação em IA</a:t>
            </a:r>
          </a:p>
        </p:txBody>
      </p:sp>
      <p:sp>
        <p:nvSpPr>
          <p:cNvPr id="11" name="MBA em Inteligência Artificial, Ibmec">
            <a:extLst>
              <a:ext uri="{FF2B5EF4-FFF2-40B4-BE49-F238E27FC236}">
                <a16:creationId xmlns:a16="http://schemas.microsoft.com/office/drawing/2014/main" id="{D5F9DFA3-CD79-43EE-9136-A18CC1D59639}"/>
              </a:ext>
            </a:extLst>
          </p:cNvPr>
          <p:cNvSpPr>
            <a:spLocks noGrp="1"/>
          </p:cNvSpPr>
          <p:nvPr/>
        </p:nvSpPr>
        <p:spPr>
          <a:xfrm>
            <a:off x="4762500" y="4362450"/>
            <a:ext cx="6800850" cy="5048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  <a:defRPr sz="1875" b="0" i="0">
                <a:solidFill>
                  <a:srgbClr val="232322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875" b="0" i="0">
                <a:solidFill>
                  <a:srgbClr val="232322"/>
                </a:solidFill>
                <a:latin typeface="Liberation Sans"/>
                <a:ea typeface="Liberation Sans"/>
                <a:cs typeface="Liberation Sans"/>
              </a:rPr>
              <a:t>MBA em Inteligência Artificial, Ibmec</a:t>
            </a:r>
          </a:p>
        </p:txBody>
      </p:sp>
      <p:sp>
        <p:nvSpPr>
          <p:cNvPr id="12" name="Comunidade e inovação">
            <a:extLst>
              <a:ext uri="{FF2B5EF4-FFF2-40B4-BE49-F238E27FC236}">
                <a16:creationId xmlns:a16="http://schemas.microsoft.com/office/drawing/2014/main" id="{6D69731A-542F-45BD-BBE7-861D4438B140}"/>
              </a:ext>
            </a:extLst>
          </p:cNvPr>
          <p:cNvSpPr>
            <a:spLocks noGrp="1"/>
          </p:cNvSpPr>
          <p:nvPr/>
        </p:nvSpPr>
        <p:spPr>
          <a:xfrm>
            <a:off x="4762500" y="4943475"/>
            <a:ext cx="6800850" cy="3524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  <a:defRPr sz="1950" b="1" i="0">
                <a:solidFill>
                  <a:srgbClr val="D6482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950" b="1" i="0">
                <a:solidFill>
                  <a:srgbClr val="D64826"/>
                </a:solidFill>
                <a:latin typeface="Liberation Sans"/>
                <a:ea typeface="Liberation Sans"/>
                <a:cs typeface="Liberation Sans"/>
              </a:rPr>
              <a:t>Comunidade e inovação</a:t>
            </a:r>
          </a:p>
        </p:txBody>
      </p:sp>
      <p:sp>
        <p:nvSpPr>
          <p:cNvPr id="13" name="Vice-presidente do CIORJ e conselheiro da ACRJ">
            <a:extLst>
              <a:ext uri="{FF2B5EF4-FFF2-40B4-BE49-F238E27FC236}">
                <a16:creationId xmlns:a16="http://schemas.microsoft.com/office/drawing/2014/main" id="{6EAEB57E-4D8E-41E2-B688-E174FE9C03A6}"/>
              </a:ext>
            </a:extLst>
          </p:cNvPr>
          <p:cNvSpPr>
            <a:spLocks noGrp="1"/>
          </p:cNvSpPr>
          <p:nvPr/>
        </p:nvSpPr>
        <p:spPr>
          <a:xfrm>
            <a:off x="4762500" y="5314950"/>
            <a:ext cx="6800850" cy="5048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  <a:defRPr sz="1875" b="0" i="0">
                <a:solidFill>
                  <a:srgbClr val="232322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875" b="0" i="0">
                <a:solidFill>
                  <a:srgbClr val="232322"/>
                </a:solidFill>
                <a:latin typeface="Liberation Sans"/>
                <a:ea typeface="Liberation Sans"/>
                <a:cs typeface="Liberation Sans"/>
              </a:rPr>
              <a:t>Vice-presidente do CIORJ e conselheiro da ACRJ</a:t>
            </a:r>
          </a:p>
        </p:txBody>
      </p:sp>
      <p:sp>
        <p:nvSpPr>
          <p:cNvPr id="14" name="lawrence.eti.br">
            <a:extLst>
              <a:ext uri="{FF2B5EF4-FFF2-40B4-BE49-F238E27FC236}">
                <a16:creationId xmlns:a16="http://schemas.microsoft.com/office/drawing/2014/main" id="{25412A0F-C951-4BB8-95D0-3EF1EF623300}"/>
              </a:ext>
            </a:extLst>
          </p:cNvPr>
          <p:cNvSpPr>
            <a:spLocks noGrp="1"/>
          </p:cNvSpPr>
          <p:nvPr/>
        </p:nvSpPr>
        <p:spPr>
          <a:xfrm>
            <a:off x="2557590" y="5452621"/>
            <a:ext cx="1736005" cy="69770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buNone/>
              <a:defRPr sz="1650" b="0" i="0">
                <a:solidFill>
                  <a:srgbClr val="21647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650" b="0" i="0">
                <a:solidFill>
                  <a:srgbClr val="666660"/>
                </a:solidFill>
                <a:latin typeface="Liberation Sans"/>
                <a:ea typeface="Liberation Sans"/>
                <a:cs typeface="Liberation Sans"/>
              </a:rPr>
              <a:t>Blog</a:t>
            </a:r>
          </a:p>
          <a:p>
            <a:pPr algn="ctr">
              <a:buNone/>
              <a:defRPr sz="1650" b="0" i="0">
                <a:solidFill>
                  <a:srgbClr val="21647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650" b="0" i="0">
                <a:solidFill>
                  <a:srgbClr val="216476"/>
                </a:solidFill>
                <a:latin typeface="Liberation Sans"/>
                <a:ea typeface="Liberation Sans"/>
                <a:cs typeface="Liberation Sans"/>
                <a:hlinkClick r:id="rId3"/>
              </a:rPr>
              <a:t>lawrence.eti.br</a:t>
            </a:r>
          </a:p>
        </p:txBody>
      </p:sp>
      <p:sp>
        <p:nvSpPr>
          <p:cNvPr id="15" name="02">
            <a:extLst>
              <a:ext uri="{FF2B5EF4-FFF2-40B4-BE49-F238E27FC236}">
                <a16:creationId xmlns:a16="http://schemas.microsoft.com/office/drawing/2014/main" id="{37B77B9F-39F9-4E68-A2EE-5E8C51A4CD3A}"/>
              </a:ext>
            </a:extLst>
          </p:cNvPr>
          <p:cNvSpPr>
            <a:spLocks noGrp="1"/>
          </p:cNvSpPr>
          <p:nvPr/>
        </p:nvSpPr>
        <p:spPr>
          <a:xfrm>
            <a:off x="11258550" y="6515100"/>
            <a:ext cx="333375" cy="1905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r">
              <a:buNone/>
              <a:defRPr sz="1050" b="0" i="0">
                <a:solidFill>
                  <a:srgbClr val="8A8882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050" b="0" i="0">
                <a:solidFill>
                  <a:srgbClr val="8A8882"/>
                </a:solidFill>
                <a:latin typeface="Liberation Sans"/>
                <a:ea typeface="Liberation Sans"/>
                <a:cs typeface="Liberation Sans"/>
              </a:rPr>
              <a:t>02</a:t>
            </a:r>
          </a:p>
        </p:txBody>
      </p:sp>
      <p:pic>
        <p:nvPicPr>
          <p:cNvPr id="36" name="Imagem 7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600075" y="5055064"/>
            <a:ext cx="1488611" cy="1488611"/>
          </a:xfrm>
          <a:prstGeom prst="rect">
            <a:avLst/>
          </a:prstGeom>
        </p:spPr>
      </p:pic>
      <p:pic>
        <p:nvPicPr>
          <p:cNvPr id="37" name="Imagem 19"/>
          <p:cNvPicPr>
            <a:picLocks noChangeAspect="1"/>
          </p:cNvPicPr>
          <p:nvPr/>
        </p:nvPicPr>
        <p:blipFill>
          <a:blip r:embed="rId5"/>
          <a:stretch/>
        </p:blipFill>
        <p:spPr>
          <a:xfrm>
            <a:off x="4762500" y="5895975"/>
            <a:ext cx="666750" cy="641709"/>
          </a:xfrm>
          <a:prstGeom prst="rect">
            <a:avLst/>
          </a:prstGeom>
        </p:spPr>
      </p:pic>
      <p:pic>
        <p:nvPicPr>
          <p:cNvPr id="38" name="Imagem 21"/>
          <p:cNvPicPr>
            <a:picLocks noChangeAspect="1"/>
          </p:cNvPicPr>
          <p:nvPr/>
        </p:nvPicPr>
        <p:blipFill>
          <a:blip r:embed="rId6"/>
          <a:stretch/>
        </p:blipFill>
        <p:spPr>
          <a:xfrm>
            <a:off x="5638800" y="5943600"/>
            <a:ext cx="1343025" cy="615086"/>
          </a:xfrm>
          <a:prstGeom prst="rect">
            <a:avLst/>
          </a:prstGeom>
        </p:spPr>
      </p:pic>
      <p:pic>
        <p:nvPicPr>
          <p:cNvPr id="39" name="Imagem 25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961221" y="522071"/>
            <a:ext cx="2478304" cy="2478304"/>
          </a:xfrm>
          <a:prstGeom prst="rect">
            <a:avLst/>
          </a:prstGeom>
        </p:spPr>
      </p:pic>
      <p:sp>
        <p:nvSpPr>
          <p:cNvPr id="40" name="Coautoria do livro">
            <a:extLst>
              <a:ext uri="{FF2B5EF4-FFF2-40B4-BE49-F238E27FC236}">
                <a16:creationId xmlns:a16="http://schemas.microsoft.com/office/drawing/2014/main" id="{1197A02D-855A-4406-B374-14581AE92064}"/>
              </a:ext>
            </a:extLst>
          </p:cNvPr>
          <p:cNvSpPr>
            <a:spLocks noGrp="1"/>
          </p:cNvSpPr>
          <p:nvPr/>
        </p:nvSpPr>
        <p:spPr>
          <a:xfrm>
            <a:off x="7334250" y="5753100"/>
            <a:ext cx="4248150" cy="2571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500" b="1">
                <a:solidFill>
                  <a:srgbClr val="D64826"/>
                </a:solidFill>
                <a:latin typeface="Liberation Sans"/>
                <a:ea typeface="Liberation Sans"/>
                <a:cs typeface="Liberation Sans"/>
              </a:defRPr>
            </a:defPPr>
          </a:lstStyle>
          <a:p>
            <a:pPr algn="l">
              <a:defRPr sz="1500" b="1">
                <a:solidFill>
                  <a:srgbClr val="D6482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500" b="1">
                <a:solidFill>
                  <a:srgbClr val="D64826"/>
                </a:solidFill>
                <a:latin typeface="Liberation Sans"/>
                <a:ea typeface="Liberation Sans"/>
                <a:cs typeface="Liberation Sans"/>
              </a:rPr>
              <a:t>Coautor do livro</a:t>
            </a:r>
          </a:p>
        </p:txBody>
      </p:sp>
      <p:sp>
        <p:nvSpPr>
          <p:cNvPr id="41" name="Título do livro">
            <a:extLst>
              <a:ext uri="{FF2B5EF4-FFF2-40B4-BE49-F238E27FC236}">
                <a16:creationId xmlns:a16="http://schemas.microsoft.com/office/drawing/2014/main" id="{4F2C1664-7E3D-445A-8C6B-23D3A03539DE}"/>
              </a:ext>
            </a:extLst>
          </p:cNvPr>
          <p:cNvSpPr>
            <a:spLocks noGrp="1"/>
          </p:cNvSpPr>
          <p:nvPr/>
        </p:nvSpPr>
        <p:spPr>
          <a:xfrm>
            <a:off x="7334250" y="6029325"/>
            <a:ext cx="4248150" cy="2762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600" b="1">
                <a:solidFill>
                  <a:srgbClr val="232322"/>
                </a:solidFill>
                <a:latin typeface="Liberation Sans"/>
                <a:ea typeface="Liberation Sans"/>
                <a:cs typeface="Liberation Sans"/>
              </a:defRPr>
            </a:defPPr>
          </a:lstStyle>
          <a:p>
            <a:pPr algn="l">
              <a:defRPr sz="1600" b="1">
                <a:solidFill>
                  <a:srgbClr val="232322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600" b="1">
                <a:solidFill>
                  <a:srgbClr val="232322"/>
                </a:solidFill>
                <a:latin typeface="Liberation Sans"/>
                <a:ea typeface="Liberation Sans"/>
                <a:cs typeface="Liberation Sans"/>
              </a:rPr>
              <a:t>CIO &amp; CTO: Excelência Orçamentária</a:t>
            </a:r>
          </a:p>
        </p:txBody>
      </p:sp>
      <p:sp>
        <p:nvSpPr>
          <p:cNvPr id="42" name="Contribuições no livro">
            <a:extLst>
              <a:ext uri="{FF2B5EF4-FFF2-40B4-BE49-F238E27FC236}">
                <a16:creationId xmlns:a16="http://schemas.microsoft.com/office/drawing/2014/main" id="{F882C375-1626-41E4-B0B5-DA96138C9543}"/>
              </a:ext>
            </a:extLst>
          </p:cNvPr>
          <p:cNvSpPr>
            <a:spLocks noGrp="1"/>
          </p:cNvSpPr>
          <p:nvPr/>
        </p:nvSpPr>
        <p:spPr>
          <a:xfrm>
            <a:off x="7334250" y="6315075"/>
            <a:ext cx="38100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250" b="0">
                <a:solidFill>
                  <a:srgbClr val="666660"/>
                </a:solidFill>
                <a:latin typeface="Liberation Sans"/>
                <a:ea typeface="Liberation Sans"/>
                <a:cs typeface="Liberation Sans"/>
              </a:defRPr>
            </a:defPPr>
          </a:lstStyle>
          <a:p>
            <a:pPr algn="l">
              <a:defRPr sz="1250" b="0">
                <a:solidFill>
                  <a:srgbClr val="666660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250" b="0">
                <a:solidFill>
                  <a:srgbClr val="666660"/>
                </a:solidFill>
                <a:latin typeface="Liberation Sans"/>
                <a:ea typeface="Liberation Sans"/>
                <a:cs typeface="Liberation Sans"/>
              </a:rPr>
              <a:t>Contribuições em IA, governança</a:t>
            </a:r>
          </a:p>
          <a:p>
            <a:pPr algn="l">
              <a:defRPr sz="1250" b="0">
                <a:solidFill>
                  <a:srgbClr val="666660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250" b="0">
                <a:solidFill>
                  <a:srgbClr val="666660"/>
                </a:solidFill>
                <a:latin typeface="Liberation Sans"/>
                <a:ea typeface="Liberation Sans"/>
                <a:cs typeface="Liberation Sans"/>
              </a:rPr>
              <a:t>e transformação digital</a:t>
            </a:r>
          </a:p>
        </p:txBody>
      </p:sp>
      <p:pic>
        <p:nvPicPr>
          <p:cNvPr id="43" name="Picture 42">
            <a:extLst>
              <a:ext uri="{FF2B5EF4-FFF2-40B4-BE49-F238E27FC236}">
                <a16:creationId xmlns:a16="http://schemas.microsoft.com/office/drawing/2014/main" id="{F91C4A7F-A04A-406B-836B-1961F4599F22}"/>
              </a:ext>
            </a:extLst>
          </p:cNvPr>
          <p:cNvPicPr>
            <a:picLocks noChangeAspect="1"/>
          </p:cNvPicPr>
          <p:nvPr/>
        </p:nvPicPr>
        <p:blipFill>
          <a:blip r:embed="rId8"/>
          <a:srcRect l="2250" t="28900" r="40750" b="18300"/>
          <a:stretch>
            <a:fillRect/>
          </a:stretch>
        </p:blipFill>
        <p:spPr>
          <a:xfrm>
            <a:off x="10115550" y="3181350"/>
            <a:ext cx="1447800" cy="1676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0377202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3" name="Chart 0"/>
          <p:cNvGraphicFramePr/>
          <p:nvPr/>
        </p:nvGraphicFramePr>
        <p:xfrm>
          <a:off x="548640" y="1600200"/>
          <a:ext cx="6035040" cy="44805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20" name="Agentes de IA: mercado deve crescer 46% ao ano">
            <a:extLst>
              <a:ext uri="{FF2B5EF4-FFF2-40B4-BE49-F238E27FC236}">
                <a16:creationId xmlns:a16="http://schemas.microsoft.com/office/drawing/2014/main" id="{7C196A97-2223-4AD3-8052-211CA399CE63}"/>
              </a:ext>
            </a:extLst>
          </p:cNvPr>
          <p:cNvSpPr>
            <a:spLocks noGrp="1"/>
          </p:cNvSpPr>
          <p:nvPr/>
        </p:nvSpPr>
        <p:spPr>
          <a:xfrm>
            <a:off x="609600" y="419100"/>
            <a:ext cx="10972800" cy="685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  <a:defRPr sz="3450" b="1" i="0">
                <a:solidFill>
                  <a:srgbClr val="232322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3450" b="1" i="0">
                <a:solidFill>
                  <a:srgbClr val="232322"/>
                </a:solidFill>
                <a:latin typeface="Liberation Sans"/>
                <a:ea typeface="Liberation Sans"/>
                <a:cs typeface="Liberation Sans"/>
              </a:rPr>
              <a:t>Agentes de IA: mercado deve crescer 46% ao ano</a:t>
            </a:r>
          </a:p>
        </p:txBody>
      </p:sp>
      <p:sp>
        <p:nvSpPr>
          <p:cNvPr id="21" name="US$ 2,7 tri">
            <a:extLst>
              <a:ext uri="{FF2B5EF4-FFF2-40B4-BE49-F238E27FC236}">
                <a16:creationId xmlns:a16="http://schemas.microsoft.com/office/drawing/2014/main" id="{A9BB7F2C-EAA2-4C1F-8952-2881390852F7}"/>
              </a:ext>
            </a:extLst>
          </p:cNvPr>
          <p:cNvSpPr>
            <a:spLocks noGrp="1"/>
          </p:cNvSpPr>
          <p:nvPr/>
        </p:nvSpPr>
        <p:spPr>
          <a:xfrm>
            <a:off x="7067550" y="1619250"/>
            <a:ext cx="4476750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  <a:defRPr sz="3000" b="1" i="0">
                <a:solidFill>
                  <a:srgbClr val="D6482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3000" b="1" i="0">
                <a:solidFill>
                  <a:srgbClr val="D64826"/>
                </a:solidFill>
                <a:latin typeface="Liberation Sans"/>
                <a:ea typeface="Liberation Sans"/>
                <a:cs typeface="Liberation Sans"/>
              </a:rPr>
              <a:t>US$ 2,7 tri</a:t>
            </a:r>
          </a:p>
        </p:txBody>
      </p:sp>
      <p:sp>
        <p:nvSpPr>
          <p:cNvPr id="22" name="de gasto com toda a IA em 2026, 49,5% acima de 2025">
            <a:extLst>
              <a:ext uri="{FF2B5EF4-FFF2-40B4-BE49-F238E27FC236}">
                <a16:creationId xmlns:a16="http://schemas.microsoft.com/office/drawing/2014/main" id="{0713F491-A3F9-49E9-AE6E-D2D047EE8780}"/>
              </a:ext>
            </a:extLst>
          </p:cNvPr>
          <p:cNvSpPr>
            <a:spLocks noGrp="1"/>
          </p:cNvSpPr>
          <p:nvPr/>
        </p:nvSpPr>
        <p:spPr>
          <a:xfrm>
            <a:off x="7067550" y="2105025"/>
            <a:ext cx="4514850" cy="5619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  <a:defRPr sz="1575" b="0" i="0">
                <a:solidFill>
                  <a:srgbClr val="232322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575" b="0" i="0">
                <a:solidFill>
                  <a:srgbClr val="232322"/>
                </a:solidFill>
                <a:latin typeface="Liberation Sans"/>
                <a:ea typeface="Liberation Sans"/>
                <a:cs typeface="Liberation Sans"/>
              </a:rPr>
              <a:t>de gasto com toda a IA em 2026,</a:t>
            </a:r>
          </a:p>
          <a:p>
            <a:pPr algn="l">
              <a:buNone/>
              <a:defRPr sz="1575" b="0" i="0">
                <a:solidFill>
                  <a:srgbClr val="232322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575" b="0" i="0">
                <a:solidFill>
                  <a:srgbClr val="232322"/>
                </a:solidFill>
                <a:latin typeface="Liberation Sans"/>
                <a:ea typeface="Liberation Sans"/>
                <a:cs typeface="Liberation Sans"/>
              </a:rPr>
              <a:t>49,5% acima de 2025</a:t>
            </a:r>
          </a:p>
        </p:txBody>
      </p:sp>
      <p:sp>
        <p:nvSpPr>
          <p:cNvPr id="23" name="Previsão Gartner, set/2026">
            <a:extLst>
              <a:ext uri="{FF2B5EF4-FFF2-40B4-BE49-F238E27FC236}">
                <a16:creationId xmlns:a16="http://schemas.microsoft.com/office/drawing/2014/main" id="{C8591917-8D4D-40F3-8D55-EE0DE29A7696}"/>
              </a:ext>
            </a:extLst>
          </p:cNvPr>
          <p:cNvSpPr>
            <a:spLocks noGrp="1"/>
          </p:cNvSpPr>
          <p:nvPr/>
        </p:nvSpPr>
        <p:spPr>
          <a:xfrm>
            <a:off x="7067550" y="2733675"/>
            <a:ext cx="4514850" cy="2190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  <a:defRPr sz="1125" b="0" i="0">
                <a:solidFill>
                  <a:srgbClr val="666660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125" b="0" i="0">
                <a:solidFill>
                  <a:srgbClr val="666660"/>
                </a:solidFill>
                <a:latin typeface="Liberation Sans"/>
                <a:ea typeface="Liberation Sans"/>
                <a:cs typeface="Liberation Sans"/>
              </a:rPr>
              <a:t>Previsão Gartner, set/2026</a:t>
            </a:r>
          </a:p>
        </p:txBody>
      </p:sp>
      <p:sp>
        <p:nvSpPr>
          <p:cNvPr id="24" name="900 mi+">
            <a:extLst>
              <a:ext uri="{FF2B5EF4-FFF2-40B4-BE49-F238E27FC236}">
                <a16:creationId xmlns:a16="http://schemas.microsoft.com/office/drawing/2014/main" id="{3BD6F54B-2383-4D99-93F8-EB924CA64423}"/>
              </a:ext>
            </a:extLst>
          </p:cNvPr>
          <p:cNvSpPr>
            <a:spLocks noGrp="1"/>
          </p:cNvSpPr>
          <p:nvPr/>
        </p:nvSpPr>
        <p:spPr>
          <a:xfrm>
            <a:off x="7067550" y="3114675"/>
            <a:ext cx="4476750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  <a:defRPr sz="3000" b="1" i="0">
                <a:solidFill>
                  <a:srgbClr val="D6482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3000" b="1" i="0">
                <a:solidFill>
                  <a:srgbClr val="D64826"/>
                </a:solidFill>
                <a:latin typeface="Liberation Sans"/>
                <a:ea typeface="Liberation Sans"/>
                <a:cs typeface="Liberation Sans"/>
              </a:rPr>
              <a:t>900 mi+</a:t>
            </a:r>
          </a:p>
        </p:txBody>
      </p:sp>
      <p:sp>
        <p:nvSpPr>
          <p:cNvPr id="25" name="de usuários semanais do ChatGPT.&#10;Gemini: 1 bi de usuári">
            <a:extLst>
              <a:ext uri="{FF2B5EF4-FFF2-40B4-BE49-F238E27FC236}">
                <a16:creationId xmlns:a16="http://schemas.microsoft.com/office/drawing/2014/main" id="{DB6F578E-3B89-4ABF-BFB4-467F376FF6D4}"/>
              </a:ext>
            </a:extLst>
          </p:cNvPr>
          <p:cNvSpPr>
            <a:spLocks noGrp="1"/>
          </p:cNvSpPr>
          <p:nvPr/>
        </p:nvSpPr>
        <p:spPr>
          <a:xfrm>
            <a:off x="7067550" y="3600450"/>
            <a:ext cx="4514850" cy="5619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  <a:defRPr sz="1575" b="0" i="0">
                <a:solidFill>
                  <a:srgbClr val="232322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575" b="0" i="0">
                <a:solidFill>
                  <a:srgbClr val="232322"/>
                </a:solidFill>
                <a:latin typeface="Liberation Sans"/>
                <a:ea typeface="Liberation Sans"/>
                <a:cs typeface="Liberation Sans"/>
              </a:rPr>
              <a:t>de usuários semanais do ChatGPT.</a:t>
            </a:r>
          </a:p>
          <a:p>
            <a:pPr algn="l">
              <a:buNone/>
              <a:defRPr sz="1575" b="0" i="0">
                <a:solidFill>
                  <a:srgbClr val="232322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575" b="0" i="0">
                <a:solidFill>
                  <a:srgbClr val="232322"/>
                </a:solidFill>
                <a:latin typeface="Liberation Sans"/>
                <a:ea typeface="Liberation Sans"/>
                <a:cs typeface="Liberation Sans"/>
              </a:rPr>
              <a:t>Gemini: 1 bi de usuários por mês.</a:t>
            </a:r>
          </a:p>
        </p:txBody>
      </p:sp>
      <p:sp>
        <p:nvSpPr>
          <p:cNvPr id="26" name="OpenAI, fev/2026. Google, ago/2026">
            <a:extLst>
              <a:ext uri="{FF2B5EF4-FFF2-40B4-BE49-F238E27FC236}">
                <a16:creationId xmlns:a16="http://schemas.microsoft.com/office/drawing/2014/main" id="{8579A7C3-2599-43AE-BBDA-FC27D3211880}"/>
              </a:ext>
            </a:extLst>
          </p:cNvPr>
          <p:cNvSpPr>
            <a:spLocks noGrp="1"/>
          </p:cNvSpPr>
          <p:nvPr/>
        </p:nvSpPr>
        <p:spPr>
          <a:xfrm>
            <a:off x="7067550" y="4229100"/>
            <a:ext cx="4514850" cy="2190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  <a:defRPr sz="1125" b="0" i="0">
                <a:solidFill>
                  <a:srgbClr val="666660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125" b="0" i="0">
                <a:solidFill>
                  <a:srgbClr val="666660"/>
                </a:solidFill>
                <a:latin typeface="Liberation Sans"/>
                <a:ea typeface="Liberation Sans"/>
                <a:cs typeface="Liberation Sans"/>
              </a:rPr>
              <a:t>OpenAI, fev/2026. Google, ago/2026</a:t>
            </a:r>
          </a:p>
        </p:txBody>
      </p:sp>
      <p:sp>
        <p:nvSpPr>
          <p:cNvPr id="27" name="40%">
            <a:extLst>
              <a:ext uri="{FF2B5EF4-FFF2-40B4-BE49-F238E27FC236}">
                <a16:creationId xmlns:a16="http://schemas.microsoft.com/office/drawing/2014/main" id="{B0C283CB-FEF3-4A0D-BB96-3F4D03DB85C3}"/>
              </a:ext>
            </a:extLst>
          </p:cNvPr>
          <p:cNvSpPr>
            <a:spLocks noGrp="1"/>
          </p:cNvSpPr>
          <p:nvPr/>
        </p:nvSpPr>
        <p:spPr>
          <a:xfrm>
            <a:off x="7067550" y="4610100"/>
            <a:ext cx="4476750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  <a:defRPr sz="3000" b="1" i="0">
                <a:solidFill>
                  <a:srgbClr val="D6482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3000" b="1" i="0">
                <a:solidFill>
                  <a:srgbClr val="D64826"/>
                </a:solidFill>
                <a:latin typeface="Liberation Sans"/>
                <a:ea typeface="Liberation Sans"/>
                <a:cs typeface="Liberation Sans"/>
              </a:rPr>
              <a:t>40%</a:t>
            </a:r>
          </a:p>
        </p:txBody>
      </p:sp>
      <p:sp>
        <p:nvSpPr>
          <p:cNvPr id="28" name="dos apps corporativos terão agentes&#10;até o fim de 2026, ">
            <a:extLst>
              <a:ext uri="{FF2B5EF4-FFF2-40B4-BE49-F238E27FC236}">
                <a16:creationId xmlns:a16="http://schemas.microsoft.com/office/drawing/2014/main" id="{2D7BE14D-1B91-4E18-8C31-156455C5BA8C}"/>
              </a:ext>
            </a:extLst>
          </p:cNvPr>
          <p:cNvSpPr>
            <a:spLocks noGrp="1"/>
          </p:cNvSpPr>
          <p:nvPr/>
        </p:nvSpPr>
        <p:spPr>
          <a:xfrm>
            <a:off x="7067550" y="5095875"/>
            <a:ext cx="4514850" cy="5619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  <a:defRPr sz="1575" b="0" i="0">
                <a:solidFill>
                  <a:srgbClr val="232322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575" b="0" i="0">
                <a:solidFill>
                  <a:srgbClr val="232322"/>
                </a:solidFill>
                <a:latin typeface="Liberation Sans"/>
                <a:ea typeface="Liberation Sans"/>
                <a:cs typeface="Liberation Sans"/>
              </a:rPr>
              <a:t>dos apps corporativos terão agentes</a:t>
            </a:r>
          </a:p>
          <a:p>
            <a:pPr algn="l">
              <a:buNone/>
              <a:defRPr sz="1575" b="0" i="0">
                <a:solidFill>
                  <a:srgbClr val="232322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575" b="0" i="0">
                <a:solidFill>
                  <a:srgbClr val="232322"/>
                </a:solidFill>
                <a:latin typeface="Liberation Sans"/>
                <a:ea typeface="Liberation Sans"/>
                <a:cs typeface="Liberation Sans"/>
              </a:rPr>
              <a:t>até o fim de 2026, ante menos de 5% em 2025.</a:t>
            </a:r>
          </a:p>
        </p:txBody>
      </p:sp>
      <p:sp>
        <p:nvSpPr>
          <p:cNvPr id="29" name="Previsão Gartner, ago/2025">
            <a:extLst>
              <a:ext uri="{FF2B5EF4-FFF2-40B4-BE49-F238E27FC236}">
                <a16:creationId xmlns:a16="http://schemas.microsoft.com/office/drawing/2014/main" id="{3B107BFF-816F-4E2E-8A11-AFF7D2B287AF}"/>
              </a:ext>
            </a:extLst>
          </p:cNvPr>
          <p:cNvSpPr>
            <a:spLocks noGrp="1"/>
          </p:cNvSpPr>
          <p:nvPr/>
        </p:nvSpPr>
        <p:spPr>
          <a:xfrm>
            <a:off x="7067550" y="5724525"/>
            <a:ext cx="4514850" cy="2190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  <a:defRPr sz="1125" b="0" i="0">
                <a:solidFill>
                  <a:srgbClr val="666660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125" b="0" i="0">
                <a:solidFill>
                  <a:srgbClr val="666660"/>
                </a:solidFill>
                <a:latin typeface="Liberation Sans"/>
                <a:ea typeface="Liberation Sans"/>
                <a:cs typeface="Liberation Sans"/>
              </a:rPr>
              <a:t>Previsão Gartner, ago/2025</a:t>
            </a:r>
          </a:p>
        </p:txBody>
      </p:sp>
      <p:sp>
        <p:nvSpPr>
          <p:cNvPr id="30" name="Gráfico: só agentes de IA, previsão MarketsandMarkets (abr/2">
            <a:extLst>
              <a:ext uri="{FF2B5EF4-FFF2-40B4-BE49-F238E27FC236}">
                <a16:creationId xmlns:a16="http://schemas.microsoft.com/office/drawing/2014/main" id="{6E155228-F3C5-4BCB-9728-18DD13B47D56}"/>
              </a:ext>
            </a:extLst>
          </p:cNvPr>
          <p:cNvSpPr>
            <a:spLocks noGrp="1"/>
          </p:cNvSpPr>
          <p:nvPr/>
        </p:nvSpPr>
        <p:spPr>
          <a:xfrm>
            <a:off x="609600" y="6276975"/>
            <a:ext cx="10572750" cy="3333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  <a:defRPr sz="1013" b="0" i="0">
                <a:solidFill>
                  <a:srgbClr val="666660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013" b="0" i="0">
                <a:solidFill>
                  <a:srgbClr val="666660"/>
                </a:solidFill>
                <a:latin typeface="Liberation Sans"/>
                <a:ea typeface="Liberation Sans"/>
                <a:cs typeface="Liberation Sans"/>
              </a:rPr>
              <a:t>Gráfico: só agentes de IA, previsão MarketsandMarkets (abr/2025); 2026–2029 calculados a 46,3% ao ano. Destaques: Gartner, OpenAI e Google.</a:t>
            </a:r>
          </a:p>
        </p:txBody>
      </p:sp>
      <p:sp>
        <p:nvSpPr>
          <p:cNvPr id="31" name="03">
            <a:extLst>
              <a:ext uri="{FF2B5EF4-FFF2-40B4-BE49-F238E27FC236}">
                <a16:creationId xmlns:a16="http://schemas.microsoft.com/office/drawing/2014/main" id="{6E80309F-F32D-4AFE-B42C-C51A7619D0D7}"/>
              </a:ext>
            </a:extLst>
          </p:cNvPr>
          <p:cNvSpPr>
            <a:spLocks noGrp="1"/>
          </p:cNvSpPr>
          <p:nvPr/>
        </p:nvSpPr>
        <p:spPr>
          <a:xfrm>
            <a:off x="11258550" y="6515100"/>
            <a:ext cx="333375" cy="1905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r">
              <a:buNone/>
              <a:defRPr sz="1050" b="0" i="0">
                <a:solidFill>
                  <a:srgbClr val="8A8882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050" b="0" i="0">
                <a:solidFill>
                  <a:srgbClr val="8A8882"/>
                </a:solidFill>
                <a:latin typeface="Liberation Sans"/>
                <a:ea typeface="Liberation Sans"/>
                <a:cs typeface="Liberation Sans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194753363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9" name="Chart 0"/>
          <p:cNvGraphicFramePr/>
          <p:nvPr/>
        </p:nvGraphicFramePr>
        <p:xfrm>
          <a:off x="548640" y="1600200"/>
          <a:ext cx="6217920" cy="42976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8" name="A velocidade da adoção">
            <a:extLst>
              <a:ext uri="{FF2B5EF4-FFF2-40B4-BE49-F238E27FC236}">
                <a16:creationId xmlns:a16="http://schemas.microsoft.com/office/drawing/2014/main" id="{E9536629-7165-4235-B98B-378EC9ADD077}"/>
              </a:ext>
            </a:extLst>
          </p:cNvPr>
          <p:cNvSpPr>
            <a:spLocks noGrp="1"/>
          </p:cNvSpPr>
          <p:nvPr/>
        </p:nvSpPr>
        <p:spPr>
          <a:xfrm>
            <a:off x="609600" y="419100"/>
            <a:ext cx="10972800" cy="685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  <a:defRPr sz="3450" b="1" i="0">
                <a:solidFill>
                  <a:srgbClr val="232322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3450" b="1" i="0">
                <a:solidFill>
                  <a:srgbClr val="232322"/>
                </a:solidFill>
                <a:latin typeface="Liberation Sans"/>
                <a:ea typeface="Liberation Sans"/>
                <a:cs typeface="Liberation Sans"/>
              </a:rPr>
              <a:t>A velocidade da adoção</a:t>
            </a:r>
          </a:p>
        </p:txBody>
      </p:sp>
      <p:sp>
        <p:nvSpPr>
          <p:cNvPr id="19" name="5 dias">
            <a:extLst>
              <a:ext uri="{FF2B5EF4-FFF2-40B4-BE49-F238E27FC236}">
                <a16:creationId xmlns:a16="http://schemas.microsoft.com/office/drawing/2014/main" id="{0E07D989-B813-4117-9804-EB47F0B3BF19}"/>
              </a:ext>
            </a:extLst>
          </p:cNvPr>
          <p:cNvSpPr>
            <a:spLocks noGrp="1"/>
          </p:cNvSpPr>
          <p:nvPr/>
        </p:nvSpPr>
        <p:spPr>
          <a:xfrm>
            <a:off x="7105650" y="1666875"/>
            <a:ext cx="4419600" cy="476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  <a:defRPr sz="3075" b="1" i="0">
                <a:solidFill>
                  <a:srgbClr val="D6482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3075" b="1" i="0">
                <a:solidFill>
                  <a:srgbClr val="D64826"/>
                </a:solidFill>
                <a:latin typeface="Liberation Sans"/>
                <a:ea typeface="Liberation Sans"/>
                <a:cs typeface="Liberation Sans"/>
              </a:rPr>
              <a:t>5 dias</a:t>
            </a:r>
          </a:p>
        </p:txBody>
      </p:sp>
      <p:sp>
        <p:nvSpPr>
          <p:cNvPr id="20" name="para o ChatGPT chegar a 1 milhão&#10;de usuários, no lançam">
            <a:extLst>
              <a:ext uri="{FF2B5EF4-FFF2-40B4-BE49-F238E27FC236}">
                <a16:creationId xmlns:a16="http://schemas.microsoft.com/office/drawing/2014/main" id="{431625A4-6AF1-4B64-ACB0-686F7031A377}"/>
              </a:ext>
            </a:extLst>
          </p:cNvPr>
          <p:cNvSpPr>
            <a:spLocks noGrp="1"/>
          </p:cNvSpPr>
          <p:nvPr/>
        </p:nvSpPr>
        <p:spPr>
          <a:xfrm>
            <a:off x="7105650" y="2171700"/>
            <a:ext cx="4476750" cy="6572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  <a:defRPr sz="1575" b="0" i="0">
                <a:solidFill>
                  <a:srgbClr val="232322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575" b="0" i="0" dirty="0">
                <a:solidFill>
                  <a:srgbClr val="232322"/>
                </a:solidFill>
                <a:latin typeface="Liberation Sans"/>
                <a:ea typeface="Liberation Sans"/>
                <a:cs typeface="Liberation Sans"/>
              </a:rPr>
              <a:t>para o ChatGPT </a:t>
            </a:r>
            <a:r>
              <a:rPr sz="1575" b="0" i="0" dirty="0" err="1">
                <a:solidFill>
                  <a:srgbClr val="232322"/>
                </a:solidFill>
                <a:latin typeface="Liberation Sans"/>
                <a:ea typeface="Liberation Sans"/>
                <a:cs typeface="Liberation Sans"/>
              </a:rPr>
              <a:t>chegar</a:t>
            </a:r>
            <a:r>
              <a:rPr sz="1575" b="0" i="0" dirty="0">
                <a:solidFill>
                  <a:srgbClr val="232322"/>
                </a:solidFill>
                <a:latin typeface="Liberation Sans"/>
                <a:ea typeface="Liberation Sans"/>
                <a:cs typeface="Liberation Sans"/>
              </a:rPr>
              <a:t> a 1 </a:t>
            </a:r>
            <a:r>
              <a:rPr sz="1575" b="0" i="0" dirty="0" err="1">
                <a:solidFill>
                  <a:srgbClr val="232322"/>
                </a:solidFill>
                <a:latin typeface="Liberation Sans"/>
                <a:ea typeface="Liberation Sans"/>
                <a:cs typeface="Liberation Sans"/>
              </a:rPr>
              <a:t>milhão</a:t>
            </a:r>
            <a:endParaRPr sz="1575" b="0" i="0" dirty="0">
              <a:solidFill>
                <a:srgbClr val="232322"/>
              </a:solidFill>
              <a:latin typeface="Liberation Sans"/>
              <a:ea typeface="Liberation Sans"/>
              <a:cs typeface="Liberation Sans"/>
            </a:endParaRPr>
          </a:p>
          <a:p>
            <a:pPr algn="l">
              <a:buNone/>
              <a:defRPr sz="1575" b="0" i="0">
                <a:solidFill>
                  <a:srgbClr val="232322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575" b="0" i="0" dirty="0">
                <a:solidFill>
                  <a:srgbClr val="232322"/>
                </a:solidFill>
                <a:latin typeface="Liberation Sans"/>
                <a:ea typeface="Liberation Sans"/>
                <a:cs typeface="Liberation Sans"/>
              </a:rPr>
              <a:t>de </a:t>
            </a:r>
            <a:r>
              <a:rPr sz="1575" b="0" i="0" dirty="0" err="1">
                <a:solidFill>
                  <a:srgbClr val="232322"/>
                </a:solidFill>
                <a:latin typeface="Liberation Sans"/>
                <a:ea typeface="Liberation Sans"/>
                <a:cs typeface="Liberation Sans"/>
              </a:rPr>
              <a:t>usuários</a:t>
            </a:r>
            <a:r>
              <a:rPr sz="1575" b="0" i="0" dirty="0">
                <a:solidFill>
                  <a:srgbClr val="232322"/>
                </a:solidFill>
                <a:latin typeface="Liberation Sans"/>
                <a:ea typeface="Liberation Sans"/>
                <a:cs typeface="Liberation Sans"/>
              </a:rPr>
              <a:t>, no </a:t>
            </a:r>
            <a:r>
              <a:rPr sz="1575" b="0" i="0" dirty="0" err="1">
                <a:solidFill>
                  <a:srgbClr val="232322"/>
                </a:solidFill>
                <a:latin typeface="Liberation Sans"/>
                <a:ea typeface="Liberation Sans"/>
                <a:cs typeface="Liberation Sans"/>
              </a:rPr>
              <a:t>lançamento</a:t>
            </a:r>
            <a:r>
              <a:rPr sz="1575" b="0" i="0" dirty="0">
                <a:solidFill>
                  <a:srgbClr val="232322"/>
                </a:solidFill>
                <a:latin typeface="Liberation Sans"/>
                <a:ea typeface="Liberation Sans"/>
                <a:cs typeface="Liberation Sans"/>
              </a:rPr>
              <a:t> </a:t>
            </a:r>
            <a:r>
              <a:rPr sz="1575" b="0" i="0" dirty="0" err="1">
                <a:solidFill>
                  <a:srgbClr val="232322"/>
                </a:solidFill>
                <a:latin typeface="Liberation Sans"/>
                <a:ea typeface="Liberation Sans"/>
                <a:cs typeface="Liberation Sans"/>
              </a:rPr>
              <a:t>em</a:t>
            </a:r>
            <a:r>
              <a:rPr sz="1575" b="0" i="0" dirty="0">
                <a:solidFill>
                  <a:srgbClr val="232322"/>
                </a:solidFill>
                <a:latin typeface="Liberation Sans"/>
                <a:ea typeface="Liberation Sans"/>
                <a:cs typeface="Liberation Sans"/>
              </a:rPr>
              <a:t> 2022.</a:t>
            </a:r>
          </a:p>
        </p:txBody>
      </p:sp>
      <p:sp>
        <p:nvSpPr>
          <p:cNvPr id="21" name="2,25×">
            <a:extLst>
              <a:ext uri="{FF2B5EF4-FFF2-40B4-BE49-F238E27FC236}">
                <a16:creationId xmlns:a16="http://schemas.microsoft.com/office/drawing/2014/main" id="{28E55600-A358-4CBF-A05B-95C25EFCE7E5}"/>
              </a:ext>
            </a:extLst>
          </p:cNvPr>
          <p:cNvSpPr>
            <a:spLocks noGrp="1"/>
          </p:cNvSpPr>
          <p:nvPr/>
        </p:nvSpPr>
        <p:spPr>
          <a:xfrm>
            <a:off x="7105650" y="3009900"/>
            <a:ext cx="4419600" cy="476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  <a:defRPr sz="3075" b="1" i="0">
                <a:solidFill>
                  <a:srgbClr val="D6482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3075" b="1" i="0">
                <a:solidFill>
                  <a:srgbClr val="D64826"/>
                </a:solidFill>
                <a:latin typeface="Liberation Sans"/>
                <a:ea typeface="Liberation Sans"/>
                <a:cs typeface="Liberation Sans"/>
              </a:rPr>
              <a:t>2,25×</a:t>
            </a:r>
          </a:p>
        </p:txBody>
      </p:sp>
      <p:sp>
        <p:nvSpPr>
          <p:cNvPr id="22" name="mais usuários semanais em 12 meses:&#10;de 400 mi para mais">
            <a:extLst>
              <a:ext uri="{FF2B5EF4-FFF2-40B4-BE49-F238E27FC236}">
                <a16:creationId xmlns:a16="http://schemas.microsoft.com/office/drawing/2014/main" id="{A190A13F-1F15-40A9-855C-B182AE458BDE}"/>
              </a:ext>
            </a:extLst>
          </p:cNvPr>
          <p:cNvSpPr>
            <a:spLocks noGrp="1"/>
          </p:cNvSpPr>
          <p:nvPr/>
        </p:nvSpPr>
        <p:spPr>
          <a:xfrm>
            <a:off x="7105650" y="3514725"/>
            <a:ext cx="4476750" cy="6572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  <a:defRPr sz="1575" b="0" i="0">
                <a:solidFill>
                  <a:srgbClr val="232322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575" b="0" i="0">
                <a:solidFill>
                  <a:srgbClr val="232322"/>
                </a:solidFill>
                <a:latin typeface="Liberation Sans"/>
                <a:ea typeface="Liberation Sans"/>
                <a:cs typeface="Liberation Sans"/>
              </a:rPr>
              <a:t>mais usuários semanais em 12 meses:</a:t>
            </a:r>
          </a:p>
          <a:p>
            <a:pPr algn="l">
              <a:buNone/>
              <a:defRPr sz="1575" b="0" i="0">
                <a:solidFill>
                  <a:srgbClr val="232322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575" b="0" i="0">
                <a:solidFill>
                  <a:srgbClr val="232322"/>
                </a:solidFill>
                <a:latin typeface="Liberation Sans"/>
                <a:ea typeface="Liberation Sans"/>
                <a:cs typeface="Liberation Sans"/>
              </a:rPr>
              <a:t>de 400 mi para mais de 900 mi.</a:t>
            </a:r>
          </a:p>
        </p:txBody>
      </p:sp>
      <p:sp>
        <p:nvSpPr>
          <p:cNvPr id="23" name="1 bi">
            <a:extLst>
              <a:ext uri="{FF2B5EF4-FFF2-40B4-BE49-F238E27FC236}">
                <a16:creationId xmlns:a16="http://schemas.microsoft.com/office/drawing/2014/main" id="{9C6A833A-5A57-4CA9-AE60-757E08E0648E}"/>
              </a:ext>
            </a:extLst>
          </p:cNvPr>
          <p:cNvSpPr>
            <a:spLocks noGrp="1"/>
          </p:cNvSpPr>
          <p:nvPr/>
        </p:nvSpPr>
        <p:spPr>
          <a:xfrm>
            <a:off x="7105650" y="4352925"/>
            <a:ext cx="4419600" cy="476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  <a:defRPr sz="3075" b="1" i="0">
                <a:solidFill>
                  <a:srgbClr val="D6482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3075" b="1" i="0">
                <a:solidFill>
                  <a:srgbClr val="D64826"/>
                </a:solidFill>
                <a:latin typeface="Liberation Sans"/>
                <a:ea typeface="Liberation Sans"/>
                <a:cs typeface="Liberation Sans"/>
              </a:rPr>
              <a:t>1 bi</a:t>
            </a:r>
          </a:p>
        </p:txBody>
      </p:sp>
      <p:sp>
        <p:nvSpPr>
          <p:cNvPr id="24" name="de usuários por mês no app Gemini.&#10;O produto de adoção ">
            <a:extLst>
              <a:ext uri="{FF2B5EF4-FFF2-40B4-BE49-F238E27FC236}">
                <a16:creationId xmlns:a16="http://schemas.microsoft.com/office/drawing/2014/main" id="{70E218EA-F4DC-4EB1-B22E-D53028A121D8}"/>
              </a:ext>
            </a:extLst>
          </p:cNvPr>
          <p:cNvSpPr>
            <a:spLocks noGrp="1"/>
          </p:cNvSpPr>
          <p:nvPr/>
        </p:nvSpPr>
        <p:spPr>
          <a:xfrm>
            <a:off x="7105650" y="4857750"/>
            <a:ext cx="4476750" cy="6572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  <a:defRPr sz="1575" b="0" i="0">
                <a:solidFill>
                  <a:srgbClr val="232322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575" b="0" i="0">
                <a:solidFill>
                  <a:srgbClr val="232322"/>
                </a:solidFill>
                <a:latin typeface="Liberation Sans"/>
                <a:ea typeface="Liberation Sans"/>
                <a:cs typeface="Liberation Sans"/>
              </a:rPr>
              <a:t>de usuários por mês no app Gemini.</a:t>
            </a:r>
          </a:p>
          <a:p>
            <a:pPr algn="l">
              <a:buNone/>
              <a:defRPr sz="1575" b="0" i="0">
                <a:solidFill>
                  <a:srgbClr val="232322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575" b="0" i="0">
                <a:solidFill>
                  <a:srgbClr val="232322"/>
                </a:solidFill>
                <a:latin typeface="Liberation Sans"/>
                <a:ea typeface="Liberation Sans"/>
                <a:cs typeface="Liberation Sans"/>
              </a:rPr>
              <a:t>O produto de adoção mais rápida do Google.</a:t>
            </a:r>
          </a:p>
        </p:txBody>
      </p:sp>
      <p:sp>
        <p:nvSpPr>
          <p:cNvPr id="25" name="Acompanhar as mudanças faz parte do trabalho.">
            <a:extLst>
              <a:ext uri="{FF2B5EF4-FFF2-40B4-BE49-F238E27FC236}">
                <a16:creationId xmlns:a16="http://schemas.microsoft.com/office/drawing/2014/main" id="{DAFFECF2-5181-4401-8E0C-A2A7675573E3}"/>
              </a:ext>
            </a:extLst>
          </p:cNvPr>
          <p:cNvSpPr>
            <a:spLocks noGrp="1"/>
          </p:cNvSpPr>
          <p:nvPr/>
        </p:nvSpPr>
        <p:spPr>
          <a:xfrm>
            <a:off x="7105650" y="5655945"/>
            <a:ext cx="4476750" cy="476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  <a:defRPr sz="1725" b="1" i="0">
                <a:solidFill>
                  <a:srgbClr val="232322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725" b="1" i="0" dirty="0" err="1">
                <a:solidFill>
                  <a:srgbClr val="232322"/>
                </a:solidFill>
                <a:latin typeface="Liberation Sans"/>
                <a:ea typeface="Liberation Sans"/>
                <a:cs typeface="Liberation Sans"/>
              </a:rPr>
              <a:t>Acompanhar</a:t>
            </a:r>
            <a:r>
              <a:rPr sz="1725" b="1" i="0" dirty="0">
                <a:solidFill>
                  <a:srgbClr val="232322"/>
                </a:solidFill>
                <a:latin typeface="Liberation Sans"/>
                <a:ea typeface="Liberation Sans"/>
                <a:cs typeface="Liberation Sans"/>
              </a:rPr>
              <a:t> as </a:t>
            </a:r>
            <a:r>
              <a:rPr sz="1725" b="1" i="0" dirty="0" err="1">
                <a:solidFill>
                  <a:srgbClr val="232322"/>
                </a:solidFill>
                <a:latin typeface="Liberation Sans"/>
                <a:ea typeface="Liberation Sans"/>
                <a:cs typeface="Liberation Sans"/>
              </a:rPr>
              <a:t>mudanças</a:t>
            </a:r>
            <a:r>
              <a:rPr sz="1725" b="1" i="0" dirty="0">
                <a:solidFill>
                  <a:srgbClr val="232322"/>
                </a:solidFill>
                <a:latin typeface="Liberation Sans"/>
                <a:ea typeface="Liberation Sans"/>
                <a:cs typeface="Liberation Sans"/>
              </a:rPr>
              <a:t> </a:t>
            </a:r>
            <a:r>
              <a:rPr sz="1725" b="1" i="0" dirty="0" err="1">
                <a:solidFill>
                  <a:srgbClr val="232322"/>
                </a:solidFill>
                <a:latin typeface="Liberation Sans"/>
                <a:ea typeface="Liberation Sans"/>
                <a:cs typeface="Liberation Sans"/>
              </a:rPr>
              <a:t>faz</a:t>
            </a:r>
            <a:r>
              <a:rPr sz="1725" b="1" i="0" dirty="0">
                <a:solidFill>
                  <a:srgbClr val="232322"/>
                </a:solidFill>
                <a:latin typeface="Liberation Sans"/>
                <a:ea typeface="Liberation Sans"/>
                <a:cs typeface="Liberation Sans"/>
              </a:rPr>
              <a:t> </a:t>
            </a:r>
            <a:r>
              <a:rPr sz="1725" b="1" i="0" dirty="0" err="1">
                <a:solidFill>
                  <a:srgbClr val="232322"/>
                </a:solidFill>
                <a:latin typeface="Liberation Sans"/>
                <a:ea typeface="Liberation Sans"/>
                <a:cs typeface="Liberation Sans"/>
              </a:rPr>
              <a:t>parte</a:t>
            </a:r>
            <a:r>
              <a:rPr sz="1725" b="1" i="0" dirty="0">
                <a:solidFill>
                  <a:srgbClr val="232322"/>
                </a:solidFill>
                <a:latin typeface="Liberation Sans"/>
                <a:ea typeface="Liberation Sans"/>
                <a:cs typeface="Liberation Sans"/>
              </a:rPr>
              <a:t> do </a:t>
            </a:r>
            <a:r>
              <a:rPr sz="1725" b="1" i="0" dirty="0" err="1">
                <a:solidFill>
                  <a:srgbClr val="232322"/>
                </a:solidFill>
                <a:latin typeface="Liberation Sans"/>
                <a:ea typeface="Liberation Sans"/>
                <a:cs typeface="Liberation Sans"/>
              </a:rPr>
              <a:t>trabalho</a:t>
            </a:r>
            <a:r>
              <a:rPr sz="1725" b="1" i="0" dirty="0">
                <a:solidFill>
                  <a:srgbClr val="232322"/>
                </a:solidFill>
                <a:latin typeface="Liberation Sans"/>
                <a:ea typeface="Liberation Sans"/>
                <a:cs typeface="Liberation Sans"/>
              </a:rPr>
              <a:t>.</a:t>
            </a:r>
          </a:p>
        </p:txBody>
      </p:sp>
      <p:sp>
        <p:nvSpPr>
          <p:cNvPr id="26" name="Fontes: Sam Altman (2022), CNBC (fev/2025), OpenAI DevD">
            <a:extLst>
              <a:ext uri="{FF2B5EF4-FFF2-40B4-BE49-F238E27FC236}">
                <a16:creationId xmlns:a16="http://schemas.microsoft.com/office/drawing/2014/main" id="{2E76CCCE-613C-4CB8-AD65-43ACF03B347E}"/>
              </a:ext>
            </a:extLst>
          </p:cNvPr>
          <p:cNvSpPr>
            <a:spLocks noGrp="1"/>
          </p:cNvSpPr>
          <p:nvPr/>
        </p:nvSpPr>
        <p:spPr>
          <a:xfrm>
            <a:off x="609600" y="6276975"/>
            <a:ext cx="10572750" cy="3333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  <a:defRPr sz="1013" b="0" i="0">
                <a:solidFill>
                  <a:srgbClr val="666660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013" b="0" i="0">
                <a:solidFill>
                  <a:srgbClr val="666660"/>
                </a:solidFill>
                <a:latin typeface="Liberation Sans"/>
                <a:ea typeface="Liberation Sans"/>
                <a:cs typeface="Liberation Sans"/>
              </a:rPr>
              <a:t>Fontes: Sam Altman (2022), CNBC (fev/2025), OpenAI DevDay (out/2025), OpenAI (fev/2026) e Google (ago/2026).</a:t>
            </a:r>
          </a:p>
        </p:txBody>
      </p:sp>
      <p:sp>
        <p:nvSpPr>
          <p:cNvPr id="27" name="04">
            <a:extLst>
              <a:ext uri="{FF2B5EF4-FFF2-40B4-BE49-F238E27FC236}">
                <a16:creationId xmlns:a16="http://schemas.microsoft.com/office/drawing/2014/main" id="{D72F0D3E-FCDD-4579-A764-E28D0F0B5499}"/>
              </a:ext>
            </a:extLst>
          </p:cNvPr>
          <p:cNvSpPr>
            <a:spLocks noGrp="1"/>
          </p:cNvSpPr>
          <p:nvPr/>
        </p:nvSpPr>
        <p:spPr>
          <a:xfrm>
            <a:off x="11258550" y="6515100"/>
            <a:ext cx="333375" cy="1905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r">
              <a:buNone/>
              <a:defRPr sz="1050" b="0" i="0">
                <a:solidFill>
                  <a:srgbClr val="8A8882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050" b="0" i="0">
                <a:solidFill>
                  <a:srgbClr val="8A8882"/>
                </a:solidFill>
                <a:latin typeface="Liberation Sans"/>
                <a:ea typeface="Liberation Sans"/>
                <a:cs typeface="Liberation Sans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167797434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IA no Brasil: pessoas e empresas">
            <a:extLst>
              <a:ext uri="{FF2B5EF4-FFF2-40B4-BE49-F238E27FC236}">
                <a16:creationId xmlns:a16="http://schemas.microsoft.com/office/drawing/2014/main" id="{E7658F84-3C41-4BDB-BD36-F6047079341F}"/>
              </a:ext>
            </a:extLst>
          </p:cNvPr>
          <p:cNvSpPr>
            <a:spLocks noGrp="1"/>
          </p:cNvSpPr>
          <p:nvPr/>
        </p:nvSpPr>
        <p:spPr>
          <a:xfrm>
            <a:off x="609600" y="419100"/>
            <a:ext cx="10972800" cy="685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  <a:defRPr sz="3450" b="1" i="0">
                <a:solidFill>
                  <a:srgbClr val="232322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3450" b="1" i="0">
                <a:solidFill>
                  <a:srgbClr val="232322"/>
                </a:solidFill>
                <a:latin typeface="Liberation Sans"/>
                <a:ea typeface="Liberation Sans"/>
                <a:cs typeface="Liberation Sans"/>
              </a:rPr>
              <a:t>IA no Brasil: pessoas e empresas</a:t>
            </a:r>
          </a:p>
        </p:txBody>
      </p:sp>
      <p:sp>
        <p:nvSpPr>
          <p:cNvPr id="2" name="Top 3">
            <a:extLst>
              <a:ext uri="{FF2B5EF4-FFF2-40B4-BE49-F238E27FC236}">
                <a16:creationId xmlns:a16="http://schemas.microsoft.com/office/drawing/2014/main" id="{6E99CE0C-0BE6-42EE-AD98-0C983A921CBD}"/>
              </a:ext>
            </a:extLst>
          </p:cNvPr>
          <p:cNvSpPr>
            <a:spLocks noGrp="1"/>
          </p:cNvSpPr>
          <p:nvPr/>
        </p:nvSpPr>
        <p:spPr>
          <a:xfrm>
            <a:off x="609600" y="1581150"/>
            <a:ext cx="3429000" cy="609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  <a:defRPr sz="3525" b="1" i="0">
                <a:solidFill>
                  <a:srgbClr val="D6482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3525" b="1" i="0">
                <a:solidFill>
                  <a:srgbClr val="D64826"/>
                </a:solidFill>
                <a:latin typeface="Liberation Sans"/>
                <a:ea typeface="Liberation Sans"/>
                <a:cs typeface="Liberation Sans"/>
              </a:rPr>
              <a:t>Top 3</a:t>
            </a:r>
          </a:p>
        </p:txBody>
      </p:sp>
      <p:sp>
        <p:nvSpPr>
          <p:cNvPr id="3" name="O Brasil está entre os três maiores mercados do ChatGPT">
            <a:extLst>
              <a:ext uri="{FF2B5EF4-FFF2-40B4-BE49-F238E27FC236}">
                <a16:creationId xmlns:a16="http://schemas.microsoft.com/office/drawing/2014/main" id="{3C37C124-1C2A-4941-95DC-7BA9EED93CBA}"/>
              </a:ext>
            </a:extLst>
          </p:cNvPr>
          <p:cNvSpPr>
            <a:spLocks noGrp="1"/>
          </p:cNvSpPr>
          <p:nvPr/>
        </p:nvSpPr>
        <p:spPr>
          <a:xfrm>
            <a:off x="609600" y="2276475"/>
            <a:ext cx="3400425" cy="10191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  <a:defRPr sz="1575" b="0" i="0">
                <a:solidFill>
                  <a:srgbClr val="232322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575" b="0" i="0">
                <a:solidFill>
                  <a:srgbClr val="232322"/>
                </a:solidFill>
                <a:latin typeface="Liberation Sans"/>
                <a:ea typeface="Liberation Sans"/>
                <a:cs typeface="Liberation Sans"/>
              </a:rPr>
              <a:t>O Brasil está entre os três maiores mercados do ChatGPT. A base quase dobrou em um ano.</a:t>
            </a:r>
          </a:p>
        </p:txBody>
      </p:sp>
      <p:sp>
        <p:nvSpPr>
          <p:cNvPr id="4" name="OpenAI, ago/2026">
            <a:extLst>
              <a:ext uri="{FF2B5EF4-FFF2-40B4-BE49-F238E27FC236}">
                <a16:creationId xmlns:a16="http://schemas.microsoft.com/office/drawing/2014/main" id="{02C10D9E-E954-4105-9EDA-9E0C76F6CE12}"/>
              </a:ext>
            </a:extLst>
          </p:cNvPr>
          <p:cNvSpPr>
            <a:spLocks noGrp="1"/>
          </p:cNvSpPr>
          <p:nvPr/>
        </p:nvSpPr>
        <p:spPr>
          <a:xfrm>
            <a:off x="609600" y="3371850"/>
            <a:ext cx="3476625" cy="2762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  <a:defRPr sz="1088" b="0" i="0">
                <a:solidFill>
                  <a:srgbClr val="666660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088" b="0" i="0">
                <a:solidFill>
                  <a:srgbClr val="666660"/>
                </a:solidFill>
                <a:latin typeface="Liberation Sans"/>
                <a:ea typeface="Liberation Sans"/>
                <a:cs typeface="Liberation Sans"/>
              </a:rPr>
              <a:t>OpenAI, ago/2026</a:t>
            </a:r>
          </a:p>
        </p:txBody>
      </p:sp>
      <p:sp>
        <p:nvSpPr>
          <p:cNvPr id="5" name="215 mi">
            <a:extLst>
              <a:ext uri="{FF2B5EF4-FFF2-40B4-BE49-F238E27FC236}">
                <a16:creationId xmlns:a16="http://schemas.microsoft.com/office/drawing/2014/main" id="{3B879746-59FB-4C9B-825A-D90ECB3ECC9B}"/>
              </a:ext>
            </a:extLst>
          </p:cNvPr>
          <p:cNvSpPr>
            <a:spLocks noGrp="1"/>
          </p:cNvSpPr>
          <p:nvPr/>
        </p:nvSpPr>
        <p:spPr>
          <a:xfrm>
            <a:off x="4419600" y="1581150"/>
            <a:ext cx="3429000" cy="609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  <a:defRPr sz="3525" b="1" i="0">
                <a:solidFill>
                  <a:srgbClr val="D6482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3525" b="1" i="0">
                <a:solidFill>
                  <a:srgbClr val="D64826"/>
                </a:solidFill>
                <a:latin typeface="Liberation Sans"/>
                <a:ea typeface="Liberation Sans"/>
                <a:cs typeface="Liberation Sans"/>
              </a:rPr>
              <a:t>215 mi</a:t>
            </a:r>
          </a:p>
        </p:txBody>
      </p:sp>
      <p:sp>
        <p:nvSpPr>
          <p:cNvPr id="6" name="de mensagens por dia ao ChatGPT. Eram 140 milhões em no">
            <a:extLst>
              <a:ext uri="{FF2B5EF4-FFF2-40B4-BE49-F238E27FC236}">
                <a16:creationId xmlns:a16="http://schemas.microsoft.com/office/drawing/2014/main" id="{33DF4622-72A3-4ECD-ACF8-C7E5022303B0}"/>
              </a:ext>
            </a:extLst>
          </p:cNvPr>
          <p:cNvSpPr>
            <a:spLocks noGrp="1"/>
          </p:cNvSpPr>
          <p:nvPr/>
        </p:nvSpPr>
        <p:spPr>
          <a:xfrm>
            <a:off x="4419600" y="2276475"/>
            <a:ext cx="3400425" cy="10191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  <a:defRPr sz="1575" b="0" i="0">
                <a:solidFill>
                  <a:srgbClr val="232322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575" b="0" i="0">
                <a:solidFill>
                  <a:srgbClr val="232322"/>
                </a:solidFill>
                <a:latin typeface="Liberation Sans"/>
                <a:ea typeface="Liberation Sans"/>
                <a:cs typeface="Liberation Sans"/>
              </a:rPr>
              <a:t>de mensagens por dia ao ChatGPT. Eram 140 milhões em novembro de 2025.</a:t>
            </a:r>
          </a:p>
        </p:txBody>
      </p:sp>
      <p:sp>
        <p:nvSpPr>
          <p:cNvPr id="7" name="OpenAI, ago/2026">
            <a:extLst>
              <a:ext uri="{FF2B5EF4-FFF2-40B4-BE49-F238E27FC236}">
                <a16:creationId xmlns:a16="http://schemas.microsoft.com/office/drawing/2014/main" id="{F6E4133D-65B7-47ED-862E-C0F21D5C1AA0}"/>
              </a:ext>
            </a:extLst>
          </p:cNvPr>
          <p:cNvSpPr>
            <a:spLocks noGrp="1"/>
          </p:cNvSpPr>
          <p:nvPr/>
        </p:nvSpPr>
        <p:spPr>
          <a:xfrm>
            <a:off x="4419600" y="3371850"/>
            <a:ext cx="3476625" cy="2762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  <a:defRPr sz="1088" b="0" i="0">
                <a:solidFill>
                  <a:srgbClr val="666660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088" b="0" i="0">
                <a:solidFill>
                  <a:srgbClr val="666660"/>
                </a:solidFill>
                <a:latin typeface="Liberation Sans"/>
                <a:ea typeface="Liberation Sans"/>
                <a:cs typeface="Liberation Sans"/>
              </a:rPr>
              <a:t>OpenAI, ago/2026</a:t>
            </a:r>
          </a:p>
        </p:txBody>
      </p:sp>
      <p:sp>
        <p:nvSpPr>
          <p:cNvPr id="8" name="35%">
            <a:extLst>
              <a:ext uri="{FF2B5EF4-FFF2-40B4-BE49-F238E27FC236}">
                <a16:creationId xmlns:a16="http://schemas.microsoft.com/office/drawing/2014/main" id="{DFC75CEE-F1F2-456E-A89F-FF877F69CE6C}"/>
              </a:ext>
            </a:extLst>
          </p:cNvPr>
          <p:cNvSpPr>
            <a:spLocks noGrp="1"/>
          </p:cNvSpPr>
          <p:nvPr/>
        </p:nvSpPr>
        <p:spPr>
          <a:xfrm>
            <a:off x="8229600" y="1581150"/>
            <a:ext cx="3429000" cy="609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  <a:defRPr sz="3525" b="1" i="0">
                <a:solidFill>
                  <a:srgbClr val="D6482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3525" b="1" i="0">
                <a:solidFill>
                  <a:srgbClr val="D64826"/>
                </a:solidFill>
                <a:latin typeface="Liberation Sans"/>
                <a:ea typeface="Liberation Sans"/>
                <a:cs typeface="Liberation Sans"/>
              </a:rPr>
              <a:t>35%</a:t>
            </a:r>
          </a:p>
        </p:txBody>
      </p:sp>
      <p:sp>
        <p:nvSpPr>
          <p:cNvPr id="9" name="das mensagens individuais são sobre trabalho. A média m">
            <a:extLst>
              <a:ext uri="{FF2B5EF4-FFF2-40B4-BE49-F238E27FC236}">
                <a16:creationId xmlns:a16="http://schemas.microsoft.com/office/drawing/2014/main" id="{A0A6EF61-4A93-4334-BC80-8A5356F0D820}"/>
              </a:ext>
            </a:extLst>
          </p:cNvPr>
          <p:cNvSpPr>
            <a:spLocks noGrp="1"/>
          </p:cNvSpPr>
          <p:nvPr/>
        </p:nvSpPr>
        <p:spPr>
          <a:xfrm>
            <a:off x="8229600" y="2276475"/>
            <a:ext cx="3400425" cy="10191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  <a:defRPr sz="1575" b="0" i="0">
                <a:solidFill>
                  <a:srgbClr val="232322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575" b="0" i="0">
                <a:solidFill>
                  <a:srgbClr val="232322"/>
                </a:solidFill>
                <a:latin typeface="Liberation Sans"/>
                <a:ea typeface="Liberation Sans"/>
                <a:cs typeface="Liberation Sans"/>
              </a:rPr>
              <a:t>das mensagens individuais são sobre trabalho. A média mundial é de 30%.</a:t>
            </a:r>
          </a:p>
        </p:txBody>
      </p:sp>
      <p:sp>
        <p:nvSpPr>
          <p:cNvPr id="10" name="OpenAI, dados de jun/2026">
            <a:extLst>
              <a:ext uri="{FF2B5EF4-FFF2-40B4-BE49-F238E27FC236}">
                <a16:creationId xmlns:a16="http://schemas.microsoft.com/office/drawing/2014/main" id="{3CEEA4AC-402F-410B-8FFE-11CCC9DD6D60}"/>
              </a:ext>
            </a:extLst>
          </p:cNvPr>
          <p:cNvSpPr>
            <a:spLocks noGrp="1"/>
          </p:cNvSpPr>
          <p:nvPr/>
        </p:nvSpPr>
        <p:spPr>
          <a:xfrm>
            <a:off x="8229600" y="3371850"/>
            <a:ext cx="3476625" cy="2762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  <a:defRPr sz="1088" b="0" i="0">
                <a:solidFill>
                  <a:srgbClr val="666660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088" b="0" i="0">
                <a:solidFill>
                  <a:srgbClr val="666660"/>
                </a:solidFill>
                <a:latin typeface="Liberation Sans"/>
                <a:ea typeface="Liberation Sans"/>
                <a:cs typeface="Liberation Sans"/>
              </a:rPr>
              <a:t>OpenAI, dados de jun/2026</a:t>
            </a:r>
          </a:p>
        </p:txBody>
      </p:sp>
      <p:sp>
        <p:nvSpPr>
          <p:cNvPr id="11" name="50 mi">
            <a:extLst>
              <a:ext uri="{FF2B5EF4-FFF2-40B4-BE49-F238E27FC236}">
                <a16:creationId xmlns:a16="http://schemas.microsoft.com/office/drawing/2014/main" id="{F3C63FD1-0D03-4633-99D0-7B5C0273AFB2}"/>
              </a:ext>
            </a:extLst>
          </p:cNvPr>
          <p:cNvSpPr>
            <a:spLocks noGrp="1"/>
          </p:cNvSpPr>
          <p:nvPr/>
        </p:nvSpPr>
        <p:spPr>
          <a:xfrm>
            <a:off x="609600" y="3733800"/>
            <a:ext cx="3429000" cy="609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  <a:defRPr sz="3525" b="1" i="0">
                <a:solidFill>
                  <a:srgbClr val="D6482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3525" b="1" i="0">
                <a:solidFill>
                  <a:srgbClr val="D64826"/>
                </a:solidFill>
                <a:latin typeface="Liberation Sans"/>
                <a:ea typeface="Liberation Sans"/>
                <a:cs typeface="Liberation Sans"/>
              </a:rPr>
              <a:t>50 mi</a:t>
            </a:r>
          </a:p>
        </p:txBody>
      </p:sp>
      <p:sp>
        <p:nvSpPr>
          <p:cNvPr id="12" name="de brasileiros usam IA generativa: 32% dos usuários de ">
            <a:extLst>
              <a:ext uri="{FF2B5EF4-FFF2-40B4-BE49-F238E27FC236}">
                <a16:creationId xmlns:a16="http://schemas.microsoft.com/office/drawing/2014/main" id="{71AFB3A9-3E89-4C1C-AD3B-B274C9A45B2C}"/>
              </a:ext>
            </a:extLst>
          </p:cNvPr>
          <p:cNvSpPr>
            <a:spLocks noGrp="1"/>
          </p:cNvSpPr>
          <p:nvPr/>
        </p:nvSpPr>
        <p:spPr>
          <a:xfrm>
            <a:off x="609600" y="4429125"/>
            <a:ext cx="3400425" cy="10191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  <a:defRPr sz="1575" b="0" i="0">
                <a:solidFill>
                  <a:srgbClr val="232322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575" b="0" i="0">
                <a:solidFill>
                  <a:srgbClr val="232322"/>
                </a:solidFill>
                <a:latin typeface="Liberation Sans"/>
                <a:ea typeface="Liberation Sans"/>
                <a:cs typeface="Liberation Sans"/>
              </a:rPr>
              <a:t>de brasileiros usam IA generativa: 32% dos usuários de internet com 10 anos ou mais.</a:t>
            </a:r>
          </a:p>
        </p:txBody>
      </p:sp>
      <p:sp>
        <p:nvSpPr>
          <p:cNvPr id="13" name="Cetic.br, TIC Domicílios 2025">
            <a:extLst>
              <a:ext uri="{FF2B5EF4-FFF2-40B4-BE49-F238E27FC236}">
                <a16:creationId xmlns:a16="http://schemas.microsoft.com/office/drawing/2014/main" id="{B5A64BF1-7857-4A6F-B860-8BF8A97974AF}"/>
              </a:ext>
            </a:extLst>
          </p:cNvPr>
          <p:cNvSpPr>
            <a:spLocks noGrp="1"/>
          </p:cNvSpPr>
          <p:nvPr/>
        </p:nvSpPr>
        <p:spPr>
          <a:xfrm>
            <a:off x="609600" y="5524500"/>
            <a:ext cx="3476625" cy="2762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  <a:defRPr sz="1088" b="0" i="0">
                <a:solidFill>
                  <a:srgbClr val="666660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088" b="0" i="0">
                <a:solidFill>
                  <a:srgbClr val="666660"/>
                </a:solidFill>
                <a:latin typeface="Liberation Sans"/>
                <a:ea typeface="Liberation Sans"/>
                <a:cs typeface="Liberation Sans"/>
              </a:rPr>
              <a:t>Cetic.br, TIC Domicílios 2025</a:t>
            </a:r>
          </a:p>
        </p:txBody>
      </p:sp>
      <p:sp>
        <p:nvSpPr>
          <p:cNvPr id="14" name="17%">
            <a:extLst>
              <a:ext uri="{FF2B5EF4-FFF2-40B4-BE49-F238E27FC236}">
                <a16:creationId xmlns:a16="http://schemas.microsoft.com/office/drawing/2014/main" id="{A565B1E1-9E34-496B-A24B-6C827B53BEFF}"/>
              </a:ext>
            </a:extLst>
          </p:cNvPr>
          <p:cNvSpPr>
            <a:spLocks noGrp="1"/>
          </p:cNvSpPr>
          <p:nvPr/>
        </p:nvSpPr>
        <p:spPr>
          <a:xfrm>
            <a:off x="4419600" y="3733800"/>
            <a:ext cx="3429000" cy="609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  <a:defRPr sz="3525" b="1" i="0">
                <a:solidFill>
                  <a:srgbClr val="D6482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3525" b="1" i="0">
                <a:solidFill>
                  <a:srgbClr val="D64826"/>
                </a:solidFill>
                <a:latin typeface="Liberation Sans"/>
                <a:ea typeface="Liberation Sans"/>
                <a:cs typeface="Liberation Sans"/>
              </a:rPr>
              <a:t>17%</a:t>
            </a:r>
          </a:p>
        </p:txBody>
      </p:sp>
      <p:sp>
        <p:nvSpPr>
          <p:cNvPr id="15" name="das empresas usam IA. São 50% das grandes e 15% das peq">
            <a:extLst>
              <a:ext uri="{FF2B5EF4-FFF2-40B4-BE49-F238E27FC236}">
                <a16:creationId xmlns:a16="http://schemas.microsoft.com/office/drawing/2014/main" id="{1315D596-A28C-4414-B5DE-C4A1DC72FDF8}"/>
              </a:ext>
            </a:extLst>
          </p:cNvPr>
          <p:cNvSpPr>
            <a:spLocks noGrp="1"/>
          </p:cNvSpPr>
          <p:nvPr/>
        </p:nvSpPr>
        <p:spPr>
          <a:xfrm>
            <a:off x="4419600" y="4429125"/>
            <a:ext cx="3400425" cy="10191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  <a:defRPr sz="1575" b="0" i="0">
                <a:solidFill>
                  <a:srgbClr val="232322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575" b="0" i="0">
                <a:solidFill>
                  <a:srgbClr val="232322"/>
                </a:solidFill>
                <a:latin typeface="Liberation Sans"/>
                <a:ea typeface="Liberation Sans"/>
                <a:cs typeface="Liberation Sans"/>
              </a:rPr>
              <a:t>das empresas usam IA. São 50% das grandes e 15% das pequenas, no universo pesquisado.</a:t>
            </a:r>
          </a:p>
        </p:txBody>
      </p:sp>
      <p:sp>
        <p:nvSpPr>
          <p:cNvPr id="16" name="Cetic.br, empresas com 10+ pessoas">
            <a:extLst>
              <a:ext uri="{FF2B5EF4-FFF2-40B4-BE49-F238E27FC236}">
                <a16:creationId xmlns:a16="http://schemas.microsoft.com/office/drawing/2014/main" id="{0D96FF4F-0BDD-4043-8D64-A1DEF33155F0}"/>
              </a:ext>
            </a:extLst>
          </p:cNvPr>
          <p:cNvSpPr>
            <a:spLocks noGrp="1"/>
          </p:cNvSpPr>
          <p:nvPr/>
        </p:nvSpPr>
        <p:spPr>
          <a:xfrm>
            <a:off x="4419600" y="5524500"/>
            <a:ext cx="3476625" cy="2762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  <a:defRPr sz="1088" b="0" i="0">
                <a:solidFill>
                  <a:srgbClr val="666660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088" b="0" i="0">
                <a:solidFill>
                  <a:srgbClr val="666660"/>
                </a:solidFill>
                <a:latin typeface="Liberation Sans"/>
                <a:ea typeface="Liberation Sans"/>
                <a:cs typeface="Liberation Sans"/>
              </a:rPr>
              <a:t>Cetic.br, empresas com 10+ pessoas</a:t>
            </a:r>
          </a:p>
        </p:txBody>
      </p:sp>
      <p:sp>
        <p:nvSpPr>
          <p:cNvPr id="17" name="94%">
            <a:extLst>
              <a:ext uri="{FF2B5EF4-FFF2-40B4-BE49-F238E27FC236}">
                <a16:creationId xmlns:a16="http://schemas.microsoft.com/office/drawing/2014/main" id="{90987AB1-5F90-496E-A5F4-7EFC0D3E6E24}"/>
              </a:ext>
            </a:extLst>
          </p:cNvPr>
          <p:cNvSpPr>
            <a:spLocks noGrp="1"/>
          </p:cNvSpPr>
          <p:nvPr/>
        </p:nvSpPr>
        <p:spPr>
          <a:xfrm>
            <a:off x="8229600" y="3733800"/>
            <a:ext cx="3429000" cy="609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  <a:defRPr sz="3525" b="1" i="0">
                <a:solidFill>
                  <a:srgbClr val="D6482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3525" b="1" i="0">
                <a:solidFill>
                  <a:srgbClr val="D64826"/>
                </a:solidFill>
                <a:latin typeface="Liberation Sans"/>
                <a:ea typeface="Liberation Sans"/>
                <a:cs typeface="Liberation Sans"/>
              </a:rPr>
              <a:t>94%</a:t>
            </a:r>
          </a:p>
        </p:txBody>
      </p:sp>
      <p:sp>
        <p:nvSpPr>
          <p:cNvPr id="18" name="dos órgãos do Judiciário já usam inteligência artificia">
            <a:extLst>
              <a:ext uri="{FF2B5EF4-FFF2-40B4-BE49-F238E27FC236}">
                <a16:creationId xmlns:a16="http://schemas.microsoft.com/office/drawing/2014/main" id="{4B2485F0-A2C8-4D15-AD9E-09700A04172D}"/>
              </a:ext>
            </a:extLst>
          </p:cNvPr>
          <p:cNvSpPr>
            <a:spLocks noGrp="1"/>
          </p:cNvSpPr>
          <p:nvPr/>
        </p:nvSpPr>
        <p:spPr>
          <a:xfrm>
            <a:off x="8229600" y="4429125"/>
            <a:ext cx="3400425" cy="10191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  <a:defRPr sz="1575" b="0" i="0">
                <a:solidFill>
                  <a:srgbClr val="232322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575" b="0" i="0">
                <a:solidFill>
                  <a:srgbClr val="232322"/>
                </a:solidFill>
                <a:latin typeface="Liberation Sans"/>
                <a:ea typeface="Liberation Sans"/>
                <a:cs typeface="Liberation Sans"/>
              </a:rPr>
              <a:t>dos órgãos do Judiciário já usam inteligência artificial.</a:t>
            </a:r>
          </a:p>
        </p:txBody>
      </p:sp>
      <p:sp>
        <p:nvSpPr>
          <p:cNvPr id="19" name="Cetic.br, TIC Governo 2025">
            <a:extLst>
              <a:ext uri="{FF2B5EF4-FFF2-40B4-BE49-F238E27FC236}">
                <a16:creationId xmlns:a16="http://schemas.microsoft.com/office/drawing/2014/main" id="{9023AC27-B2D3-4EFD-B87E-E14899640A8E}"/>
              </a:ext>
            </a:extLst>
          </p:cNvPr>
          <p:cNvSpPr>
            <a:spLocks noGrp="1"/>
          </p:cNvSpPr>
          <p:nvPr/>
        </p:nvSpPr>
        <p:spPr>
          <a:xfrm>
            <a:off x="8229600" y="5524500"/>
            <a:ext cx="3476625" cy="2762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  <a:defRPr sz="1088" b="0" i="0">
                <a:solidFill>
                  <a:srgbClr val="666660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088" b="0" i="0">
                <a:solidFill>
                  <a:srgbClr val="666660"/>
                </a:solidFill>
                <a:latin typeface="Liberation Sans"/>
                <a:ea typeface="Liberation Sans"/>
                <a:cs typeface="Liberation Sans"/>
              </a:rPr>
              <a:t>Cetic.br, TIC Governo 2025</a:t>
            </a:r>
          </a:p>
        </p:txBody>
      </p:sp>
      <p:sp>
        <p:nvSpPr>
          <p:cNvPr id="20" name="Oportunidade: levar a IA para o escritório com critério">
            <a:extLst>
              <a:ext uri="{FF2B5EF4-FFF2-40B4-BE49-F238E27FC236}">
                <a16:creationId xmlns:a16="http://schemas.microsoft.com/office/drawing/2014/main" id="{353AD76E-B72A-414E-9623-4DC7306185F5}"/>
              </a:ext>
            </a:extLst>
          </p:cNvPr>
          <p:cNvSpPr>
            <a:spLocks noGrp="1"/>
          </p:cNvSpPr>
          <p:nvPr/>
        </p:nvSpPr>
        <p:spPr>
          <a:xfrm>
            <a:off x="609600" y="5867400"/>
            <a:ext cx="1093470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  <a:defRPr sz="2025" b="1" i="0">
                <a:solidFill>
                  <a:srgbClr val="232322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2025" b="1" i="0" dirty="0" err="1">
                <a:solidFill>
                  <a:srgbClr val="232322"/>
                </a:solidFill>
                <a:latin typeface="Liberation Sans"/>
                <a:ea typeface="Liberation Sans"/>
                <a:cs typeface="Liberation Sans"/>
              </a:rPr>
              <a:t>Oportunidade</a:t>
            </a:r>
            <a:r>
              <a:rPr sz="2025" b="1" i="0" dirty="0">
                <a:solidFill>
                  <a:srgbClr val="232322"/>
                </a:solidFill>
                <a:latin typeface="Liberation Sans"/>
                <a:ea typeface="Liberation Sans"/>
                <a:cs typeface="Liberation Sans"/>
              </a:rPr>
              <a:t>: </a:t>
            </a:r>
            <a:r>
              <a:rPr sz="2025" b="1" i="0" dirty="0" err="1">
                <a:solidFill>
                  <a:srgbClr val="232322"/>
                </a:solidFill>
                <a:latin typeface="Liberation Sans"/>
                <a:ea typeface="Liberation Sans"/>
                <a:cs typeface="Liberation Sans"/>
              </a:rPr>
              <a:t>levar</a:t>
            </a:r>
            <a:r>
              <a:rPr sz="2025" b="1" i="0" dirty="0">
                <a:solidFill>
                  <a:srgbClr val="232322"/>
                </a:solidFill>
                <a:latin typeface="Liberation Sans"/>
                <a:ea typeface="Liberation Sans"/>
                <a:cs typeface="Liberation Sans"/>
              </a:rPr>
              <a:t> a IA para o </a:t>
            </a:r>
            <a:r>
              <a:rPr sz="2025" b="1" i="0" dirty="0" err="1">
                <a:solidFill>
                  <a:srgbClr val="232322"/>
                </a:solidFill>
                <a:latin typeface="Liberation Sans"/>
                <a:ea typeface="Liberation Sans"/>
                <a:cs typeface="Liberation Sans"/>
              </a:rPr>
              <a:t>escritório</a:t>
            </a:r>
            <a:r>
              <a:rPr sz="2025" b="1" i="0" dirty="0">
                <a:solidFill>
                  <a:srgbClr val="232322"/>
                </a:solidFill>
                <a:latin typeface="Liberation Sans"/>
                <a:ea typeface="Liberation Sans"/>
                <a:cs typeface="Liberation Sans"/>
              </a:rPr>
              <a:t> com </a:t>
            </a:r>
            <a:r>
              <a:rPr sz="2025" b="1" i="0" dirty="0" err="1">
                <a:solidFill>
                  <a:srgbClr val="232322"/>
                </a:solidFill>
                <a:latin typeface="Liberation Sans"/>
                <a:ea typeface="Liberation Sans"/>
                <a:cs typeface="Liberation Sans"/>
              </a:rPr>
              <a:t>critérios</a:t>
            </a:r>
            <a:r>
              <a:rPr sz="2025" b="1" i="0" dirty="0">
                <a:solidFill>
                  <a:srgbClr val="232322"/>
                </a:solidFill>
                <a:latin typeface="Liberation Sans"/>
                <a:ea typeface="Liberation Sans"/>
                <a:cs typeface="Liberation Sans"/>
              </a:rPr>
              <a:t> e </a:t>
            </a:r>
            <a:r>
              <a:rPr sz="2025" b="1" i="0" dirty="0" err="1">
                <a:solidFill>
                  <a:srgbClr val="232322"/>
                </a:solidFill>
                <a:latin typeface="Liberation Sans"/>
                <a:ea typeface="Liberation Sans"/>
                <a:cs typeface="Liberation Sans"/>
              </a:rPr>
              <a:t>segurança</a:t>
            </a:r>
            <a:r>
              <a:rPr sz="2025" b="1" i="0" dirty="0">
                <a:solidFill>
                  <a:srgbClr val="232322"/>
                </a:solidFill>
                <a:latin typeface="Liberation Sans"/>
                <a:ea typeface="Liberation Sans"/>
                <a:cs typeface="Liberation Sans"/>
              </a:rPr>
              <a:t>.</a:t>
            </a:r>
          </a:p>
        </p:txBody>
      </p:sp>
      <p:sp>
        <p:nvSpPr>
          <p:cNvPr id="21" name="Fontes: OpenAI, TIC Domicílios 2025, TIC Empresas 2025 ">
            <a:extLst>
              <a:ext uri="{FF2B5EF4-FFF2-40B4-BE49-F238E27FC236}">
                <a16:creationId xmlns:a16="http://schemas.microsoft.com/office/drawing/2014/main" id="{4651C2A0-28BC-4F5E-A273-AAD1C3AE4E97}"/>
              </a:ext>
            </a:extLst>
          </p:cNvPr>
          <p:cNvSpPr>
            <a:spLocks noGrp="1"/>
          </p:cNvSpPr>
          <p:nvPr/>
        </p:nvSpPr>
        <p:spPr>
          <a:xfrm>
            <a:off x="609600" y="6276975"/>
            <a:ext cx="10572750" cy="3333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  <a:defRPr sz="1013" b="0" i="0">
                <a:solidFill>
                  <a:srgbClr val="666660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013" b="0" i="0">
                <a:solidFill>
                  <a:srgbClr val="666660"/>
                </a:solidFill>
                <a:latin typeface="Liberation Sans"/>
                <a:ea typeface="Liberation Sans"/>
                <a:cs typeface="Liberation Sans"/>
              </a:rPr>
              <a:t>Fontes: OpenAI, TIC Domicílios 2025, TIC Empresas 2025 e TIC Governo 2025. Os indicadores medem populações distintas.</a:t>
            </a:r>
          </a:p>
        </p:txBody>
      </p:sp>
      <p:sp>
        <p:nvSpPr>
          <p:cNvPr id="22" name="05">
            <a:extLst>
              <a:ext uri="{FF2B5EF4-FFF2-40B4-BE49-F238E27FC236}">
                <a16:creationId xmlns:a16="http://schemas.microsoft.com/office/drawing/2014/main" id="{60CF4912-ECC0-458C-8912-BE49C7396E3D}"/>
              </a:ext>
            </a:extLst>
          </p:cNvPr>
          <p:cNvSpPr>
            <a:spLocks noGrp="1"/>
          </p:cNvSpPr>
          <p:nvPr/>
        </p:nvSpPr>
        <p:spPr>
          <a:xfrm>
            <a:off x="11258550" y="6515100"/>
            <a:ext cx="333375" cy="1905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r">
              <a:buNone/>
              <a:defRPr sz="1050" b="0" i="0">
                <a:solidFill>
                  <a:srgbClr val="8A8882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050" b="0" i="0">
                <a:solidFill>
                  <a:srgbClr val="8A8882"/>
                </a:solidFill>
                <a:latin typeface="Liberation Sans"/>
                <a:ea typeface="Liberation Sans"/>
                <a:cs typeface="Liberation Sans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160066421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O impacto no secretariado">
            <a:extLst>
              <a:ext uri="{FF2B5EF4-FFF2-40B4-BE49-F238E27FC236}">
                <a16:creationId xmlns:a16="http://schemas.microsoft.com/office/drawing/2014/main" id="{AEF122F1-A936-4C88-B8FB-38301D519A5A}"/>
              </a:ext>
            </a:extLst>
          </p:cNvPr>
          <p:cNvSpPr>
            <a:spLocks noGrp="1"/>
          </p:cNvSpPr>
          <p:nvPr/>
        </p:nvSpPr>
        <p:spPr>
          <a:xfrm>
            <a:off x="609600" y="419100"/>
            <a:ext cx="10972800" cy="685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  <a:defRPr sz="3450" b="1" i="0">
                <a:solidFill>
                  <a:srgbClr val="232322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3450" b="1" i="0">
                <a:solidFill>
                  <a:srgbClr val="232322"/>
                </a:solidFill>
                <a:latin typeface="Liberation Sans"/>
                <a:ea typeface="Liberation Sans"/>
                <a:cs typeface="Liberation Sans"/>
              </a:rPr>
              <a:t>O impacto no secretariado</a:t>
            </a:r>
          </a:p>
        </p:txBody>
      </p:sp>
      <p:sp>
        <p:nvSpPr>
          <p:cNvPr id="2" name="170 mi">
            <a:extLst>
              <a:ext uri="{FF2B5EF4-FFF2-40B4-BE49-F238E27FC236}">
                <a16:creationId xmlns:a16="http://schemas.microsoft.com/office/drawing/2014/main" id="{ED1B3587-1947-4A91-B611-65E323743220}"/>
              </a:ext>
            </a:extLst>
          </p:cNvPr>
          <p:cNvSpPr>
            <a:spLocks noGrp="1"/>
          </p:cNvSpPr>
          <p:nvPr/>
        </p:nvSpPr>
        <p:spPr>
          <a:xfrm>
            <a:off x="609600" y="1676400"/>
            <a:ext cx="3419475" cy="5334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  <a:defRPr sz="3225" b="1" i="0">
                <a:solidFill>
                  <a:srgbClr val="D6482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3225" b="1" i="0">
                <a:solidFill>
                  <a:srgbClr val="D64826"/>
                </a:solidFill>
                <a:latin typeface="Liberation Sans"/>
                <a:ea typeface="Liberation Sans"/>
                <a:cs typeface="Liberation Sans"/>
              </a:rPr>
              <a:t>170 mi</a:t>
            </a:r>
          </a:p>
        </p:txBody>
      </p:sp>
      <p:sp>
        <p:nvSpPr>
          <p:cNvPr id="3" name="de empregos criados e 92 mi deslocados no mundo até 203">
            <a:extLst>
              <a:ext uri="{FF2B5EF4-FFF2-40B4-BE49-F238E27FC236}">
                <a16:creationId xmlns:a16="http://schemas.microsoft.com/office/drawing/2014/main" id="{329B6AC7-DF70-4E89-B3CE-C7E6F0416DA1}"/>
              </a:ext>
            </a:extLst>
          </p:cNvPr>
          <p:cNvSpPr>
            <a:spLocks noGrp="1"/>
          </p:cNvSpPr>
          <p:nvPr/>
        </p:nvSpPr>
        <p:spPr>
          <a:xfrm>
            <a:off x="609600" y="2295525"/>
            <a:ext cx="3390900" cy="933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  <a:defRPr sz="1538" b="0" i="0">
                <a:solidFill>
                  <a:srgbClr val="232322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538" b="0" i="0">
                <a:solidFill>
                  <a:srgbClr val="232322"/>
                </a:solidFill>
                <a:latin typeface="Liberation Sans"/>
                <a:ea typeface="Liberation Sans"/>
                <a:cs typeface="Liberation Sans"/>
              </a:rPr>
              <a:t>de empregos criados e 92 mi deslocados no mundo até 2030.</a:t>
            </a:r>
          </a:p>
        </p:txBody>
      </p:sp>
      <p:sp>
        <p:nvSpPr>
          <p:cNvPr id="4" name="WEF, conjunto de transformações econômicas">
            <a:extLst>
              <a:ext uri="{FF2B5EF4-FFF2-40B4-BE49-F238E27FC236}">
                <a16:creationId xmlns:a16="http://schemas.microsoft.com/office/drawing/2014/main" id="{0670C27D-FF26-4C59-825B-A8309EC58C63}"/>
              </a:ext>
            </a:extLst>
          </p:cNvPr>
          <p:cNvSpPr>
            <a:spLocks noGrp="1"/>
          </p:cNvSpPr>
          <p:nvPr/>
        </p:nvSpPr>
        <p:spPr>
          <a:xfrm>
            <a:off x="609600" y="3305175"/>
            <a:ext cx="3438525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  <a:defRPr sz="1013" b="0" i="0">
                <a:solidFill>
                  <a:srgbClr val="666660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013" b="0" i="0">
                <a:solidFill>
                  <a:srgbClr val="666660"/>
                </a:solidFill>
                <a:latin typeface="Liberation Sans"/>
                <a:ea typeface="Liberation Sans"/>
                <a:cs typeface="Liberation Sans"/>
              </a:rPr>
              <a:t>WEF, conjunto de transformações econômicas</a:t>
            </a:r>
          </a:p>
        </p:txBody>
      </p:sp>
      <p:sp>
        <p:nvSpPr>
          <p:cNvPr id="5" name="Em declínio">
            <a:hlinkHover r:id="rId3" action="ppaction://hlinksldjump"/>
            <a:extLst>
              <a:ext uri="{FF2B5EF4-FFF2-40B4-BE49-F238E27FC236}">
                <a16:creationId xmlns:a16="http://schemas.microsoft.com/office/drawing/2014/main" id="{3A38B561-C565-494E-A477-0452BBFECEE6}"/>
              </a:ext>
            </a:extLst>
          </p:cNvPr>
          <p:cNvSpPr>
            <a:spLocks noGrp="1"/>
          </p:cNvSpPr>
          <p:nvPr/>
        </p:nvSpPr>
        <p:spPr>
          <a:xfrm>
            <a:off x="4391025" y="1767840"/>
            <a:ext cx="3419475" cy="5334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  <a:defRPr sz="2475" b="1" i="0">
                <a:solidFill>
                  <a:srgbClr val="D6482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2475" b="1" i="0">
                <a:solidFill>
                  <a:srgbClr val="D64826"/>
                </a:solidFill>
                <a:latin typeface="Liberation Sans"/>
                <a:ea typeface="Liberation Sans"/>
                <a:cs typeface="Liberation Sans"/>
              </a:rPr>
              <a:t>Em declínio</a:t>
            </a:r>
          </a:p>
        </p:txBody>
      </p:sp>
      <p:sp>
        <p:nvSpPr>
          <p:cNvPr id="6" name="Assistentes administrativos e secretárias executivas es">
            <a:extLst>
              <a:ext uri="{FF2B5EF4-FFF2-40B4-BE49-F238E27FC236}">
                <a16:creationId xmlns:a16="http://schemas.microsoft.com/office/drawing/2014/main" id="{C31BBF44-FFE4-42A9-9975-1226CAAEA9FE}"/>
              </a:ext>
            </a:extLst>
          </p:cNvPr>
          <p:cNvSpPr>
            <a:spLocks noGrp="1"/>
          </p:cNvSpPr>
          <p:nvPr/>
        </p:nvSpPr>
        <p:spPr>
          <a:xfrm>
            <a:off x="4391025" y="2295525"/>
            <a:ext cx="3390900" cy="933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  <a:defRPr sz="1538" b="0" i="0">
                <a:solidFill>
                  <a:srgbClr val="232322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538" b="0" i="0">
                <a:solidFill>
                  <a:srgbClr val="232322"/>
                </a:solidFill>
                <a:latin typeface="Liberation Sans"/>
                <a:ea typeface="Liberation Sans"/>
                <a:cs typeface="Liberation Sans"/>
              </a:rPr>
              <a:t>Assistentes administrativos e secretárias executivas estão entre as maiores quedas previstas.</a:t>
            </a:r>
          </a:p>
        </p:txBody>
      </p:sp>
      <p:sp>
        <p:nvSpPr>
          <p:cNvPr id="7" name="WEF, Future of Jobs 2025">
            <a:extLst>
              <a:ext uri="{FF2B5EF4-FFF2-40B4-BE49-F238E27FC236}">
                <a16:creationId xmlns:a16="http://schemas.microsoft.com/office/drawing/2014/main" id="{E45650A3-6F72-4EFD-82ED-2BC1C8081CBB}"/>
              </a:ext>
            </a:extLst>
          </p:cNvPr>
          <p:cNvSpPr>
            <a:spLocks noGrp="1"/>
          </p:cNvSpPr>
          <p:nvPr/>
        </p:nvSpPr>
        <p:spPr>
          <a:xfrm>
            <a:off x="4391025" y="3305175"/>
            <a:ext cx="3438525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  <a:defRPr sz="1013" b="0" i="0">
                <a:solidFill>
                  <a:srgbClr val="666660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013" b="0" i="0">
                <a:solidFill>
                  <a:srgbClr val="666660"/>
                </a:solidFill>
                <a:latin typeface="Liberation Sans"/>
                <a:ea typeface="Liberation Sans"/>
                <a:cs typeface="Liberation Sans"/>
              </a:rPr>
              <a:t>WEF, Future of Jobs 2025</a:t>
            </a:r>
          </a:p>
        </p:txBody>
      </p:sp>
      <p:sp>
        <p:nvSpPr>
          <p:cNvPr id="8" name="≥50%">
            <a:extLst>
              <a:ext uri="{FF2B5EF4-FFF2-40B4-BE49-F238E27FC236}">
                <a16:creationId xmlns:a16="http://schemas.microsoft.com/office/drawing/2014/main" id="{BEBDFCE4-D13F-45AC-B666-DF93B8A6B031}"/>
              </a:ext>
            </a:extLst>
          </p:cNvPr>
          <p:cNvSpPr>
            <a:spLocks noGrp="1"/>
          </p:cNvSpPr>
          <p:nvPr/>
        </p:nvSpPr>
        <p:spPr>
          <a:xfrm>
            <a:off x="609600" y="3705225"/>
            <a:ext cx="3419475" cy="5334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  <a:defRPr sz="3225" b="1" i="0">
                <a:solidFill>
                  <a:srgbClr val="D6482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3225" b="1" i="0">
                <a:solidFill>
                  <a:srgbClr val="D64826"/>
                </a:solidFill>
                <a:latin typeface="Liberation Sans"/>
                <a:ea typeface="Liberation Sans"/>
                <a:cs typeface="Liberation Sans"/>
              </a:rPr>
              <a:t>≥50%</a:t>
            </a:r>
          </a:p>
        </p:txBody>
      </p:sp>
      <p:sp>
        <p:nvSpPr>
          <p:cNvPr id="9" name="dos profissionais do conhecimento terão habilidades par">
            <a:extLst>
              <a:ext uri="{FF2B5EF4-FFF2-40B4-BE49-F238E27FC236}">
                <a16:creationId xmlns:a16="http://schemas.microsoft.com/office/drawing/2014/main" id="{A5465A35-5A7C-45AC-AA8B-3AE94A26CD42}"/>
              </a:ext>
            </a:extLst>
          </p:cNvPr>
          <p:cNvSpPr>
            <a:spLocks noGrp="1"/>
          </p:cNvSpPr>
          <p:nvPr/>
        </p:nvSpPr>
        <p:spPr>
          <a:xfrm>
            <a:off x="609600" y="4324350"/>
            <a:ext cx="3390900" cy="933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  <a:defRPr sz="1538" b="0" i="0">
                <a:solidFill>
                  <a:srgbClr val="232322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538" b="0" i="0">
                <a:solidFill>
                  <a:srgbClr val="232322"/>
                </a:solidFill>
                <a:latin typeface="Liberation Sans"/>
                <a:ea typeface="Liberation Sans"/>
                <a:cs typeface="Liberation Sans"/>
              </a:rPr>
              <a:t>dos profissionais do conhecimento terão habilidades para trabalhar com agentes até 2029.</a:t>
            </a:r>
          </a:p>
        </p:txBody>
      </p:sp>
      <p:sp>
        <p:nvSpPr>
          <p:cNvPr id="10" name="Previsão Gartner, ago/2025">
            <a:extLst>
              <a:ext uri="{FF2B5EF4-FFF2-40B4-BE49-F238E27FC236}">
                <a16:creationId xmlns:a16="http://schemas.microsoft.com/office/drawing/2014/main" id="{C694AAE2-5DD9-4958-A8A9-733450B3C19C}"/>
              </a:ext>
            </a:extLst>
          </p:cNvPr>
          <p:cNvSpPr>
            <a:spLocks noGrp="1"/>
          </p:cNvSpPr>
          <p:nvPr/>
        </p:nvSpPr>
        <p:spPr>
          <a:xfrm>
            <a:off x="609600" y="5334000"/>
            <a:ext cx="3438525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  <a:defRPr sz="1013" b="0" i="0">
                <a:solidFill>
                  <a:srgbClr val="666660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013" b="0" i="0">
                <a:solidFill>
                  <a:srgbClr val="666660"/>
                </a:solidFill>
                <a:latin typeface="Liberation Sans"/>
                <a:ea typeface="Liberation Sans"/>
                <a:cs typeface="Liberation Sans"/>
              </a:rPr>
              <a:t>Previsão Gartner, ago/2025</a:t>
            </a:r>
          </a:p>
        </p:txBody>
      </p:sp>
      <p:sp>
        <p:nvSpPr>
          <p:cNvPr id="11" name="57%">
            <a:extLst>
              <a:ext uri="{FF2B5EF4-FFF2-40B4-BE49-F238E27FC236}">
                <a16:creationId xmlns:a16="http://schemas.microsoft.com/office/drawing/2014/main" id="{0CB7CAA1-041D-4042-B97E-703C1152DB55}"/>
              </a:ext>
            </a:extLst>
          </p:cNvPr>
          <p:cNvSpPr>
            <a:spLocks noGrp="1"/>
          </p:cNvSpPr>
          <p:nvPr/>
        </p:nvSpPr>
        <p:spPr>
          <a:xfrm>
            <a:off x="4391025" y="3705225"/>
            <a:ext cx="3419475" cy="5334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  <a:defRPr sz="3225" b="1" i="0">
                <a:solidFill>
                  <a:srgbClr val="D6482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3225" b="1" i="0">
                <a:solidFill>
                  <a:srgbClr val="D64826"/>
                </a:solidFill>
                <a:latin typeface="Liberation Sans"/>
                <a:ea typeface="Liberation Sans"/>
                <a:cs typeface="Liberation Sans"/>
              </a:rPr>
              <a:t>57%</a:t>
            </a:r>
          </a:p>
        </p:txBody>
      </p:sp>
      <p:sp>
        <p:nvSpPr>
          <p:cNvPr id="12" name="das conversas com Claude no Brasil são de trabalho. Méd">
            <a:extLst>
              <a:ext uri="{FF2B5EF4-FFF2-40B4-BE49-F238E27FC236}">
                <a16:creationId xmlns:a16="http://schemas.microsoft.com/office/drawing/2014/main" id="{B6B7C31B-8D67-4C99-B146-06074D03CA85}"/>
              </a:ext>
            </a:extLst>
          </p:cNvPr>
          <p:cNvSpPr>
            <a:spLocks noGrp="1"/>
          </p:cNvSpPr>
          <p:nvPr/>
        </p:nvSpPr>
        <p:spPr>
          <a:xfrm>
            <a:off x="4391025" y="4324350"/>
            <a:ext cx="3390900" cy="933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  <a:defRPr sz="1538" b="0" i="0">
                <a:solidFill>
                  <a:srgbClr val="232322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538" b="0" i="0">
                <a:solidFill>
                  <a:srgbClr val="232322"/>
                </a:solidFill>
                <a:latin typeface="Liberation Sans"/>
                <a:ea typeface="Liberation Sans"/>
                <a:cs typeface="Liberation Sans"/>
              </a:rPr>
              <a:t>das conversas com o Claude no Brasil são de trabalho (mundo: 43%). Apoio administrativo: 8,9% do total.</a:t>
            </a:r>
          </a:p>
        </p:txBody>
      </p:sp>
      <p:sp>
        <p:nvSpPr>
          <p:cNvPr id="13" name="Anthropic, uso observado em mai/2026">
            <a:extLst>
              <a:ext uri="{FF2B5EF4-FFF2-40B4-BE49-F238E27FC236}">
                <a16:creationId xmlns:a16="http://schemas.microsoft.com/office/drawing/2014/main" id="{BBD0C58B-2E9A-4FD9-BF0B-12A8971E5749}"/>
              </a:ext>
            </a:extLst>
          </p:cNvPr>
          <p:cNvSpPr>
            <a:spLocks noGrp="1"/>
          </p:cNvSpPr>
          <p:nvPr/>
        </p:nvSpPr>
        <p:spPr>
          <a:xfrm>
            <a:off x="4391025" y="5334000"/>
            <a:ext cx="3438525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013" b="0" i="0">
                <a:solidFill>
                  <a:srgbClr val="666660"/>
                </a:solidFill>
                <a:latin typeface="Liberation Sans"/>
                <a:ea typeface="Liberation Sans"/>
                <a:cs typeface="Liberation Sans"/>
              </a:defRPr>
            </a:pPr>
            <a:r>
              <a:rPr lang="en-US" sz="1013" dirty="0">
                <a:solidFill>
                  <a:srgbClr val="666660"/>
                </a:solidFill>
                <a:latin typeface="Liberation Sans"/>
              </a:rPr>
              <a:t>Anthropic Economic Index, </a:t>
            </a:r>
            <a:r>
              <a:rPr lang="en-US" sz="1013" dirty="0" err="1">
                <a:solidFill>
                  <a:srgbClr val="666660"/>
                </a:solidFill>
                <a:latin typeface="Liberation Sans"/>
              </a:rPr>
              <a:t>uso</a:t>
            </a:r>
            <a:r>
              <a:rPr lang="en-US" sz="1013" dirty="0">
                <a:solidFill>
                  <a:srgbClr val="666660"/>
                </a:solidFill>
                <a:latin typeface="Liberation Sans"/>
              </a:rPr>
              <a:t> </a:t>
            </a:r>
            <a:r>
              <a:rPr lang="en-US" sz="1013" dirty="0" err="1">
                <a:solidFill>
                  <a:srgbClr val="666660"/>
                </a:solidFill>
                <a:latin typeface="Liberation Sans"/>
              </a:rPr>
              <a:t>observado</a:t>
            </a:r>
            <a:r>
              <a:rPr lang="en-US" sz="1013" dirty="0">
                <a:solidFill>
                  <a:srgbClr val="666660"/>
                </a:solidFill>
                <a:latin typeface="Liberation Sans"/>
              </a:rPr>
              <a:t> </a:t>
            </a:r>
            <a:r>
              <a:rPr lang="en-US" sz="1013" dirty="0" err="1">
                <a:solidFill>
                  <a:srgbClr val="666660"/>
                </a:solidFill>
                <a:latin typeface="Liberation Sans"/>
              </a:rPr>
              <a:t>em</a:t>
            </a:r>
            <a:r>
              <a:rPr lang="en-US" sz="1013" dirty="0">
                <a:solidFill>
                  <a:srgbClr val="666660"/>
                </a:solidFill>
                <a:latin typeface="Liberation Sans"/>
              </a:rPr>
              <a:t> </a:t>
            </a:r>
            <a:r>
              <a:rPr lang="en-US" sz="1013" dirty="0" err="1">
                <a:solidFill>
                  <a:srgbClr val="666660"/>
                </a:solidFill>
                <a:latin typeface="Liberation Sans"/>
              </a:rPr>
              <a:t>mai</a:t>
            </a:r>
            <a:r>
              <a:rPr lang="en-US" sz="1013" dirty="0">
                <a:solidFill>
                  <a:srgbClr val="666660"/>
                </a:solidFill>
                <a:latin typeface="Liberation Sans"/>
              </a:rPr>
              <a:t>/2026 (</a:t>
            </a:r>
            <a:r>
              <a:rPr lang="en-US" sz="1013" dirty="0" err="1">
                <a:solidFill>
                  <a:srgbClr val="666660"/>
                </a:solidFill>
                <a:latin typeface="Liberation Sans"/>
              </a:rPr>
              <a:t>publicado</a:t>
            </a:r>
            <a:r>
              <a:rPr lang="en-US" sz="1013" dirty="0">
                <a:solidFill>
                  <a:srgbClr val="666660"/>
                </a:solidFill>
                <a:latin typeface="Liberation Sans"/>
              </a:rPr>
              <a:t> </a:t>
            </a:r>
            <a:r>
              <a:rPr lang="en-US" sz="1013" dirty="0" err="1">
                <a:solidFill>
                  <a:srgbClr val="666660"/>
                </a:solidFill>
                <a:latin typeface="Liberation Sans"/>
              </a:rPr>
              <a:t>em</a:t>
            </a:r>
            <a:r>
              <a:rPr lang="en-US" sz="1013" dirty="0">
                <a:solidFill>
                  <a:srgbClr val="666660"/>
                </a:solidFill>
                <a:latin typeface="Liberation Sans"/>
              </a:rPr>
              <a:t> </a:t>
            </a:r>
            <a:r>
              <a:rPr lang="en-US" sz="1013" dirty="0" err="1">
                <a:solidFill>
                  <a:srgbClr val="666660"/>
                </a:solidFill>
                <a:latin typeface="Liberation Sans"/>
              </a:rPr>
              <a:t>jun</a:t>
            </a:r>
            <a:r>
              <a:rPr lang="en-US" sz="1013" dirty="0">
                <a:solidFill>
                  <a:srgbClr val="666660"/>
                </a:solidFill>
                <a:latin typeface="Liberation Sans"/>
              </a:rPr>
              <a:t>/2026), anthropic.com/economic-index</a:t>
            </a:r>
            <a:endParaRPr sz="1013" b="0" i="0" dirty="0">
              <a:solidFill>
                <a:srgbClr val="666660"/>
              </a:solidFill>
              <a:latin typeface="Liberation Sans"/>
              <a:ea typeface="Liberation Sans"/>
              <a:cs typeface="Liberation Sans"/>
            </a:endParaRPr>
          </a:p>
        </p:txBody>
      </p:sp>
      <p:sp>
        <p:nvSpPr>
          <p:cNvPr id="16" name="Tarefas de apoio administrativo: 8,9% das conversas no ">
            <a:extLst>
              <a:ext uri="{FF2B5EF4-FFF2-40B4-BE49-F238E27FC236}">
                <a16:creationId xmlns:a16="http://schemas.microsoft.com/office/drawing/2014/main" id="{041E7E9B-1D40-48CF-AE29-DF6684A83087}"/>
              </a:ext>
            </a:extLst>
          </p:cNvPr>
          <p:cNvSpPr>
            <a:spLocks noGrp="1"/>
          </p:cNvSpPr>
          <p:nvPr/>
        </p:nvSpPr>
        <p:spPr>
          <a:xfrm>
            <a:off x="609600" y="5819775"/>
            <a:ext cx="10963275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  <a:defRPr sz="1800" b="1" i="0">
                <a:solidFill>
                  <a:srgbClr val="232322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800" b="1" i="0">
                <a:solidFill>
                  <a:srgbClr val="232322"/>
                </a:solidFill>
                <a:latin typeface="Liberation Sans"/>
                <a:ea typeface="Liberation Sans"/>
                <a:cs typeface="Liberation Sans"/>
              </a:rPr>
              <a:t>Mais espaço para julgamento: organizar o contexto, gerenciar agentes, conferir e decidir.</a:t>
            </a:r>
          </a:p>
        </p:txBody>
      </p:sp>
      <p:sp>
        <p:nvSpPr>
          <p:cNvPr id="17" name="Fontes: WEF, OIT, FGV IBRE, Gartner e Anthropic Economic Ind">
            <a:extLst>
              <a:ext uri="{FF2B5EF4-FFF2-40B4-BE49-F238E27FC236}">
                <a16:creationId xmlns:a16="http://schemas.microsoft.com/office/drawing/2014/main" id="{984FFFC5-2920-40E3-809A-B087C09700B1}"/>
              </a:ext>
            </a:extLst>
          </p:cNvPr>
          <p:cNvSpPr>
            <a:spLocks noGrp="1"/>
          </p:cNvSpPr>
          <p:nvPr/>
        </p:nvSpPr>
        <p:spPr>
          <a:xfrm>
            <a:off x="609600" y="6276975"/>
            <a:ext cx="10572750" cy="3333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  <a:defRPr sz="1013" b="0" i="0">
                <a:solidFill>
                  <a:srgbClr val="666660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013" b="0" i="0">
                <a:solidFill>
                  <a:srgbClr val="666660"/>
                </a:solidFill>
                <a:latin typeface="Liberation Sans"/>
                <a:ea typeface="Liberation Sans"/>
                <a:cs typeface="Liberation Sans"/>
              </a:rPr>
              <a:t>Fontes: WEF, OIT, FGV IBRE, Gartner e Anthropic Economic Index. Uso observado no Claude (chat e Cowork) não mede empregos. Links nos slides 20 e 23.</a:t>
            </a:r>
          </a:p>
        </p:txBody>
      </p:sp>
      <p:sp>
        <p:nvSpPr>
          <p:cNvPr id="18" name="06">
            <a:extLst>
              <a:ext uri="{FF2B5EF4-FFF2-40B4-BE49-F238E27FC236}">
                <a16:creationId xmlns:a16="http://schemas.microsoft.com/office/drawing/2014/main" id="{4D64C5CC-8AA1-4E3A-9581-2D03CF370D4D}"/>
              </a:ext>
            </a:extLst>
          </p:cNvPr>
          <p:cNvSpPr>
            <a:spLocks noGrp="1"/>
          </p:cNvSpPr>
          <p:nvPr/>
        </p:nvSpPr>
        <p:spPr>
          <a:xfrm>
            <a:off x="11258550" y="6515100"/>
            <a:ext cx="333375" cy="1905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r">
              <a:buNone/>
              <a:defRPr sz="1050" b="0" i="0">
                <a:solidFill>
                  <a:srgbClr val="8A8882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050" b="0" i="0">
                <a:solidFill>
                  <a:srgbClr val="8A8882"/>
                </a:solidFill>
                <a:latin typeface="Liberation Sans"/>
                <a:ea typeface="Liberation Sans"/>
                <a:cs typeface="Liberation Sans"/>
              </a:rPr>
              <a:t>07</a:t>
            </a:r>
          </a:p>
        </p:txBody>
      </p:sp>
      <p:sp>
        <p:nvSpPr>
          <p:cNvPr id="40" name="1 em cada 4">
            <a:extLst>
              <a:ext uri="{FF2B5EF4-FFF2-40B4-BE49-F238E27FC236}">
                <a16:creationId xmlns:a16="http://schemas.microsoft.com/office/drawing/2014/main" id="{ED1B3587-1947-4A91-B611-65E323743220}"/>
              </a:ext>
            </a:extLst>
          </p:cNvPr>
          <p:cNvSpPr>
            <a:spLocks noGrp="1"/>
          </p:cNvSpPr>
          <p:nvPr/>
        </p:nvSpPr>
        <p:spPr>
          <a:xfrm>
            <a:off x="8172450" y="1676400"/>
            <a:ext cx="3419475" cy="5334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  <a:defRPr sz="3225" b="1" i="0">
                <a:solidFill>
                  <a:srgbClr val="D6482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3225" b="1" i="0">
                <a:solidFill>
                  <a:srgbClr val="D64826"/>
                </a:solidFill>
                <a:latin typeface="Liberation Sans"/>
                <a:ea typeface="Liberation Sans"/>
                <a:cs typeface="Liberation Sans"/>
              </a:rPr>
              <a:t>1 em cada 4</a:t>
            </a:r>
          </a:p>
        </p:txBody>
      </p:sp>
      <p:sp>
        <p:nvSpPr>
          <p:cNvPr id="41" name="empregos no mundo pode ser transformado pela IA ge">
            <a:extLst>
              <a:ext uri="{FF2B5EF4-FFF2-40B4-BE49-F238E27FC236}">
                <a16:creationId xmlns:a16="http://schemas.microsoft.com/office/drawing/2014/main" id="{329B6AC7-DF70-4E89-B3CE-C7E6F0416DA1}"/>
              </a:ext>
            </a:extLst>
          </p:cNvPr>
          <p:cNvSpPr>
            <a:spLocks noGrp="1"/>
          </p:cNvSpPr>
          <p:nvPr/>
        </p:nvSpPr>
        <p:spPr>
          <a:xfrm>
            <a:off x="8172450" y="2295525"/>
            <a:ext cx="3390900" cy="933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  <a:defRPr sz="1538" b="0" i="0">
                <a:solidFill>
                  <a:srgbClr val="232322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538" b="0" i="0">
                <a:solidFill>
                  <a:srgbClr val="232322"/>
                </a:solidFill>
                <a:latin typeface="Liberation Sans"/>
                <a:ea typeface="Liberation Sans"/>
                <a:cs typeface="Liberation Sans"/>
              </a:rPr>
              <a:t>empregos no mundo pode ser transformado pela IA generativa. O administrativo é o mais exposto.</a:t>
            </a:r>
          </a:p>
        </p:txBody>
      </p:sp>
      <p:sp>
        <p:nvSpPr>
          <p:cNvPr id="42" name="OIT, índice global de exposição, 2025">
            <a:extLst>
              <a:ext uri="{FF2B5EF4-FFF2-40B4-BE49-F238E27FC236}">
                <a16:creationId xmlns:a16="http://schemas.microsoft.com/office/drawing/2014/main" id="{0670C27D-FF26-4C59-825B-A8309EC58C63}"/>
              </a:ext>
            </a:extLst>
          </p:cNvPr>
          <p:cNvSpPr>
            <a:spLocks noGrp="1"/>
          </p:cNvSpPr>
          <p:nvPr/>
        </p:nvSpPr>
        <p:spPr>
          <a:xfrm>
            <a:off x="8172450" y="3305175"/>
            <a:ext cx="3438525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  <a:defRPr sz="1013" b="0" i="0">
                <a:solidFill>
                  <a:srgbClr val="666660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013" b="0" i="0">
                <a:solidFill>
                  <a:srgbClr val="666660"/>
                </a:solidFill>
                <a:latin typeface="Liberation Sans"/>
                <a:ea typeface="Liberation Sans"/>
                <a:cs typeface="Liberation Sans"/>
              </a:rPr>
              <a:t>OIT, índice global de exposição, 2025</a:t>
            </a:r>
          </a:p>
        </p:txBody>
      </p:sp>
      <p:sp>
        <p:nvSpPr>
          <p:cNvPr id="43" name="≈30 mi">
            <a:extLst>
              <a:ext uri="{FF2B5EF4-FFF2-40B4-BE49-F238E27FC236}">
                <a16:creationId xmlns:a16="http://schemas.microsoft.com/office/drawing/2014/main" id="{BEBDFCE4-D13F-45AC-B666-DF93B8A6B031}"/>
              </a:ext>
            </a:extLst>
          </p:cNvPr>
          <p:cNvSpPr>
            <a:spLocks noGrp="1"/>
          </p:cNvSpPr>
          <p:nvPr/>
        </p:nvSpPr>
        <p:spPr>
          <a:xfrm>
            <a:off x="8172450" y="3705225"/>
            <a:ext cx="3419475" cy="5334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  <a:defRPr sz="3225" b="1" i="0">
                <a:solidFill>
                  <a:srgbClr val="D6482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3225" b="1" i="0">
                <a:solidFill>
                  <a:srgbClr val="D64826"/>
                </a:solidFill>
                <a:latin typeface="Liberation Sans"/>
                <a:ea typeface="Liberation Sans"/>
                <a:cs typeface="Liberation Sans"/>
              </a:rPr>
              <a:t>≈30 mi</a:t>
            </a:r>
          </a:p>
        </p:txBody>
      </p:sp>
      <p:sp>
        <p:nvSpPr>
          <p:cNvPr id="44" name="de trabalhadores no Brasil (29,6%) estão em ocupaç">
            <a:extLst>
              <a:ext uri="{FF2B5EF4-FFF2-40B4-BE49-F238E27FC236}">
                <a16:creationId xmlns:a16="http://schemas.microsoft.com/office/drawing/2014/main" id="{A5465A35-5A7C-45AC-AA8B-3AE94A26CD42}"/>
              </a:ext>
            </a:extLst>
          </p:cNvPr>
          <p:cNvSpPr>
            <a:spLocks noGrp="1"/>
          </p:cNvSpPr>
          <p:nvPr/>
        </p:nvSpPr>
        <p:spPr>
          <a:xfrm>
            <a:off x="8172450" y="4324350"/>
            <a:ext cx="3390900" cy="933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  <a:defRPr sz="1538" b="0" i="0">
                <a:solidFill>
                  <a:srgbClr val="232322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538" b="0" i="0">
                <a:solidFill>
                  <a:srgbClr val="232322"/>
                </a:solidFill>
                <a:latin typeface="Liberation Sans"/>
                <a:ea typeface="Liberation Sans"/>
                <a:cs typeface="Liberation Sans"/>
              </a:rPr>
              <a:t>de trabalhadores no Brasil (29,6%) estão em ocupações expostas à IA: 35% das mulheres e 25% dos homens.</a:t>
            </a:r>
          </a:p>
        </p:txBody>
      </p:sp>
      <p:sp>
        <p:nvSpPr>
          <p:cNvPr id="45" name="FGV IBRE, PNAD do 3º tri de 2025">
            <a:extLst>
              <a:ext uri="{FF2B5EF4-FFF2-40B4-BE49-F238E27FC236}">
                <a16:creationId xmlns:a16="http://schemas.microsoft.com/office/drawing/2014/main" id="{C694AAE2-5DD9-4958-A8A9-733450B3C19C}"/>
              </a:ext>
            </a:extLst>
          </p:cNvPr>
          <p:cNvSpPr>
            <a:spLocks noGrp="1"/>
          </p:cNvSpPr>
          <p:nvPr/>
        </p:nvSpPr>
        <p:spPr>
          <a:xfrm>
            <a:off x="8172450" y="5334000"/>
            <a:ext cx="3438525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  <a:defRPr sz="1013" b="0" i="0">
                <a:solidFill>
                  <a:srgbClr val="666660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013" b="0" i="0">
                <a:solidFill>
                  <a:srgbClr val="666660"/>
                </a:solidFill>
                <a:latin typeface="Liberation Sans"/>
                <a:ea typeface="Liberation Sans"/>
                <a:cs typeface="Liberation Sans"/>
              </a:rPr>
              <a:t>FGV IBRE, PNAD do 3º tri de 2025</a:t>
            </a:r>
          </a:p>
        </p:txBody>
      </p:sp>
    </p:spTree>
    <p:extLst>
      <p:ext uri="{BB962C8B-B14F-4D97-AF65-F5344CB8AC3E}">
        <p14:creationId xmlns:p14="http://schemas.microsoft.com/office/powerpoint/2010/main" val="20037511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solidFill>
          <a:srgbClr val="FAF9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O impacto no secretariado">
            <a:extLst>
              <a:ext uri="{FF2B5EF4-FFF2-40B4-BE49-F238E27FC236}">
                <a16:creationId xmlns:a16="http://schemas.microsoft.com/office/drawing/2014/main" id="{AEF122F1-A936-4C88-B8FB-38301D519A5A}"/>
              </a:ext>
            </a:extLst>
          </p:cNvPr>
          <p:cNvSpPr>
            <a:spLocks noGrp="1"/>
          </p:cNvSpPr>
          <p:nvPr/>
        </p:nvSpPr>
        <p:spPr>
          <a:xfrm>
            <a:off x="609600" y="419100"/>
            <a:ext cx="10972800" cy="685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  <a:defRPr sz="3450" b="1" i="0">
                <a:solidFill>
                  <a:srgbClr val="232322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3450" b="1" i="0">
                <a:solidFill>
                  <a:srgbClr val="232322"/>
                </a:solidFill>
                <a:latin typeface="Liberation Sans"/>
                <a:ea typeface="Liberation Sans"/>
                <a:cs typeface="Liberation Sans"/>
              </a:rPr>
              <a:t>O impacto no secretariado</a:t>
            </a:r>
          </a:p>
        </p:txBody>
      </p:sp>
      <p:sp>
        <p:nvSpPr>
          <p:cNvPr id="2" name="170 mi">
            <a:extLst>
              <a:ext uri="{FF2B5EF4-FFF2-40B4-BE49-F238E27FC236}">
                <a16:creationId xmlns:a16="http://schemas.microsoft.com/office/drawing/2014/main" id="{ED1B3587-1947-4A91-B611-65E323743220}"/>
              </a:ext>
            </a:extLst>
          </p:cNvPr>
          <p:cNvSpPr>
            <a:spLocks noGrp="1"/>
          </p:cNvSpPr>
          <p:nvPr/>
        </p:nvSpPr>
        <p:spPr>
          <a:xfrm>
            <a:off x="609600" y="1676400"/>
            <a:ext cx="3419475" cy="5334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  <a:defRPr sz="3225" b="1" i="0">
                <a:solidFill>
                  <a:srgbClr val="D6482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3225" b="1" i="0">
                <a:solidFill>
                  <a:srgbClr val="D64826"/>
                </a:solidFill>
                <a:latin typeface="Liberation Sans"/>
                <a:ea typeface="Liberation Sans"/>
                <a:cs typeface="Liberation Sans"/>
              </a:rPr>
              <a:t>170 mi</a:t>
            </a:r>
          </a:p>
        </p:txBody>
      </p:sp>
      <p:sp>
        <p:nvSpPr>
          <p:cNvPr id="3" name="de empregos criados e 92 mi deslocados no mundo até 203">
            <a:extLst>
              <a:ext uri="{FF2B5EF4-FFF2-40B4-BE49-F238E27FC236}">
                <a16:creationId xmlns:a16="http://schemas.microsoft.com/office/drawing/2014/main" id="{329B6AC7-DF70-4E89-B3CE-C7E6F0416DA1}"/>
              </a:ext>
            </a:extLst>
          </p:cNvPr>
          <p:cNvSpPr>
            <a:spLocks noGrp="1"/>
          </p:cNvSpPr>
          <p:nvPr/>
        </p:nvSpPr>
        <p:spPr>
          <a:xfrm>
            <a:off x="609600" y="2295525"/>
            <a:ext cx="3390900" cy="933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  <a:defRPr sz="1538" b="0" i="0">
                <a:solidFill>
                  <a:srgbClr val="232322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538" b="0" i="0">
                <a:solidFill>
                  <a:srgbClr val="232322"/>
                </a:solidFill>
                <a:latin typeface="Liberation Sans"/>
                <a:ea typeface="Liberation Sans"/>
                <a:cs typeface="Liberation Sans"/>
              </a:rPr>
              <a:t>de empregos criados e 92 mi deslocados no mundo até 2030.</a:t>
            </a:r>
          </a:p>
        </p:txBody>
      </p:sp>
      <p:sp>
        <p:nvSpPr>
          <p:cNvPr id="4" name="WEF, conjunto de transformações econômicas">
            <a:extLst>
              <a:ext uri="{FF2B5EF4-FFF2-40B4-BE49-F238E27FC236}">
                <a16:creationId xmlns:a16="http://schemas.microsoft.com/office/drawing/2014/main" id="{0670C27D-FF26-4C59-825B-A8309EC58C63}"/>
              </a:ext>
            </a:extLst>
          </p:cNvPr>
          <p:cNvSpPr>
            <a:spLocks noGrp="1"/>
          </p:cNvSpPr>
          <p:nvPr/>
        </p:nvSpPr>
        <p:spPr>
          <a:xfrm>
            <a:off x="609600" y="3305175"/>
            <a:ext cx="3438525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  <a:defRPr sz="1013" b="0" i="0">
                <a:solidFill>
                  <a:srgbClr val="666660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013" b="0" i="0">
                <a:solidFill>
                  <a:srgbClr val="666660"/>
                </a:solidFill>
                <a:latin typeface="Liberation Sans"/>
                <a:ea typeface="Liberation Sans"/>
                <a:cs typeface="Liberation Sans"/>
              </a:rPr>
              <a:t>WEF, conjunto de transformações econômicas</a:t>
            </a:r>
          </a:p>
        </p:txBody>
      </p:sp>
      <p:sp>
        <p:nvSpPr>
          <p:cNvPr id="5" name="Em declínio">
            <a:extLst>
              <a:ext uri="{FF2B5EF4-FFF2-40B4-BE49-F238E27FC236}">
                <a16:creationId xmlns:a16="http://schemas.microsoft.com/office/drawing/2014/main" id="{3A38B561-C565-494E-A477-0452BBFECEE6}"/>
              </a:ext>
            </a:extLst>
          </p:cNvPr>
          <p:cNvSpPr>
            <a:spLocks noGrp="1"/>
          </p:cNvSpPr>
          <p:nvPr/>
        </p:nvSpPr>
        <p:spPr>
          <a:xfrm>
            <a:off x="4391025" y="1767840"/>
            <a:ext cx="3419475" cy="5334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  <a:defRPr sz="2475" b="1" i="0">
                <a:solidFill>
                  <a:srgbClr val="D6482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2475" b="1" i="0">
                <a:solidFill>
                  <a:srgbClr val="D64826"/>
                </a:solidFill>
                <a:latin typeface="Liberation Sans"/>
                <a:ea typeface="Liberation Sans"/>
                <a:cs typeface="Liberation Sans"/>
              </a:rPr>
              <a:t>Em declínio</a:t>
            </a:r>
          </a:p>
        </p:txBody>
      </p:sp>
      <p:sp>
        <p:nvSpPr>
          <p:cNvPr id="6" name="Assistentes administrativos e secretárias executivas es">
            <a:extLst>
              <a:ext uri="{FF2B5EF4-FFF2-40B4-BE49-F238E27FC236}">
                <a16:creationId xmlns:a16="http://schemas.microsoft.com/office/drawing/2014/main" id="{C31BBF44-FFE4-42A9-9975-1226CAAEA9FE}"/>
              </a:ext>
            </a:extLst>
          </p:cNvPr>
          <p:cNvSpPr>
            <a:spLocks noGrp="1"/>
          </p:cNvSpPr>
          <p:nvPr/>
        </p:nvSpPr>
        <p:spPr>
          <a:xfrm>
            <a:off x="4391025" y="2295525"/>
            <a:ext cx="3390900" cy="933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  <a:defRPr sz="1538" b="0" i="0">
                <a:solidFill>
                  <a:srgbClr val="232322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538" b="0" i="0">
                <a:solidFill>
                  <a:srgbClr val="232322"/>
                </a:solidFill>
                <a:latin typeface="Liberation Sans"/>
                <a:ea typeface="Liberation Sans"/>
                <a:cs typeface="Liberation Sans"/>
              </a:rPr>
              <a:t>Assistentes administrativos e secretárias executivas estão entre as maiores quedas previstas.</a:t>
            </a:r>
          </a:p>
        </p:txBody>
      </p:sp>
      <p:sp>
        <p:nvSpPr>
          <p:cNvPr id="7" name="WEF, Future of Jobs 2025">
            <a:extLst>
              <a:ext uri="{FF2B5EF4-FFF2-40B4-BE49-F238E27FC236}">
                <a16:creationId xmlns:a16="http://schemas.microsoft.com/office/drawing/2014/main" id="{E45650A3-6F72-4EFD-82ED-2BC1C8081CBB}"/>
              </a:ext>
            </a:extLst>
          </p:cNvPr>
          <p:cNvSpPr>
            <a:spLocks noGrp="1"/>
          </p:cNvSpPr>
          <p:nvPr/>
        </p:nvSpPr>
        <p:spPr>
          <a:xfrm>
            <a:off x="4391025" y="3305175"/>
            <a:ext cx="3438525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  <a:defRPr sz="1013" b="0" i="0">
                <a:solidFill>
                  <a:srgbClr val="666660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013" b="0" i="0">
                <a:solidFill>
                  <a:srgbClr val="666660"/>
                </a:solidFill>
                <a:latin typeface="Liberation Sans"/>
                <a:ea typeface="Liberation Sans"/>
                <a:cs typeface="Liberation Sans"/>
              </a:rPr>
              <a:t>WEF, Future of Jobs 2025</a:t>
            </a:r>
          </a:p>
        </p:txBody>
      </p:sp>
      <p:sp>
        <p:nvSpPr>
          <p:cNvPr id="8" name="≥50%">
            <a:extLst>
              <a:ext uri="{FF2B5EF4-FFF2-40B4-BE49-F238E27FC236}">
                <a16:creationId xmlns:a16="http://schemas.microsoft.com/office/drawing/2014/main" id="{BEBDFCE4-D13F-45AC-B666-DF93B8A6B031}"/>
              </a:ext>
            </a:extLst>
          </p:cNvPr>
          <p:cNvSpPr>
            <a:spLocks noGrp="1"/>
          </p:cNvSpPr>
          <p:nvPr/>
        </p:nvSpPr>
        <p:spPr>
          <a:xfrm>
            <a:off x="609600" y="3705225"/>
            <a:ext cx="3419475" cy="5334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  <a:defRPr sz="3225" b="1" i="0">
                <a:solidFill>
                  <a:srgbClr val="D6482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3225" b="1" i="0">
                <a:solidFill>
                  <a:srgbClr val="D64826"/>
                </a:solidFill>
                <a:latin typeface="Liberation Sans"/>
                <a:ea typeface="Liberation Sans"/>
                <a:cs typeface="Liberation Sans"/>
              </a:rPr>
              <a:t>≥50%</a:t>
            </a:r>
          </a:p>
        </p:txBody>
      </p:sp>
      <p:sp>
        <p:nvSpPr>
          <p:cNvPr id="9" name="dos profissionais do conhecimento terão habilidades par">
            <a:extLst>
              <a:ext uri="{FF2B5EF4-FFF2-40B4-BE49-F238E27FC236}">
                <a16:creationId xmlns:a16="http://schemas.microsoft.com/office/drawing/2014/main" id="{A5465A35-5A7C-45AC-AA8B-3AE94A26CD42}"/>
              </a:ext>
            </a:extLst>
          </p:cNvPr>
          <p:cNvSpPr>
            <a:spLocks noGrp="1"/>
          </p:cNvSpPr>
          <p:nvPr/>
        </p:nvSpPr>
        <p:spPr>
          <a:xfrm>
            <a:off x="609600" y="4324350"/>
            <a:ext cx="3390900" cy="933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  <a:defRPr sz="1538" b="0" i="0">
                <a:solidFill>
                  <a:srgbClr val="232322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538" b="0" i="0">
                <a:solidFill>
                  <a:srgbClr val="232322"/>
                </a:solidFill>
                <a:latin typeface="Liberation Sans"/>
                <a:ea typeface="Liberation Sans"/>
                <a:cs typeface="Liberation Sans"/>
              </a:rPr>
              <a:t>dos profissionais do conhecimento terão habilidades para trabalhar com agentes até 2029.</a:t>
            </a:r>
          </a:p>
        </p:txBody>
      </p:sp>
      <p:sp>
        <p:nvSpPr>
          <p:cNvPr id="10" name="Previsão Gartner, ago/2025">
            <a:extLst>
              <a:ext uri="{FF2B5EF4-FFF2-40B4-BE49-F238E27FC236}">
                <a16:creationId xmlns:a16="http://schemas.microsoft.com/office/drawing/2014/main" id="{C694AAE2-5DD9-4958-A8A9-733450B3C19C}"/>
              </a:ext>
            </a:extLst>
          </p:cNvPr>
          <p:cNvSpPr>
            <a:spLocks noGrp="1"/>
          </p:cNvSpPr>
          <p:nvPr/>
        </p:nvSpPr>
        <p:spPr>
          <a:xfrm>
            <a:off x="609600" y="5334000"/>
            <a:ext cx="3438525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  <a:defRPr sz="1013" b="0" i="0">
                <a:solidFill>
                  <a:srgbClr val="666660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013" b="0" i="0">
                <a:solidFill>
                  <a:srgbClr val="666660"/>
                </a:solidFill>
                <a:latin typeface="Liberation Sans"/>
                <a:ea typeface="Liberation Sans"/>
                <a:cs typeface="Liberation Sans"/>
              </a:rPr>
              <a:t>Previsão Gartner, ago/2025</a:t>
            </a:r>
          </a:p>
        </p:txBody>
      </p:sp>
      <p:sp>
        <p:nvSpPr>
          <p:cNvPr id="11" name="57%">
            <a:extLst>
              <a:ext uri="{FF2B5EF4-FFF2-40B4-BE49-F238E27FC236}">
                <a16:creationId xmlns:a16="http://schemas.microsoft.com/office/drawing/2014/main" id="{0CB7CAA1-041D-4042-B97E-703C1152DB55}"/>
              </a:ext>
            </a:extLst>
          </p:cNvPr>
          <p:cNvSpPr>
            <a:spLocks noGrp="1"/>
          </p:cNvSpPr>
          <p:nvPr/>
        </p:nvSpPr>
        <p:spPr>
          <a:xfrm>
            <a:off x="4391025" y="3705225"/>
            <a:ext cx="3419475" cy="5334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  <a:defRPr sz="3225" b="1" i="0">
                <a:solidFill>
                  <a:srgbClr val="D6482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3225" b="1" i="0">
                <a:solidFill>
                  <a:srgbClr val="D64826"/>
                </a:solidFill>
                <a:latin typeface="Liberation Sans"/>
                <a:ea typeface="Liberation Sans"/>
                <a:cs typeface="Liberation Sans"/>
              </a:rPr>
              <a:t>57%</a:t>
            </a:r>
          </a:p>
        </p:txBody>
      </p:sp>
      <p:sp>
        <p:nvSpPr>
          <p:cNvPr id="12" name="das conversas com Claude no Brasil são de trabalho. Méd">
            <a:extLst>
              <a:ext uri="{FF2B5EF4-FFF2-40B4-BE49-F238E27FC236}">
                <a16:creationId xmlns:a16="http://schemas.microsoft.com/office/drawing/2014/main" id="{B6B7C31B-8D67-4C99-B146-06074D03CA85}"/>
              </a:ext>
            </a:extLst>
          </p:cNvPr>
          <p:cNvSpPr>
            <a:spLocks noGrp="1"/>
          </p:cNvSpPr>
          <p:nvPr/>
        </p:nvSpPr>
        <p:spPr>
          <a:xfrm>
            <a:off x="4391025" y="4324350"/>
            <a:ext cx="3390900" cy="933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  <a:defRPr sz="1538" b="0" i="0">
                <a:solidFill>
                  <a:srgbClr val="232322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538" b="0" i="0">
                <a:solidFill>
                  <a:srgbClr val="232322"/>
                </a:solidFill>
                <a:latin typeface="Liberation Sans"/>
                <a:ea typeface="Liberation Sans"/>
                <a:cs typeface="Liberation Sans"/>
              </a:rPr>
              <a:t>das conversas com o Claude no Brasil são de trabalho (mundo: 43%). Apoio administrativo: 8,9% do total.</a:t>
            </a:r>
          </a:p>
        </p:txBody>
      </p:sp>
      <p:sp>
        <p:nvSpPr>
          <p:cNvPr id="13" name="Anthropic, uso observado em mai/2026">
            <a:extLst>
              <a:ext uri="{FF2B5EF4-FFF2-40B4-BE49-F238E27FC236}">
                <a16:creationId xmlns:a16="http://schemas.microsoft.com/office/drawing/2014/main" id="{BBD0C58B-2E9A-4FD9-BF0B-12A8971E5749}"/>
              </a:ext>
            </a:extLst>
          </p:cNvPr>
          <p:cNvSpPr>
            <a:spLocks noGrp="1"/>
          </p:cNvSpPr>
          <p:nvPr/>
        </p:nvSpPr>
        <p:spPr>
          <a:xfrm>
            <a:off x="4391025" y="5334000"/>
            <a:ext cx="3438525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013" b="0" i="0">
                <a:solidFill>
                  <a:srgbClr val="666660"/>
                </a:solidFill>
                <a:latin typeface="Liberation Sans"/>
                <a:ea typeface="Liberation Sans"/>
                <a:cs typeface="Liberation Sans"/>
              </a:defRPr>
            </a:pPr>
            <a:r>
              <a:rPr lang="en-US" sz="1013" dirty="0">
                <a:solidFill>
                  <a:srgbClr val="666660"/>
                </a:solidFill>
                <a:latin typeface="Liberation Sans"/>
              </a:rPr>
              <a:t>Anthropic Economic Index, </a:t>
            </a:r>
            <a:r>
              <a:rPr lang="en-US" sz="1013" dirty="0" err="1">
                <a:solidFill>
                  <a:srgbClr val="666660"/>
                </a:solidFill>
                <a:latin typeface="Liberation Sans"/>
              </a:rPr>
              <a:t>uso</a:t>
            </a:r>
            <a:r>
              <a:rPr lang="en-US" sz="1013" dirty="0">
                <a:solidFill>
                  <a:srgbClr val="666660"/>
                </a:solidFill>
                <a:latin typeface="Liberation Sans"/>
              </a:rPr>
              <a:t> </a:t>
            </a:r>
            <a:r>
              <a:rPr lang="en-US" sz="1013" dirty="0" err="1">
                <a:solidFill>
                  <a:srgbClr val="666660"/>
                </a:solidFill>
                <a:latin typeface="Liberation Sans"/>
              </a:rPr>
              <a:t>observado</a:t>
            </a:r>
            <a:r>
              <a:rPr lang="en-US" sz="1013" dirty="0">
                <a:solidFill>
                  <a:srgbClr val="666660"/>
                </a:solidFill>
                <a:latin typeface="Liberation Sans"/>
              </a:rPr>
              <a:t> </a:t>
            </a:r>
            <a:r>
              <a:rPr lang="en-US" sz="1013" dirty="0" err="1">
                <a:solidFill>
                  <a:srgbClr val="666660"/>
                </a:solidFill>
                <a:latin typeface="Liberation Sans"/>
              </a:rPr>
              <a:t>em</a:t>
            </a:r>
            <a:r>
              <a:rPr lang="en-US" sz="1013" dirty="0">
                <a:solidFill>
                  <a:srgbClr val="666660"/>
                </a:solidFill>
                <a:latin typeface="Liberation Sans"/>
              </a:rPr>
              <a:t> </a:t>
            </a:r>
            <a:r>
              <a:rPr lang="en-US" sz="1013" dirty="0" err="1">
                <a:solidFill>
                  <a:srgbClr val="666660"/>
                </a:solidFill>
                <a:latin typeface="Liberation Sans"/>
              </a:rPr>
              <a:t>mai</a:t>
            </a:r>
            <a:r>
              <a:rPr lang="en-US" sz="1013" dirty="0">
                <a:solidFill>
                  <a:srgbClr val="666660"/>
                </a:solidFill>
                <a:latin typeface="Liberation Sans"/>
              </a:rPr>
              <a:t>/2026 (</a:t>
            </a:r>
            <a:r>
              <a:rPr lang="en-US" sz="1013" dirty="0" err="1">
                <a:solidFill>
                  <a:srgbClr val="666660"/>
                </a:solidFill>
                <a:latin typeface="Liberation Sans"/>
              </a:rPr>
              <a:t>publicado</a:t>
            </a:r>
            <a:r>
              <a:rPr lang="en-US" sz="1013" dirty="0">
                <a:solidFill>
                  <a:srgbClr val="666660"/>
                </a:solidFill>
                <a:latin typeface="Liberation Sans"/>
              </a:rPr>
              <a:t> </a:t>
            </a:r>
            <a:r>
              <a:rPr lang="en-US" sz="1013" dirty="0" err="1">
                <a:solidFill>
                  <a:srgbClr val="666660"/>
                </a:solidFill>
                <a:latin typeface="Liberation Sans"/>
              </a:rPr>
              <a:t>em</a:t>
            </a:r>
            <a:r>
              <a:rPr lang="en-US" sz="1013" dirty="0">
                <a:solidFill>
                  <a:srgbClr val="666660"/>
                </a:solidFill>
                <a:latin typeface="Liberation Sans"/>
              </a:rPr>
              <a:t> </a:t>
            </a:r>
            <a:r>
              <a:rPr lang="en-US" sz="1013" dirty="0" err="1">
                <a:solidFill>
                  <a:srgbClr val="666660"/>
                </a:solidFill>
                <a:latin typeface="Liberation Sans"/>
              </a:rPr>
              <a:t>jun</a:t>
            </a:r>
            <a:r>
              <a:rPr lang="en-US" sz="1013" dirty="0">
                <a:solidFill>
                  <a:srgbClr val="666660"/>
                </a:solidFill>
                <a:latin typeface="Liberation Sans"/>
              </a:rPr>
              <a:t>/2026), anthropic.com/economic-index</a:t>
            </a:r>
            <a:endParaRPr sz="1013" b="0" i="0" dirty="0">
              <a:solidFill>
                <a:srgbClr val="666660"/>
              </a:solidFill>
              <a:latin typeface="Liberation Sans"/>
              <a:ea typeface="Liberation Sans"/>
              <a:cs typeface="Liberation Sans"/>
            </a:endParaRPr>
          </a:p>
        </p:txBody>
      </p:sp>
      <p:sp>
        <p:nvSpPr>
          <p:cNvPr id="16" name="Tarefas de apoio administrativo: 8,9% das conversas no ">
            <a:extLst>
              <a:ext uri="{FF2B5EF4-FFF2-40B4-BE49-F238E27FC236}">
                <a16:creationId xmlns:a16="http://schemas.microsoft.com/office/drawing/2014/main" id="{041E7E9B-1D40-48CF-AE29-DF6684A83087}"/>
              </a:ext>
            </a:extLst>
          </p:cNvPr>
          <p:cNvSpPr>
            <a:spLocks noGrp="1"/>
          </p:cNvSpPr>
          <p:nvPr/>
        </p:nvSpPr>
        <p:spPr>
          <a:xfrm>
            <a:off x="609600" y="5819775"/>
            <a:ext cx="10963275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  <a:defRPr sz="1800" b="1" i="0">
                <a:solidFill>
                  <a:srgbClr val="232322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800" b="1" i="0">
                <a:solidFill>
                  <a:srgbClr val="232322"/>
                </a:solidFill>
                <a:latin typeface="Liberation Sans"/>
                <a:ea typeface="Liberation Sans"/>
                <a:cs typeface="Liberation Sans"/>
              </a:rPr>
              <a:t>Mais espaço para julgamento: organizar o contexto, gerenciar agentes, conferir e decidir.</a:t>
            </a:r>
          </a:p>
        </p:txBody>
      </p:sp>
      <p:sp>
        <p:nvSpPr>
          <p:cNvPr id="17" name="Fontes: WEF, OIT, FGV IBRE, Gartner e Anthropic Economic Ind">
            <a:extLst>
              <a:ext uri="{FF2B5EF4-FFF2-40B4-BE49-F238E27FC236}">
                <a16:creationId xmlns:a16="http://schemas.microsoft.com/office/drawing/2014/main" id="{984FFFC5-2920-40E3-809A-B087C09700B1}"/>
              </a:ext>
            </a:extLst>
          </p:cNvPr>
          <p:cNvSpPr>
            <a:spLocks noGrp="1"/>
          </p:cNvSpPr>
          <p:nvPr/>
        </p:nvSpPr>
        <p:spPr>
          <a:xfrm>
            <a:off x="609600" y="6276975"/>
            <a:ext cx="10572750" cy="3333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  <a:defRPr sz="1013" b="0" i="0">
                <a:solidFill>
                  <a:srgbClr val="666660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013" b="0" i="0">
                <a:solidFill>
                  <a:srgbClr val="666660"/>
                </a:solidFill>
                <a:latin typeface="Liberation Sans"/>
                <a:ea typeface="Liberation Sans"/>
                <a:cs typeface="Liberation Sans"/>
              </a:rPr>
              <a:t>Fontes: WEF, OIT, FGV IBRE, Gartner e Anthropic Economic Index. Uso observado no Claude (chat e Cowork) não mede empregos. Links nos slides 20 e 23.</a:t>
            </a:r>
          </a:p>
        </p:txBody>
      </p:sp>
      <p:sp>
        <p:nvSpPr>
          <p:cNvPr id="18" name="06">
            <a:extLst>
              <a:ext uri="{FF2B5EF4-FFF2-40B4-BE49-F238E27FC236}">
                <a16:creationId xmlns:a16="http://schemas.microsoft.com/office/drawing/2014/main" id="{4D64C5CC-8AA1-4E3A-9581-2D03CF370D4D}"/>
              </a:ext>
            </a:extLst>
          </p:cNvPr>
          <p:cNvSpPr>
            <a:spLocks noGrp="1"/>
          </p:cNvSpPr>
          <p:nvPr/>
        </p:nvSpPr>
        <p:spPr>
          <a:xfrm>
            <a:off x="11258550" y="6515100"/>
            <a:ext cx="333375" cy="1905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r">
              <a:buNone/>
              <a:defRPr sz="1050" b="0" i="0">
                <a:solidFill>
                  <a:srgbClr val="8A8882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050" b="0" i="0">
                <a:solidFill>
                  <a:srgbClr val="8A8882"/>
                </a:solidFill>
                <a:latin typeface="Liberation Sans"/>
                <a:ea typeface="Liberation Sans"/>
                <a:cs typeface="Liberation Sans"/>
              </a:rPr>
              <a:t>07</a:t>
            </a:r>
          </a:p>
        </p:txBody>
      </p:sp>
      <p:sp>
        <p:nvSpPr>
          <p:cNvPr id="40" name="1 em cada 4">
            <a:extLst>
              <a:ext uri="{FF2B5EF4-FFF2-40B4-BE49-F238E27FC236}">
                <a16:creationId xmlns:a16="http://schemas.microsoft.com/office/drawing/2014/main" id="{ED1B3587-1947-4A91-B611-65E323743220}"/>
              </a:ext>
            </a:extLst>
          </p:cNvPr>
          <p:cNvSpPr>
            <a:spLocks noGrp="1"/>
          </p:cNvSpPr>
          <p:nvPr/>
        </p:nvSpPr>
        <p:spPr>
          <a:xfrm>
            <a:off x="8172450" y="1676400"/>
            <a:ext cx="3419475" cy="5334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  <a:defRPr sz="3225" b="1" i="0">
                <a:solidFill>
                  <a:srgbClr val="D6482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3225" b="1" i="0">
                <a:solidFill>
                  <a:srgbClr val="D64826"/>
                </a:solidFill>
                <a:latin typeface="Liberation Sans"/>
                <a:ea typeface="Liberation Sans"/>
                <a:cs typeface="Liberation Sans"/>
              </a:rPr>
              <a:t>1 em cada 4</a:t>
            </a:r>
          </a:p>
        </p:txBody>
      </p:sp>
      <p:sp>
        <p:nvSpPr>
          <p:cNvPr id="41" name="empregos no mundo pode ser transformado pela IA ge">
            <a:extLst>
              <a:ext uri="{FF2B5EF4-FFF2-40B4-BE49-F238E27FC236}">
                <a16:creationId xmlns:a16="http://schemas.microsoft.com/office/drawing/2014/main" id="{329B6AC7-DF70-4E89-B3CE-C7E6F0416DA1}"/>
              </a:ext>
            </a:extLst>
          </p:cNvPr>
          <p:cNvSpPr>
            <a:spLocks noGrp="1"/>
          </p:cNvSpPr>
          <p:nvPr/>
        </p:nvSpPr>
        <p:spPr>
          <a:xfrm>
            <a:off x="8172450" y="2295525"/>
            <a:ext cx="3390900" cy="933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  <a:defRPr sz="1538" b="0" i="0">
                <a:solidFill>
                  <a:srgbClr val="232322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538" b="0" i="0">
                <a:solidFill>
                  <a:srgbClr val="232322"/>
                </a:solidFill>
                <a:latin typeface="Liberation Sans"/>
                <a:ea typeface="Liberation Sans"/>
                <a:cs typeface="Liberation Sans"/>
              </a:rPr>
              <a:t>empregos no mundo pode ser transformado pela IA generativa. O administrativo é o mais exposto.</a:t>
            </a:r>
          </a:p>
        </p:txBody>
      </p:sp>
      <p:sp>
        <p:nvSpPr>
          <p:cNvPr id="42" name="OIT, índice global de exposição, 2025">
            <a:extLst>
              <a:ext uri="{FF2B5EF4-FFF2-40B4-BE49-F238E27FC236}">
                <a16:creationId xmlns:a16="http://schemas.microsoft.com/office/drawing/2014/main" id="{0670C27D-FF26-4C59-825B-A8309EC58C63}"/>
              </a:ext>
            </a:extLst>
          </p:cNvPr>
          <p:cNvSpPr>
            <a:spLocks noGrp="1"/>
          </p:cNvSpPr>
          <p:nvPr/>
        </p:nvSpPr>
        <p:spPr>
          <a:xfrm>
            <a:off x="8172450" y="3305175"/>
            <a:ext cx="3438525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  <a:defRPr sz="1013" b="0" i="0">
                <a:solidFill>
                  <a:srgbClr val="666660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013" b="0" i="0">
                <a:solidFill>
                  <a:srgbClr val="666660"/>
                </a:solidFill>
                <a:latin typeface="Liberation Sans"/>
                <a:ea typeface="Liberation Sans"/>
                <a:cs typeface="Liberation Sans"/>
              </a:rPr>
              <a:t>OIT, índice global de exposição, 2025</a:t>
            </a:r>
          </a:p>
        </p:txBody>
      </p:sp>
      <p:sp>
        <p:nvSpPr>
          <p:cNvPr id="43" name="≈30 mi">
            <a:extLst>
              <a:ext uri="{FF2B5EF4-FFF2-40B4-BE49-F238E27FC236}">
                <a16:creationId xmlns:a16="http://schemas.microsoft.com/office/drawing/2014/main" id="{BEBDFCE4-D13F-45AC-B666-DF93B8A6B031}"/>
              </a:ext>
            </a:extLst>
          </p:cNvPr>
          <p:cNvSpPr>
            <a:spLocks noGrp="1"/>
          </p:cNvSpPr>
          <p:nvPr/>
        </p:nvSpPr>
        <p:spPr>
          <a:xfrm>
            <a:off x="8172450" y="3705225"/>
            <a:ext cx="3419475" cy="5334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  <a:defRPr sz="3225" b="1" i="0">
                <a:solidFill>
                  <a:srgbClr val="D6482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3225" b="1" i="0">
                <a:solidFill>
                  <a:srgbClr val="D64826"/>
                </a:solidFill>
                <a:latin typeface="Liberation Sans"/>
                <a:ea typeface="Liberation Sans"/>
                <a:cs typeface="Liberation Sans"/>
              </a:rPr>
              <a:t>≈30 mi</a:t>
            </a:r>
          </a:p>
        </p:txBody>
      </p:sp>
      <p:sp>
        <p:nvSpPr>
          <p:cNvPr id="44" name="de trabalhadores no Brasil (29,6%) estão em ocupaç">
            <a:extLst>
              <a:ext uri="{FF2B5EF4-FFF2-40B4-BE49-F238E27FC236}">
                <a16:creationId xmlns:a16="http://schemas.microsoft.com/office/drawing/2014/main" id="{A5465A35-5A7C-45AC-AA8B-3AE94A26CD42}"/>
              </a:ext>
            </a:extLst>
          </p:cNvPr>
          <p:cNvSpPr>
            <a:spLocks noGrp="1"/>
          </p:cNvSpPr>
          <p:nvPr/>
        </p:nvSpPr>
        <p:spPr>
          <a:xfrm>
            <a:off x="8172450" y="4324350"/>
            <a:ext cx="3390900" cy="933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  <a:defRPr sz="1538" b="0" i="0">
                <a:solidFill>
                  <a:srgbClr val="232322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538" b="0" i="0">
                <a:solidFill>
                  <a:srgbClr val="232322"/>
                </a:solidFill>
                <a:latin typeface="Liberation Sans"/>
                <a:ea typeface="Liberation Sans"/>
                <a:cs typeface="Liberation Sans"/>
              </a:rPr>
              <a:t>de trabalhadores no Brasil (29,6%) estão em ocupações expostas à IA: 35% das mulheres e 25% dos homens.</a:t>
            </a:r>
          </a:p>
        </p:txBody>
      </p:sp>
      <p:sp>
        <p:nvSpPr>
          <p:cNvPr id="45" name="FGV IBRE, PNAD do 3º tri de 2025">
            <a:extLst>
              <a:ext uri="{FF2B5EF4-FFF2-40B4-BE49-F238E27FC236}">
                <a16:creationId xmlns:a16="http://schemas.microsoft.com/office/drawing/2014/main" id="{C694AAE2-5DD9-4958-A8A9-733450B3C19C}"/>
              </a:ext>
            </a:extLst>
          </p:cNvPr>
          <p:cNvSpPr>
            <a:spLocks noGrp="1"/>
          </p:cNvSpPr>
          <p:nvPr/>
        </p:nvSpPr>
        <p:spPr>
          <a:xfrm>
            <a:off x="8172450" y="5334000"/>
            <a:ext cx="3438525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  <a:defRPr sz="1013" b="0" i="0">
                <a:solidFill>
                  <a:srgbClr val="666660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013" b="0" i="0">
                <a:solidFill>
                  <a:srgbClr val="666660"/>
                </a:solidFill>
                <a:latin typeface="Liberation Sans"/>
                <a:ea typeface="Liberation Sans"/>
                <a:cs typeface="Liberation Sans"/>
              </a:rPr>
              <a:t>FGV IBRE, PNAD do 3º tri de 2025</a:t>
            </a:r>
          </a:p>
        </p:txBody>
      </p:sp>
      <p:sp>
        <p:nvSpPr>
          <p:cNvPr id="46" name="Fundo da imagem de detalhe">
            <a:extLst>
              <a:ext uri="{FF2B5EF4-FFF2-40B4-BE49-F238E27FC236}">
                <a16:creationId xmlns:a16="http://schemas.microsoft.com/office/drawing/2014/main" id="{93B42695-A858-4B03-B8CA-1201B7351B01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9F6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47" name="Picture 46">
            <a:extLst>
              <a:ext uri="{FF2B5EF4-FFF2-40B4-BE49-F238E27FC236}">
                <a16:creationId xmlns:a16="http://schemas.microsoft.com/office/drawing/2014/main" id="{A39EC2A3-C9FB-47EC-ABC9-6911B29C678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914411" y="190500"/>
            <a:ext cx="10363178" cy="6110402"/>
          </a:xfrm>
          <a:prstGeom prst="rect">
            <a:avLst/>
          </a:prstGeom>
        </p:spPr>
      </p:pic>
      <p:sp>
        <p:nvSpPr>
          <p:cNvPr id="49" name="Retornar ao slide 6 - Topo">
            <a:hlinkHover r:id="rId4" action="ppaction://hlinksldjump"/>
            <a:extLst>
              <a:ext uri="{FF2B5EF4-FFF2-40B4-BE49-F238E27FC236}">
                <a16:creationId xmlns:a16="http://schemas.microsoft.com/office/drawing/2014/main" id="{653B0244-3582-4BC3-8C88-84D5D9BBCCD4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190500"/>
          </a:xfrm>
          <a:prstGeom prst="rect">
            <a:avLst/>
          </a:prstGeom>
          <a:solidFill>
            <a:srgbClr val="FAF9F6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0" name="Retornar ao slide 6 - Esquerda">
            <a:hlinkHover r:id="rId4" action="ppaction://hlinksldjump"/>
            <a:extLst>
              <a:ext uri="{FF2B5EF4-FFF2-40B4-BE49-F238E27FC236}">
                <a16:creationId xmlns:a16="http://schemas.microsoft.com/office/drawing/2014/main" id="{8CCF75BE-E62A-489C-BDC4-B77A23C9B064}"/>
              </a:ext>
            </a:extLst>
          </p:cNvPr>
          <p:cNvSpPr>
            <a:spLocks noGrp="1"/>
          </p:cNvSpPr>
          <p:nvPr/>
        </p:nvSpPr>
        <p:spPr>
          <a:xfrm>
            <a:off x="0" y="190500"/>
            <a:ext cx="914400" cy="6115050"/>
          </a:xfrm>
          <a:prstGeom prst="rect">
            <a:avLst/>
          </a:prstGeom>
          <a:solidFill>
            <a:srgbClr val="FAF9F6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1" name="Retornar ao slide 6 - Direita">
            <a:hlinkHover r:id="rId4" action="ppaction://hlinksldjump"/>
            <a:extLst>
              <a:ext uri="{FF2B5EF4-FFF2-40B4-BE49-F238E27FC236}">
                <a16:creationId xmlns:a16="http://schemas.microsoft.com/office/drawing/2014/main" id="{510C647A-D0FF-416B-90E8-AF7A2A7FD7D0}"/>
              </a:ext>
            </a:extLst>
          </p:cNvPr>
          <p:cNvSpPr>
            <a:spLocks noGrp="1"/>
          </p:cNvSpPr>
          <p:nvPr/>
        </p:nvSpPr>
        <p:spPr>
          <a:xfrm>
            <a:off x="11277600" y="190500"/>
            <a:ext cx="914400" cy="6115050"/>
          </a:xfrm>
          <a:prstGeom prst="rect">
            <a:avLst/>
          </a:prstGeom>
          <a:solidFill>
            <a:srgbClr val="FAF9F6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2" name="Retornar ao slide 6 - Base">
            <a:hlinkHover r:id="rId4" action="ppaction://hlinksldjump"/>
            <a:extLst>
              <a:ext uri="{FF2B5EF4-FFF2-40B4-BE49-F238E27FC236}">
                <a16:creationId xmlns:a16="http://schemas.microsoft.com/office/drawing/2014/main" id="{F0679A13-5CD2-4274-982A-53E7671E87E8}"/>
              </a:ext>
            </a:extLst>
          </p:cNvPr>
          <p:cNvSpPr>
            <a:spLocks noGrp="1"/>
          </p:cNvSpPr>
          <p:nvPr/>
        </p:nvSpPr>
        <p:spPr>
          <a:xfrm>
            <a:off x="0" y="6305550"/>
            <a:ext cx="12192000" cy="552450"/>
          </a:xfrm>
          <a:prstGeom prst="rect">
            <a:avLst/>
          </a:prstGeom>
          <a:solidFill>
            <a:srgbClr val="FAF9F6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8" name="Instrução para fechar detalhe">
            <a:hlinkHover r:id="rId4" action="ppaction://hlinksldjump"/>
            <a:extLst>
              <a:ext uri="{FF2B5EF4-FFF2-40B4-BE49-F238E27FC236}">
                <a16:creationId xmlns:a16="http://schemas.microsoft.com/office/drawing/2014/main" id="{1601526B-3F97-450D-A764-04C036FAE2E1}"/>
              </a:ext>
            </a:extLst>
          </p:cNvPr>
          <p:cNvSpPr>
            <a:spLocks noGrp="1"/>
          </p:cNvSpPr>
          <p:nvPr/>
        </p:nvSpPr>
        <p:spPr>
          <a:xfrm>
            <a:off x="609600" y="6457950"/>
            <a:ext cx="10972800" cy="2571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Autofit/>
          </a:bodyPr>
          <a:lstStyle>
            <a:defPPr algn="ctr">
              <a:defRPr sz="1350">
                <a:solidFill>
                  <a:srgbClr val="666660"/>
                </a:solidFill>
                <a:latin typeface="Liberation Sans"/>
                <a:ea typeface="Liberation Sans"/>
                <a:cs typeface="Liberation Sans"/>
              </a:defRPr>
            </a:defPPr>
          </a:lstStyle>
          <a:p>
            <a:pPr algn="ctr">
              <a:defRPr sz="1350">
                <a:solidFill>
                  <a:srgbClr val="666660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>
                <a:solidFill>
                  <a:srgbClr val="666660"/>
                </a:solidFill>
                <a:latin typeface="Liberation Sans"/>
                <a:ea typeface="Liberation Sans"/>
                <a:cs typeface="Liberation Sans"/>
              </a:rPr>
              <a:t>Mova o mouse para fora do gráfico para voltar ao slide 7.</a:t>
            </a:r>
          </a:p>
        </p:txBody>
      </p:sp>
    </p:spTree>
    <p:extLst>
      <p:ext uri="{BB962C8B-B14F-4D97-AF65-F5344CB8AC3E}">
        <p14:creationId xmlns:p14="http://schemas.microsoft.com/office/powerpoint/2010/main" val="20037511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58025" y="1771650"/>
            <a:ext cx="4495800" cy="4086225"/>
          </a:xfrm>
          <a:prstGeom prst="rect">
            <a:avLst/>
          </a:prstGeom>
        </p:spPr>
      </p:pic>
      <p:sp>
        <p:nvSpPr>
          <p:cNvPr id="6" name="O que é IA generativa?">
            <a:extLst>
              <a:ext uri="{FF2B5EF4-FFF2-40B4-BE49-F238E27FC236}">
                <a16:creationId xmlns:a16="http://schemas.microsoft.com/office/drawing/2014/main" id="{932F80A9-1950-4103-8326-F212A5F3EA8C}"/>
              </a:ext>
            </a:extLst>
          </p:cNvPr>
          <p:cNvSpPr>
            <a:spLocks noGrp="1"/>
          </p:cNvSpPr>
          <p:nvPr/>
        </p:nvSpPr>
        <p:spPr>
          <a:xfrm>
            <a:off x="609600" y="419100"/>
            <a:ext cx="10972800" cy="685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  <a:defRPr sz="3450" b="1" i="0">
                <a:solidFill>
                  <a:srgbClr val="232322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3450" b="1" i="0">
                <a:solidFill>
                  <a:srgbClr val="232322"/>
                </a:solidFill>
                <a:latin typeface="Liberation Sans"/>
                <a:ea typeface="Liberation Sans"/>
                <a:cs typeface="Liberation Sans"/>
              </a:rPr>
              <a:t>O que é IA generativa?</a:t>
            </a:r>
          </a:p>
        </p:txBody>
      </p:sp>
      <p:sp>
        <p:nvSpPr>
          <p:cNvPr id="7" name="Inteligência Artificial (IA)">
            <a:extLst>
              <a:ext uri="{FF2B5EF4-FFF2-40B4-BE49-F238E27FC236}">
                <a16:creationId xmlns:a16="http://schemas.microsoft.com/office/drawing/2014/main" id="{EF3FAFDE-22AE-4CF9-8AE0-81C200639CB1}"/>
              </a:ext>
            </a:extLst>
          </p:cNvPr>
          <p:cNvSpPr>
            <a:spLocks noGrp="1"/>
          </p:cNvSpPr>
          <p:nvPr/>
        </p:nvSpPr>
        <p:spPr>
          <a:xfrm>
            <a:off x="609600" y="1562100"/>
            <a:ext cx="5943600" cy="3714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  <a:defRPr sz="1950" b="1" i="0">
                <a:solidFill>
                  <a:srgbClr val="D6482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950" b="1" i="0">
                <a:solidFill>
                  <a:srgbClr val="D64826"/>
                </a:solidFill>
                <a:latin typeface="Liberation Sans"/>
                <a:ea typeface="Liberation Sans"/>
                <a:cs typeface="Liberation Sans"/>
              </a:rPr>
              <a:t>Inteligência Artificial (IA)</a:t>
            </a:r>
          </a:p>
        </p:txBody>
      </p:sp>
      <p:sp>
        <p:nvSpPr>
          <p:cNvPr id="8" name="Sistemas que realizam tarefas como interpretar textos, ">
            <a:extLst>
              <a:ext uri="{FF2B5EF4-FFF2-40B4-BE49-F238E27FC236}">
                <a16:creationId xmlns:a16="http://schemas.microsoft.com/office/drawing/2014/main" id="{8571545D-23D3-4C37-8460-6B5A41E089DB}"/>
              </a:ext>
            </a:extLst>
          </p:cNvPr>
          <p:cNvSpPr>
            <a:spLocks noGrp="1"/>
          </p:cNvSpPr>
          <p:nvPr/>
        </p:nvSpPr>
        <p:spPr>
          <a:xfrm>
            <a:off x="609600" y="1971675"/>
            <a:ext cx="5943600" cy="742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  <a:defRPr sz="1688" b="0" i="0">
                <a:solidFill>
                  <a:srgbClr val="232322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688" b="0" i="0">
                <a:solidFill>
                  <a:srgbClr val="232322"/>
                </a:solidFill>
                <a:latin typeface="Liberation Sans"/>
                <a:ea typeface="Liberation Sans"/>
                <a:cs typeface="Liberation Sans"/>
              </a:rPr>
              <a:t>Sistemas que realizam tarefas como interpretar textos, reconhecer padrões e apoiar decisões.</a:t>
            </a:r>
          </a:p>
        </p:txBody>
      </p:sp>
      <p:sp>
        <p:nvSpPr>
          <p:cNvPr id="9" name="Aprendizado de Máquina (ML)">
            <a:extLst>
              <a:ext uri="{FF2B5EF4-FFF2-40B4-BE49-F238E27FC236}">
                <a16:creationId xmlns:a16="http://schemas.microsoft.com/office/drawing/2014/main" id="{58FDE297-01D0-47B3-9DFE-D0881A26CB95}"/>
              </a:ext>
            </a:extLst>
          </p:cNvPr>
          <p:cNvSpPr>
            <a:spLocks noGrp="1"/>
          </p:cNvSpPr>
          <p:nvPr/>
        </p:nvSpPr>
        <p:spPr>
          <a:xfrm>
            <a:off x="609600" y="2714625"/>
            <a:ext cx="5943600" cy="3714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  <a:defRPr sz="1950" b="1" i="0">
                <a:solidFill>
                  <a:srgbClr val="D6482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950" b="1" i="0">
                <a:solidFill>
                  <a:srgbClr val="D64826"/>
                </a:solidFill>
                <a:latin typeface="Liberation Sans"/>
                <a:ea typeface="Liberation Sans"/>
                <a:cs typeface="Liberation Sans"/>
              </a:rPr>
              <a:t>Aprendizado de Máquina (ML)</a:t>
            </a:r>
          </a:p>
        </p:txBody>
      </p:sp>
      <p:sp>
        <p:nvSpPr>
          <p:cNvPr id="10" name="Parte da IA que aprende padrões a partir de dados. Exem">
            <a:extLst>
              <a:ext uri="{FF2B5EF4-FFF2-40B4-BE49-F238E27FC236}">
                <a16:creationId xmlns:a16="http://schemas.microsoft.com/office/drawing/2014/main" id="{5A252BEB-4A3E-4E01-A58D-46E224152F11}"/>
              </a:ext>
            </a:extLst>
          </p:cNvPr>
          <p:cNvSpPr>
            <a:spLocks noGrp="1"/>
          </p:cNvSpPr>
          <p:nvPr/>
        </p:nvSpPr>
        <p:spPr>
          <a:xfrm>
            <a:off x="609600" y="3124200"/>
            <a:ext cx="5943600" cy="742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  <a:defRPr sz="1688" b="0" i="0">
                <a:solidFill>
                  <a:srgbClr val="232322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688" b="0" i="0">
                <a:solidFill>
                  <a:srgbClr val="232322"/>
                </a:solidFill>
                <a:latin typeface="Liberation Sans"/>
                <a:ea typeface="Liberation Sans"/>
                <a:cs typeface="Liberation Sans"/>
              </a:rPr>
              <a:t>Parte da IA que aprende padrões a partir de dados. Exemplo: usar vendas anteriores para prever vendas futuras.</a:t>
            </a:r>
          </a:p>
        </p:txBody>
      </p:sp>
      <p:sp>
        <p:nvSpPr>
          <p:cNvPr id="11" name="Aprendizado Profundo">
            <a:extLst>
              <a:ext uri="{FF2B5EF4-FFF2-40B4-BE49-F238E27FC236}">
                <a16:creationId xmlns:a16="http://schemas.microsoft.com/office/drawing/2014/main" id="{AE3B26C3-13ED-45DB-A1FC-CE1E0EED635D}"/>
              </a:ext>
            </a:extLst>
          </p:cNvPr>
          <p:cNvSpPr>
            <a:spLocks noGrp="1"/>
          </p:cNvSpPr>
          <p:nvPr/>
        </p:nvSpPr>
        <p:spPr>
          <a:xfrm>
            <a:off x="609600" y="3867150"/>
            <a:ext cx="5943600" cy="3714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  <a:defRPr sz="1950" b="1" i="0">
                <a:solidFill>
                  <a:srgbClr val="D6482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950" b="1" i="0">
                <a:solidFill>
                  <a:srgbClr val="D64826"/>
                </a:solidFill>
                <a:latin typeface="Liberation Sans"/>
                <a:ea typeface="Liberation Sans"/>
                <a:cs typeface="Liberation Sans"/>
              </a:rPr>
              <a:t>Aprendizado Profundo</a:t>
            </a:r>
          </a:p>
        </p:txBody>
      </p:sp>
      <p:sp>
        <p:nvSpPr>
          <p:cNvPr id="12" name="Redes neurais com várias camadas que aprendem padrões c">
            <a:extLst>
              <a:ext uri="{FF2B5EF4-FFF2-40B4-BE49-F238E27FC236}">
                <a16:creationId xmlns:a16="http://schemas.microsoft.com/office/drawing/2014/main" id="{A40D87DE-7027-4186-B008-DA17126CD050}"/>
              </a:ext>
            </a:extLst>
          </p:cNvPr>
          <p:cNvSpPr>
            <a:spLocks noGrp="1"/>
          </p:cNvSpPr>
          <p:nvPr/>
        </p:nvSpPr>
        <p:spPr>
          <a:xfrm>
            <a:off x="609600" y="4276725"/>
            <a:ext cx="5943600" cy="742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  <a:defRPr sz="1688" b="0" i="0">
                <a:solidFill>
                  <a:srgbClr val="232322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688" b="0" i="0">
                <a:solidFill>
                  <a:srgbClr val="232322"/>
                </a:solidFill>
                <a:latin typeface="Liberation Sans"/>
                <a:ea typeface="Liberation Sans"/>
                <a:cs typeface="Liberation Sans"/>
              </a:rPr>
              <a:t>Redes neurais com várias camadas que aprendem padrões complexos em grandes volumes de dados.</a:t>
            </a:r>
          </a:p>
        </p:txBody>
      </p:sp>
      <p:sp>
        <p:nvSpPr>
          <p:cNvPr id="13" name="IA Generativa">
            <a:extLst>
              <a:ext uri="{FF2B5EF4-FFF2-40B4-BE49-F238E27FC236}">
                <a16:creationId xmlns:a16="http://schemas.microsoft.com/office/drawing/2014/main" id="{90F861EF-459E-493C-BFA8-75B315ABA71E}"/>
              </a:ext>
            </a:extLst>
          </p:cNvPr>
          <p:cNvSpPr>
            <a:spLocks noGrp="1"/>
          </p:cNvSpPr>
          <p:nvPr/>
        </p:nvSpPr>
        <p:spPr>
          <a:xfrm>
            <a:off x="609600" y="5019675"/>
            <a:ext cx="5943600" cy="3714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  <a:defRPr sz="1950" b="1" i="0">
                <a:solidFill>
                  <a:srgbClr val="D6482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950" b="1" i="0">
                <a:solidFill>
                  <a:srgbClr val="D64826"/>
                </a:solidFill>
                <a:latin typeface="Liberation Sans"/>
                <a:ea typeface="Liberation Sans"/>
                <a:cs typeface="Liberation Sans"/>
              </a:rPr>
              <a:t>IA Generativa</a:t>
            </a:r>
          </a:p>
        </p:txBody>
      </p:sp>
      <p:sp>
        <p:nvSpPr>
          <p:cNvPr id="14" name="Modelos que criam textos, imagens, áudio e código a par">
            <a:extLst>
              <a:ext uri="{FF2B5EF4-FFF2-40B4-BE49-F238E27FC236}">
                <a16:creationId xmlns:a16="http://schemas.microsoft.com/office/drawing/2014/main" id="{D583C4BF-9C8E-4BFF-B8B9-E9372B95E25F}"/>
              </a:ext>
            </a:extLst>
          </p:cNvPr>
          <p:cNvSpPr>
            <a:spLocks noGrp="1"/>
          </p:cNvSpPr>
          <p:nvPr/>
        </p:nvSpPr>
        <p:spPr>
          <a:xfrm>
            <a:off x="609600" y="5429250"/>
            <a:ext cx="5943600" cy="742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  <a:defRPr sz="1688" b="0" i="0">
                <a:solidFill>
                  <a:srgbClr val="232322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688" b="0" i="0">
                <a:solidFill>
                  <a:srgbClr val="232322"/>
                </a:solidFill>
                <a:latin typeface="Liberation Sans"/>
                <a:ea typeface="Liberation Sans"/>
                <a:cs typeface="Liberation Sans"/>
              </a:rPr>
              <a:t>Modelos que criam textos, imagens, áudio e código a partir de padrões aprendidos e das instruções recebidas.</a:t>
            </a:r>
          </a:p>
        </p:txBody>
      </p:sp>
      <p:sp>
        <p:nvSpPr>
          <p:cNvPr id="15" name="O diagrama apresenta uma visão didática simplificada. O">
            <a:extLst>
              <a:ext uri="{FF2B5EF4-FFF2-40B4-BE49-F238E27FC236}">
                <a16:creationId xmlns:a16="http://schemas.microsoft.com/office/drawing/2014/main" id="{9AA674DF-0299-4875-8DA9-435F1565BC51}"/>
              </a:ext>
            </a:extLst>
          </p:cNvPr>
          <p:cNvSpPr>
            <a:spLocks noGrp="1"/>
          </p:cNvSpPr>
          <p:nvPr/>
        </p:nvSpPr>
        <p:spPr>
          <a:xfrm>
            <a:off x="609600" y="6276975"/>
            <a:ext cx="10572750" cy="3333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  <a:defRPr sz="1013" b="0" i="0">
                <a:solidFill>
                  <a:srgbClr val="666660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013" b="0" i="0">
                <a:solidFill>
                  <a:srgbClr val="666660"/>
                </a:solidFill>
                <a:latin typeface="Liberation Sans"/>
                <a:ea typeface="Liberation Sans"/>
                <a:cs typeface="Liberation Sans"/>
              </a:rPr>
              <a:t>O diagrama apresenta uma visão didática simplificada. Os sistemas generativos atuais usam principalmente aprendizado profundo.</a:t>
            </a:r>
          </a:p>
        </p:txBody>
      </p:sp>
      <p:sp>
        <p:nvSpPr>
          <p:cNvPr id="16" name="07">
            <a:extLst>
              <a:ext uri="{FF2B5EF4-FFF2-40B4-BE49-F238E27FC236}">
                <a16:creationId xmlns:a16="http://schemas.microsoft.com/office/drawing/2014/main" id="{946304E7-0B3F-4D6A-8FF0-DB6C4F221567}"/>
              </a:ext>
            </a:extLst>
          </p:cNvPr>
          <p:cNvSpPr>
            <a:spLocks noGrp="1"/>
          </p:cNvSpPr>
          <p:nvPr/>
        </p:nvSpPr>
        <p:spPr>
          <a:xfrm>
            <a:off x="11258550" y="6515100"/>
            <a:ext cx="333375" cy="1905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r">
              <a:buNone/>
              <a:defRPr sz="1050" b="0" i="0">
                <a:solidFill>
                  <a:srgbClr val="8A8882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050" b="0" i="0">
                <a:solidFill>
                  <a:srgbClr val="8A8882"/>
                </a:solidFill>
                <a:latin typeface="Liberation Sans"/>
                <a:ea typeface="Liberation Sans"/>
                <a:cs typeface="Liberation Sans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328480314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1">
            <a:extLst>
              <a:ext uri="{FF2B5EF4-FFF2-40B4-BE49-F238E27FC236}">
                <a16:creationId xmlns:a16="http://schemas.microsoft.com/office/drawing/2014/main" id="{07FDEC03-4BC4-4D1A-B28E-327B6D4F20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472470"/>
            <a:ext cx="10972800" cy="685800"/>
          </a:xfrm>
          <a:prstGeom prst="rect">
            <a:avLst/>
          </a:prstGeom>
        </p:spPr>
        <p:txBody>
          <a:bodyPr vert="horz" wrap="square" lIns="0" tIns="0" rIns="0" bIns="0" anchor="t">
            <a:noAutofit/>
          </a:bodyPr>
          <a:lstStyle/>
          <a:p>
            <a:pPr marL="0" indent="0">
              <a:buNone/>
              <a:defRPr sz="3450" b="1">
                <a:solidFill>
                  <a:srgbClr val="232322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3450" b="1" dirty="0">
                <a:solidFill>
                  <a:srgbClr val="232322"/>
                </a:solidFill>
                <a:latin typeface="Liberation Sans"/>
                <a:ea typeface="Liberation Sans"/>
                <a:cs typeface="Liberation Sans"/>
              </a:rPr>
              <a:t>A </a:t>
            </a:r>
            <a:r>
              <a:rPr sz="3450" b="1" dirty="0" err="1">
                <a:solidFill>
                  <a:srgbClr val="232322"/>
                </a:solidFill>
                <a:latin typeface="Liberation Sans"/>
                <a:ea typeface="Liberation Sans"/>
                <a:cs typeface="Liberation Sans"/>
              </a:rPr>
              <a:t>evolução</a:t>
            </a:r>
            <a:r>
              <a:rPr sz="3450" b="1" dirty="0">
                <a:solidFill>
                  <a:srgbClr val="232322"/>
                </a:solidFill>
                <a:latin typeface="Liberation Sans"/>
                <a:ea typeface="Liberation Sans"/>
                <a:cs typeface="Liberation Sans"/>
              </a:rPr>
              <a:t> da IA </a:t>
            </a:r>
            <a:r>
              <a:rPr sz="3450" b="1" dirty="0" err="1">
                <a:solidFill>
                  <a:srgbClr val="232322"/>
                </a:solidFill>
                <a:latin typeface="Liberation Sans"/>
                <a:ea typeface="Liberation Sans"/>
                <a:cs typeface="Liberation Sans"/>
              </a:rPr>
              <a:t>generativa</a:t>
            </a:r>
            <a:endParaRPr sz="3450" b="1" dirty="0">
              <a:solidFill>
                <a:srgbClr val="232322"/>
              </a:solidFill>
              <a:latin typeface="Liberation Sans"/>
              <a:ea typeface="Liberation Sans"/>
              <a:cs typeface="Liberation Sans"/>
            </a:endParaRPr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60FEA56D-8E26-446B-AA5E-4D466F3B0B9B}"/>
              </a:ext>
            </a:extLst>
          </p:cNvPr>
          <p:cNvSpPr>
            <a:spLocks noGrp="1"/>
          </p:cNvSpPr>
          <p:nvPr/>
        </p:nvSpPr>
        <p:spPr>
          <a:xfrm>
            <a:off x="731520" y="2148840"/>
            <a:ext cx="10789920" cy="0"/>
          </a:xfrm>
          <a:prstGeom prst="line">
            <a:avLst/>
          </a:prstGeom>
          <a:noFill/>
          <a:ln w="38100">
            <a:solidFill>
              <a:srgbClr val="D9D9D9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BD9B353D-20A0-475A-9324-87A32524EBC7}"/>
              </a:ext>
            </a:extLst>
          </p:cNvPr>
          <p:cNvSpPr>
            <a:spLocks noGrp="1"/>
          </p:cNvSpPr>
          <p:nvPr/>
        </p:nvSpPr>
        <p:spPr>
          <a:xfrm>
            <a:off x="1051560" y="1938528"/>
            <a:ext cx="420624" cy="420624"/>
          </a:xfrm>
          <a:prstGeom prst="ellipse">
            <a:avLst/>
          </a:prstGeom>
          <a:solidFill>
            <a:srgbClr val="595959"/>
          </a:solidFill>
          <a:ln w="25400">
            <a:solidFill>
              <a:srgbClr val="FFFF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EFFE98DF-706E-47CD-AE79-D3F08DD1A3CB}"/>
              </a:ext>
            </a:extLst>
          </p:cNvPr>
          <p:cNvSpPr>
            <a:spLocks noGrp="1"/>
          </p:cNvSpPr>
          <p:nvPr/>
        </p:nvSpPr>
        <p:spPr>
          <a:xfrm>
            <a:off x="548640" y="1417320"/>
            <a:ext cx="1426464" cy="4572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 algn="ctr">
              <a:buNone/>
            </a:pPr>
            <a:r>
              <a:rPr sz="1900">
                <a:solidFill>
                  <a:srgbClr val="000000"/>
                </a:solidFill>
                <a:latin typeface="Liberation Sans"/>
                <a:ea typeface="Liberation Sans"/>
                <a:cs typeface="Liberation Sans"/>
              </a:rPr>
              <a:t>2017</a:t>
            </a:r>
            <a:endParaRPr sz="2000"/>
          </a:p>
        </p:txBody>
      </p:sp>
      <p:sp>
        <p:nvSpPr>
          <p:cNvPr id="7" name="Shape 5">
            <a:extLst>
              <a:ext uri="{FF2B5EF4-FFF2-40B4-BE49-F238E27FC236}">
                <a16:creationId xmlns:a16="http://schemas.microsoft.com/office/drawing/2014/main" id="{33C694C9-72EC-4C5A-A261-35001C182243}"/>
              </a:ext>
            </a:extLst>
          </p:cNvPr>
          <p:cNvSpPr>
            <a:spLocks noGrp="1"/>
          </p:cNvSpPr>
          <p:nvPr/>
        </p:nvSpPr>
        <p:spPr>
          <a:xfrm>
            <a:off x="548640" y="2606040"/>
            <a:ext cx="1463040" cy="3063240"/>
          </a:xfrm>
          <a:prstGeom prst="roundRect">
            <a:avLst>
              <a:gd name="adj" fmla="val 7500"/>
            </a:avLst>
          </a:prstGeom>
          <a:noFill/>
          <a:ln w="0">
            <a:noFill/>
          </a:ln>
        </p:spPr>
        <p:txBody>
          <a:bodyPr/>
          <a:lstStyle/>
          <a:p>
            <a:endParaRPr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E486B447-EF24-42CA-A99F-C9ED2B68E5A1}"/>
              </a:ext>
            </a:extLst>
          </p:cNvPr>
          <p:cNvSpPr>
            <a:spLocks noGrp="1"/>
          </p:cNvSpPr>
          <p:nvPr/>
        </p:nvSpPr>
        <p:spPr>
          <a:xfrm>
            <a:off x="658368" y="2715768"/>
            <a:ext cx="1243584" cy="5943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>
              <a:buNone/>
            </a:pPr>
            <a:r>
              <a:rPr sz="1350">
                <a:solidFill>
                  <a:srgbClr val="000000"/>
                </a:solidFill>
                <a:latin typeface="Liberation Sans"/>
                <a:ea typeface="Liberation Sans"/>
                <a:cs typeface="Liberation Sans"/>
              </a:rPr>
              <a:t>Fundação</a:t>
            </a:r>
            <a:endParaRPr sz="1400"/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9DBE2565-BFF3-47D5-A529-46755165D851}"/>
              </a:ext>
            </a:extLst>
          </p:cNvPr>
          <p:cNvSpPr>
            <a:spLocks noGrp="1"/>
          </p:cNvSpPr>
          <p:nvPr/>
        </p:nvSpPr>
        <p:spPr>
          <a:xfrm>
            <a:off x="658368" y="3310128"/>
            <a:ext cx="1280160" cy="2286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>
              <a:spcAft>
                <a:spcPts val="800"/>
              </a:spcAft>
              <a:buNone/>
            </a:pPr>
            <a:r>
              <a:rPr sz="1425">
                <a:solidFill>
                  <a:srgbClr val="262626"/>
                </a:solidFill>
                <a:latin typeface="Liberation Sans"/>
                <a:ea typeface="Liberation Sans"/>
                <a:cs typeface="Liberation Sans"/>
              </a:rPr>
              <a:t>Google publica o Transformer, base de muitos modelos atuais</a:t>
            </a:r>
            <a:endParaRPr sz="1200"/>
          </a:p>
        </p:txBody>
      </p:sp>
      <p:sp>
        <p:nvSpPr>
          <p:cNvPr id="10" name="Shape 8">
            <a:extLst>
              <a:ext uri="{FF2B5EF4-FFF2-40B4-BE49-F238E27FC236}">
                <a16:creationId xmlns:a16="http://schemas.microsoft.com/office/drawing/2014/main" id="{22E8FDAE-3EAC-4DE6-8753-70FC92CDC737}"/>
              </a:ext>
            </a:extLst>
          </p:cNvPr>
          <p:cNvSpPr>
            <a:spLocks noGrp="1"/>
          </p:cNvSpPr>
          <p:nvPr/>
        </p:nvSpPr>
        <p:spPr>
          <a:xfrm>
            <a:off x="2642616" y="1938528"/>
            <a:ext cx="420624" cy="420624"/>
          </a:xfrm>
          <a:prstGeom prst="ellipse">
            <a:avLst/>
          </a:prstGeom>
          <a:solidFill>
            <a:srgbClr val="595959"/>
          </a:solidFill>
          <a:ln w="25400">
            <a:solidFill>
              <a:srgbClr val="FFFF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D917247E-0198-43CA-9F18-6971066B0035}"/>
              </a:ext>
            </a:extLst>
          </p:cNvPr>
          <p:cNvSpPr>
            <a:spLocks noGrp="1"/>
          </p:cNvSpPr>
          <p:nvPr/>
        </p:nvSpPr>
        <p:spPr>
          <a:xfrm>
            <a:off x="2139696" y="1417320"/>
            <a:ext cx="1426464" cy="4572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 algn="ctr">
              <a:buNone/>
            </a:pPr>
            <a:r>
              <a:rPr sz="1900">
                <a:solidFill>
                  <a:srgbClr val="000000"/>
                </a:solidFill>
                <a:latin typeface="Liberation Sans"/>
                <a:ea typeface="Liberation Sans"/>
                <a:cs typeface="Liberation Sans"/>
              </a:rPr>
              <a:t>2020</a:t>
            </a:r>
            <a:endParaRPr sz="2000"/>
          </a:p>
        </p:txBody>
      </p:sp>
      <p:sp>
        <p:nvSpPr>
          <p:cNvPr id="12" name="Shape 10">
            <a:extLst>
              <a:ext uri="{FF2B5EF4-FFF2-40B4-BE49-F238E27FC236}">
                <a16:creationId xmlns:a16="http://schemas.microsoft.com/office/drawing/2014/main" id="{F2A94DDC-4217-4151-8D59-34260BFF39B6}"/>
              </a:ext>
            </a:extLst>
          </p:cNvPr>
          <p:cNvSpPr>
            <a:spLocks noGrp="1"/>
          </p:cNvSpPr>
          <p:nvPr/>
        </p:nvSpPr>
        <p:spPr>
          <a:xfrm>
            <a:off x="2139696" y="2606040"/>
            <a:ext cx="1463040" cy="3063240"/>
          </a:xfrm>
          <a:prstGeom prst="roundRect">
            <a:avLst>
              <a:gd name="adj" fmla="val 7500"/>
            </a:avLst>
          </a:prstGeom>
          <a:noFill/>
          <a:ln w="0">
            <a:noFill/>
          </a:ln>
        </p:spPr>
        <p:txBody>
          <a:bodyPr/>
          <a:lstStyle/>
          <a:p>
            <a:endParaRPr/>
          </a:p>
        </p:txBody>
      </p:sp>
      <p:sp>
        <p:nvSpPr>
          <p:cNvPr id="13" name="Text 11">
            <a:extLst>
              <a:ext uri="{FF2B5EF4-FFF2-40B4-BE49-F238E27FC236}">
                <a16:creationId xmlns:a16="http://schemas.microsoft.com/office/drawing/2014/main" id="{28DBE866-65E0-4019-8F74-86B19D1685D6}"/>
              </a:ext>
            </a:extLst>
          </p:cNvPr>
          <p:cNvSpPr>
            <a:spLocks noGrp="1"/>
          </p:cNvSpPr>
          <p:nvPr/>
        </p:nvSpPr>
        <p:spPr>
          <a:xfrm>
            <a:off x="2249424" y="2715768"/>
            <a:ext cx="1243584" cy="5943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>
              <a:buNone/>
            </a:pPr>
            <a:r>
              <a:rPr sz="1350">
                <a:solidFill>
                  <a:srgbClr val="000000"/>
                </a:solidFill>
                <a:latin typeface="Liberation Sans"/>
                <a:ea typeface="Liberation Sans"/>
                <a:cs typeface="Liberation Sans"/>
              </a:rPr>
              <a:t>Escala</a:t>
            </a:r>
            <a:endParaRPr sz="1400"/>
          </a:p>
        </p:txBody>
      </p:sp>
      <p:sp>
        <p:nvSpPr>
          <p:cNvPr id="14" name="Text 12">
            <a:extLst>
              <a:ext uri="{FF2B5EF4-FFF2-40B4-BE49-F238E27FC236}">
                <a16:creationId xmlns:a16="http://schemas.microsoft.com/office/drawing/2014/main" id="{09B3C735-87DC-48A6-A3E6-E8739757B468}"/>
              </a:ext>
            </a:extLst>
          </p:cNvPr>
          <p:cNvSpPr>
            <a:spLocks noGrp="1"/>
          </p:cNvSpPr>
          <p:nvPr/>
        </p:nvSpPr>
        <p:spPr>
          <a:xfrm>
            <a:off x="2249424" y="3310128"/>
            <a:ext cx="1280160" cy="2286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>
              <a:spcAft>
                <a:spcPts val="800"/>
              </a:spcAft>
              <a:buNone/>
            </a:pPr>
            <a:r>
              <a:rPr sz="1425">
                <a:solidFill>
                  <a:srgbClr val="262626"/>
                </a:solidFill>
                <a:latin typeface="Liberation Sans"/>
                <a:ea typeface="Liberation Sans"/>
                <a:cs typeface="Liberation Sans"/>
              </a:rPr>
              <a:t>GPT-3 mostra que modelos grandes escrevem como gente</a:t>
            </a:r>
            <a:endParaRPr sz="1200"/>
          </a:p>
        </p:txBody>
      </p:sp>
      <p:sp>
        <p:nvSpPr>
          <p:cNvPr id="15" name="Shape 13">
            <a:extLst>
              <a:ext uri="{FF2B5EF4-FFF2-40B4-BE49-F238E27FC236}">
                <a16:creationId xmlns:a16="http://schemas.microsoft.com/office/drawing/2014/main" id="{8E035D61-C9F2-4547-8B4A-3C5897DCD509}"/>
              </a:ext>
            </a:extLst>
          </p:cNvPr>
          <p:cNvSpPr>
            <a:spLocks noGrp="1"/>
          </p:cNvSpPr>
          <p:nvPr/>
        </p:nvSpPr>
        <p:spPr>
          <a:xfrm>
            <a:off x="4233672" y="1938528"/>
            <a:ext cx="420624" cy="420624"/>
          </a:xfrm>
          <a:prstGeom prst="ellipse">
            <a:avLst/>
          </a:prstGeom>
          <a:solidFill>
            <a:srgbClr val="595959"/>
          </a:solidFill>
          <a:ln w="25400">
            <a:solidFill>
              <a:srgbClr val="FFFF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6" name="Text 14">
            <a:extLst>
              <a:ext uri="{FF2B5EF4-FFF2-40B4-BE49-F238E27FC236}">
                <a16:creationId xmlns:a16="http://schemas.microsoft.com/office/drawing/2014/main" id="{65C281F0-8B21-4F43-BFC6-0A5E3DE0B75B}"/>
              </a:ext>
            </a:extLst>
          </p:cNvPr>
          <p:cNvSpPr>
            <a:spLocks noGrp="1"/>
          </p:cNvSpPr>
          <p:nvPr/>
        </p:nvSpPr>
        <p:spPr>
          <a:xfrm>
            <a:off x="3730752" y="1417320"/>
            <a:ext cx="1426464" cy="4572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 algn="ctr">
              <a:buNone/>
            </a:pPr>
            <a:r>
              <a:rPr sz="1900">
                <a:solidFill>
                  <a:srgbClr val="000000"/>
                </a:solidFill>
                <a:latin typeface="Liberation Sans"/>
                <a:ea typeface="Liberation Sans"/>
                <a:cs typeface="Liberation Sans"/>
              </a:rPr>
              <a:t>2022</a:t>
            </a:r>
            <a:endParaRPr sz="2000"/>
          </a:p>
        </p:txBody>
      </p:sp>
      <p:sp>
        <p:nvSpPr>
          <p:cNvPr id="17" name="Shape 15">
            <a:extLst>
              <a:ext uri="{FF2B5EF4-FFF2-40B4-BE49-F238E27FC236}">
                <a16:creationId xmlns:a16="http://schemas.microsoft.com/office/drawing/2014/main" id="{2BCB8FCB-BC87-49DC-8631-8C6DE40B9EFE}"/>
              </a:ext>
            </a:extLst>
          </p:cNvPr>
          <p:cNvSpPr>
            <a:spLocks noGrp="1"/>
          </p:cNvSpPr>
          <p:nvPr/>
        </p:nvSpPr>
        <p:spPr>
          <a:xfrm>
            <a:off x="3730752" y="2606040"/>
            <a:ext cx="1463040" cy="3063240"/>
          </a:xfrm>
          <a:prstGeom prst="roundRect">
            <a:avLst>
              <a:gd name="adj" fmla="val 7500"/>
            </a:avLst>
          </a:prstGeom>
          <a:noFill/>
          <a:ln w="0">
            <a:noFill/>
          </a:ln>
        </p:spPr>
        <p:txBody>
          <a:bodyPr/>
          <a:lstStyle/>
          <a:p>
            <a:endParaRPr/>
          </a:p>
        </p:txBody>
      </p:sp>
      <p:sp>
        <p:nvSpPr>
          <p:cNvPr id="18" name="Text 16">
            <a:extLst>
              <a:ext uri="{FF2B5EF4-FFF2-40B4-BE49-F238E27FC236}">
                <a16:creationId xmlns:a16="http://schemas.microsoft.com/office/drawing/2014/main" id="{3078695A-EDCE-45CF-BB7C-7B6EBBE5D512}"/>
              </a:ext>
            </a:extLst>
          </p:cNvPr>
          <p:cNvSpPr>
            <a:spLocks noGrp="1"/>
          </p:cNvSpPr>
          <p:nvPr/>
        </p:nvSpPr>
        <p:spPr>
          <a:xfrm>
            <a:off x="3840480" y="2715768"/>
            <a:ext cx="1243584" cy="5943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>
              <a:buNone/>
            </a:pPr>
            <a:r>
              <a:rPr sz="1350">
                <a:solidFill>
                  <a:srgbClr val="000000"/>
                </a:solidFill>
                <a:latin typeface="Liberation Sans"/>
                <a:ea typeface="Liberation Sans"/>
                <a:cs typeface="Liberation Sans"/>
              </a:rPr>
              <a:t>Euforia do chatbot</a:t>
            </a:r>
            <a:endParaRPr sz="1400"/>
          </a:p>
        </p:txBody>
      </p:sp>
      <p:sp>
        <p:nvSpPr>
          <p:cNvPr id="19" name="Text 17">
            <a:extLst>
              <a:ext uri="{FF2B5EF4-FFF2-40B4-BE49-F238E27FC236}">
                <a16:creationId xmlns:a16="http://schemas.microsoft.com/office/drawing/2014/main" id="{79D2BDA9-0FD9-46B2-9C26-ECFB53A2B3A1}"/>
              </a:ext>
            </a:extLst>
          </p:cNvPr>
          <p:cNvSpPr>
            <a:spLocks noGrp="1"/>
          </p:cNvSpPr>
          <p:nvPr/>
        </p:nvSpPr>
        <p:spPr>
          <a:xfrm>
            <a:off x="3840480" y="3310128"/>
            <a:ext cx="1280160" cy="2286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>
              <a:spcAft>
                <a:spcPts val="800"/>
              </a:spcAft>
              <a:buNone/>
            </a:pPr>
            <a:r>
              <a:rPr sz="1425">
                <a:solidFill>
                  <a:srgbClr val="262626"/>
                </a:solidFill>
                <a:latin typeface="Liberation Sans"/>
                <a:ea typeface="Liberation Sans"/>
                <a:cs typeface="Liberation Sans"/>
              </a:rPr>
              <a:t>ChatGPT (nov): 1 mi de usuários em 5 dias</a:t>
            </a:r>
            <a:endParaRPr sz="1200"/>
          </a:p>
        </p:txBody>
      </p:sp>
      <p:sp>
        <p:nvSpPr>
          <p:cNvPr id="20" name="Shape 18">
            <a:extLst>
              <a:ext uri="{FF2B5EF4-FFF2-40B4-BE49-F238E27FC236}">
                <a16:creationId xmlns:a16="http://schemas.microsoft.com/office/drawing/2014/main" id="{6EC9A786-52C5-4DF6-9DC3-48AF39BD4FB4}"/>
              </a:ext>
            </a:extLst>
          </p:cNvPr>
          <p:cNvSpPr>
            <a:spLocks noGrp="1"/>
          </p:cNvSpPr>
          <p:nvPr/>
        </p:nvSpPr>
        <p:spPr>
          <a:xfrm>
            <a:off x="5824728" y="1938528"/>
            <a:ext cx="420624" cy="420624"/>
          </a:xfrm>
          <a:prstGeom prst="ellipse">
            <a:avLst/>
          </a:prstGeom>
          <a:solidFill>
            <a:srgbClr val="595959"/>
          </a:solidFill>
          <a:ln w="25400">
            <a:solidFill>
              <a:srgbClr val="FFFF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1" name="Text 19">
            <a:extLst>
              <a:ext uri="{FF2B5EF4-FFF2-40B4-BE49-F238E27FC236}">
                <a16:creationId xmlns:a16="http://schemas.microsoft.com/office/drawing/2014/main" id="{43A7834B-956E-4744-9482-765399E4A703}"/>
              </a:ext>
            </a:extLst>
          </p:cNvPr>
          <p:cNvSpPr>
            <a:spLocks noGrp="1"/>
          </p:cNvSpPr>
          <p:nvPr/>
        </p:nvSpPr>
        <p:spPr>
          <a:xfrm>
            <a:off x="5321808" y="1417320"/>
            <a:ext cx="1426464" cy="4572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 algn="ctr">
              <a:buNone/>
            </a:pPr>
            <a:r>
              <a:rPr sz="1900">
                <a:solidFill>
                  <a:srgbClr val="000000"/>
                </a:solidFill>
                <a:latin typeface="Liberation Sans"/>
                <a:ea typeface="Liberation Sans"/>
                <a:cs typeface="Liberation Sans"/>
              </a:rPr>
              <a:t>2023</a:t>
            </a:r>
            <a:endParaRPr sz="2000"/>
          </a:p>
        </p:txBody>
      </p:sp>
      <p:sp>
        <p:nvSpPr>
          <p:cNvPr id="22" name="Shape 20">
            <a:extLst>
              <a:ext uri="{FF2B5EF4-FFF2-40B4-BE49-F238E27FC236}">
                <a16:creationId xmlns:a16="http://schemas.microsoft.com/office/drawing/2014/main" id="{BF24BFC3-AE75-47FC-8291-D0A3CA99E2B5}"/>
              </a:ext>
            </a:extLst>
          </p:cNvPr>
          <p:cNvSpPr>
            <a:spLocks noGrp="1"/>
          </p:cNvSpPr>
          <p:nvPr/>
        </p:nvSpPr>
        <p:spPr>
          <a:xfrm>
            <a:off x="5321808" y="2606040"/>
            <a:ext cx="1463040" cy="3063240"/>
          </a:xfrm>
          <a:prstGeom prst="roundRect">
            <a:avLst>
              <a:gd name="adj" fmla="val 7500"/>
            </a:avLst>
          </a:prstGeom>
          <a:noFill/>
          <a:ln w="0">
            <a:noFill/>
          </a:ln>
        </p:spPr>
        <p:txBody>
          <a:bodyPr/>
          <a:lstStyle/>
          <a:p>
            <a:endParaRPr/>
          </a:p>
        </p:txBody>
      </p:sp>
      <p:sp>
        <p:nvSpPr>
          <p:cNvPr id="23" name="Text 21">
            <a:extLst>
              <a:ext uri="{FF2B5EF4-FFF2-40B4-BE49-F238E27FC236}">
                <a16:creationId xmlns:a16="http://schemas.microsoft.com/office/drawing/2014/main" id="{1969DE00-817F-4C28-98A5-510F99E88CEC}"/>
              </a:ext>
            </a:extLst>
          </p:cNvPr>
          <p:cNvSpPr>
            <a:spLocks noGrp="1"/>
          </p:cNvSpPr>
          <p:nvPr/>
        </p:nvSpPr>
        <p:spPr>
          <a:xfrm>
            <a:off x="5431536" y="2715768"/>
            <a:ext cx="1243584" cy="5943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>
              <a:buNone/>
            </a:pPr>
            <a:r>
              <a:rPr sz="1350">
                <a:solidFill>
                  <a:srgbClr val="000000"/>
                </a:solidFill>
                <a:latin typeface="Liberation Sans"/>
                <a:ea typeface="Liberation Sans"/>
                <a:cs typeface="Liberation Sans"/>
              </a:rPr>
              <a:t>Corrida dos modelos</a:t>
            </a:r>
            <a:endParaRPr sz="1400"/>
          </a:p>
        </p:txBody>
      </p:sp>
      <p:sp>
        <p:nvSpPr>
          <p:cNvPr id="24" name="Text 22">
            <a:extLst>
              <a:ext uri="{FF2B5EF4-FFF2-40B4-BE49-F238E27FC236}">
                <a16:creationId xmlns:a16="http://schemas.microsoft.com/office/drawing/2014/main" id="{9C00CA48-3244-41FF-B116-4BC96281757C}"/>
              </a:ext>
            </a:extLst>
          </p:cNvPr>
          <p:cNvSpPr>
            <a:spLocks noGrp="1"/>
          </p:cNvSpPr>
          <p:nvPr/>
        </p:nvSpPr>
        <p:spPr>
          <a:xfrm>
            <a:off x="5431536" y="3310128"/>
            <a:ext cx="1280160" cy="2286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>
              <a:spcAft>
                <a:spcPts val="800"/>
              </a:spcAft>
              <a:buNone/>
            </a:pPr>
            <a:r>
              <a:rPr sz="1425">
                <a:solidFill>
                  <a:srgbClr val="262626"/>
                </a:solidFill>
                <a:latin typeface="Liberation Sans"/>
                <a:ea typeface="Liberation Sans"/>
                <a:cs typeface="Liberation Sans"/>
              </a:rPr>
              <a:t>GPT-4 e Claude (mar)</a:t>
            </a:r>
            <a:endParaRPr sz="1200"/>
          </a:p>
          <a:p>
            <a:pPr marL="0" indent="0">
              <a:spcAft>
                <a:spcPts val="800"/>
              </a:spcAft>
              <a:buNone/>
            </a:pPr>
            <a:r>
              <a:rPr sz="1425">
                <a:solidFill>
                  <a:srgbClr val="262626"/>
                </a:solidFill>
                <a:latin typeface="Liberation Sans"/>
                <a:ea typeface="Liberation Sans"/>
                <a:cs typeface="Liberation Sans"/>
              </a:rPr>
              <a:t>Gemini (dez)</a:t>
            </a:r>
            <a:endParaRPr sz="1200"/>
          </a:p>
          <a:p>
            <a:pPr marL="0" indent="0">
              <a:spcAft>
                <a:spcPts val="800"/>
              </a:spcAft>
              <a:buNone/>
            </a:pPr>
            <a:r>
              <a:rPr sz="1425">
                <a:solidFill>
                  <a:srgbClr val="262626"/>
                </a:solidFill>
                <a:latin typeface="Liberation Sans"/>
                <a:ea typeface="Liberation Sans"/>
                <a:cs typeface="Liberation Sans"/>
              </a:rPr>
              <a:t>UE fecha acordo do AI Act</a:t>
            </a:r>
            <a:endParaRPr sz="1200"/>
          </a:p>
        </p:txBody>
      </p:sp>
      <p:sp>
        <p:nvSpPr>
          <p:cNvPr id="25" name="Shape 23">
            <a:extLst>
              <a:ext uri="{FF2B5EF4-FFF2-40B4-BE49-F238E27FC236}">
                <a16:creationId xmlns:a16="http://schemas.microsoft.com/office/drawing/2014/main" id="{26A484D9-6D08-4B99-A681-0AFD70D4EE08}"/>
              </a:ext>
            </a:extLst>
          </p:cNvPr>
          <p:cNvSpPr>
            <a:spLocks noGrp="1"/>
          </p:cNvSpPr>
          <p:nvPr/>
        </p:nvSpPr>
        <p:spPr>
          <a:xfrm>
            <a:off x="7415784" y="1938528"/>
            <a:ext cx="420624" cy="420624"/>
          </a:xfrm>
          <a:prstGeom prst="ellipse">
            <a:avLst/>
          </a:prstGeom>
          <a:solidFill>
            <a:srgbClr val="595959"/>
          </a:solidFill>
          <a:ln w="25400">
            <a:solidFill>
              <a:srgbClr val="FFFF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6" name="Text 24">
            <a:extLst>
              <a:ext uri="{FF2B5EF4-FFF2-40B4-BE49-F238E27FC236}">
                <a16:creationId xmlns:a16="http://schemas.microsoft.com/office/drawing/2014/main" id="{E619AC78-968F-4EFD-958F-E8DA1C1E6D3C}"/>
              </a:ext>
            </a:extLst>
          </p:cNvPr>
          <p:cNvSpPr>
            <a:spLocks noGrp="1"/>
          </p:cNvSpPr>
          <p:nvPr/>
        </p:nvSpPr>
        <p:spPr>
          <a:xfrm>
            <a:off x="6912864" y="1417320"/>
            <a:ext cx="1426464" cy="4572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 algn="ctr">
              <a:buNone/>
            </a:pPr>
            <a:r>
              <a:rPr sz="1900">
                <a:solidFill>
                  <a:srgbClr val="000000"/>
                </a:solidFill>
                <a:latin typeface="Liberation Sans"/>
                <a:ea typeface="Liberation Sans"/>
                <a:cs typeface="Liberation Sans"/>
              </a:rPr>
              <a:t>2024</a:t>
            </a:r>
            <a:endParaRPr sz="2000"/>
          </a:p>
        </p:txBody>
      </p:sp>
      <p:sp>
        <p:nvSpPr>
          <p:cNvPr id="27" name="Shape 25">
            <a:extLst>
              <a:ext uri="{FF2B5EF4-FFF2-40B4-BE49-F238E27FC236}">
                <a16:creationId xmlns:a16="http://schemas.microsoft.com/office/drawing/2014/main" id="{B3CF14F3-D8D2-49D4-B69B-8BA3C4EAC00C}"/>
              </a:ext>
            </a:extLst>
          </p:cNvPr>
          <p:cNvSpPr>
            <a:spLocks noGrp="1"/>
          </p:cNvSpPr>
          <p:nvPr/>
        </p:nvSpPr>
        <p:spPr>
          <a:xfrm>
            <a:off x="6912864" y="2606040"/>
            <a:ext cx="1463040" cy="3063240"/>
          </a:xfrm>
          <a:prstGeom prst="roundRect">
            <a:avLst>
              <a:gd name="adj" fmla="val 7500"/>
            </a:avLst>
          </a:prstGeom>
          <a:noFill/>
          <a:ln w="0">
            <a:noFill/>
          </a:ln>
        </p:spPr>
        <p:txBody>
          <a:bodyPr/>
          <a:lstStyle/>
          <a:p>
            <a:endParaRPr/>
          </a:p>
        </p:txBody>
      </p:sp>
      <p:sp>
        <p:nvSpPr>
          <p:cNvPr id="28" name="Text 26">
            <a:extLst>
              <a:ext uri="{FF2B5EF4-FFF2-40B4-BE49-F238E27FC236}">
                <a16:creationId xmlns:a16="http://schemas.microsoft.com/office/drawing/2014/main" id="{BE317146-E19B-4518-914E-4B9544D8128A}"/>
              </a:ext>
            </a:extLst>
          </p:cNvPr>
          <p:cNvSpPr>
            <a:spLocks noGrp="1"/>
          </p:cNvSpPr>
          <p:nvPr/>
        </p:nvSpPr>
        <p:spPr>
          <a:xfrm>
            <a:off x="7022592" y="2715768"/>
            <a:ext cx="1243584" cy="5943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>
              <a:buNone/>
            </a:pPr>
            <a:r>
              <a:rPr sz="1350">
                <a:solidFill>
                  <a:srgbClr val="000000"/>
                </a:solidFill>
                <a:latin typeface="Liberation Sans"/>
                <a:ea typeface="Liberation Sans"/>
                <a:cs typeface="Liberation Sans"/>
              </a:rPr>
              <a:t>Ver, ouvir e agir</a:t>
            </a:r>
            <a:endParaRPr sz="1400"/>
          </a:p>
        </p:txBody>
      </p:sp>
      <p:sp>
        <p:nvSpPr>
          <p:cNvPr id="29" name="Text 27">
            <a:extLst>
              <a:ext uri="{FF2B5EF4-FFF2-40B4-BE49-F238E27FC236}">
                <a16:creationId xmlns:a16="http://schemas.microsoft.com/office/drawing/2014/main" id="{881C9606-1D91-4D65-9349-7521A6C65B1D}"/>
              </a:ext>
            </a:extLst>
          </p:cNvPr>
          <p:cNvSpPr>
            <a:spLocks noGrp="1"/>
          </p:cNvSpPr>
          <p:nvPr/>
        </p:nvSpPr>
        <p:spPr>
          <a:xfrm>
            <a:off x="7022592" y="3310128"/>
            <a:ext cx="1280160" cy="2286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>
              <a:spcAft>
                <a:spcPts val="800"/>
              </a:spcAft>
              <a:buNone/>
            </a:pPr>
            <a:r>
              <a:rPr sz="1425">
                <a:solidFill>
                  <a:srgbClr val="262626"/>
                </a:solidFill>
                <a:latin typeface="Liberation Sans"/>
                <a:ea typeface="Liberation Sans"/>
                <a:cs typeface="Liberation Sans"/>
              </a:rPr>
              <a:t>GPT-4o com voz (mai)</a:t>
            </a:r>
            <a:endParaRPr sz="1200"/>
          </a:p>
          <a:p>
            <a:pPr marL="0" indent="0">
              <a:spcAft>
                <a:spcPts val="800"/>
              </a:spcAft>
              <a:buNone/>
            </a:pPr>
            <a:r>
              <a:rPr sz="1425">
                <a:solidFill>
                  <a:srgbClr val="262626"/>
                </a:solidFill>
                <a:latin typeface="Liberation Sans"/>
                <a:ea typeface="Liberation Sans"/>
                <a:cs typeface="Liberation Sans"/>
              </a:rPr>
              <a:t>Claude usa o computador (out)</a:t>
            </a:r>
            <a:endParaRPr sz="1200"/>
          </a:p>
          <a:p>
            <a:pPr marL="0" indent="0">
              <a:spcAft>
                <a:spcPts val="800"/>
              </a:spcAft>
              <a:buNone/>
            </a:pPr>
            <a:r>
              <a:rPr sz="1425">
                <a:solidFill>
                  <a:srgbClr val="262626"/>
                </a:solidFill>
                <a:latin typeface="Liberation Sans"/>
                <a:ea typeface="Liberation Sans"/>
                <a:cs typeface="Liberation Sans"/>
              </a:rPr>
              <a:t>Protocolo MCP (nov)</a:t>
            </a:r>
            <a:endParaRPr sz="1200"/>
          </a:p>
        </p:txBody>
      </p:sp>
      <p:sp>
        <p:nvSpPr>
          <p:cNvPr id="30" name="Shape 28">
            <a:extLst>
              <a:ext uri="{FF2B5EF4-FFF2-40B4-BE49-F238E27FC236}">
                <a16:creationId xmlns:a16="http://schemas.microsoft.com/office/drawing/2014/main" id="{C15B8B3A-181C-4D2B-AF20-0CB342E90D11}"/>
              </a:ext>
            </a:extLst>
          </p:cNvPr>
          <p:cNvSpPr>
            <a:spLocks noGrp="1"/>
          </p:cNvSpPr>
          <p:nvPr/>
        </p:nvSpPr>
        <p:spPr>
          <a:xfrm>
            <a:off x="9006840" y="1938528"/>
            <a:ext cx="420624" cy="420624"/>
          </a:xfrm>
          <a:prstGeom prst="ellipse">
            <a:avLst/>
          </a:prstGeom>
          <a:solidFill>
            <a:srgbClr val="D24726"/>
          </a:solidFill>
          <a:ln w="25400">
            <a:solidFill>
              <a:srgbClr val="FFFF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1" name="Text 29">
            <a:extLst>
              <a:ext uri="{FF2B5EF4-FFF2-40B4-BE49-F238E27FC236}">
                <a16:creationId xmlns:a16="http://schemas.microsoft.com/office/drawing/2014/main" id="{41B52F42-79C9-4400-AAC6-30B10A734E4F}"/>
              </a:ext>
            </a:extLst>
          </p:cNvPr>
          <p:cNvSpPr>
            <a:spLocks noGrp="1"/>
          </p:cNvSpPr>
          <p:nvPr/>
        </p:nvSpPr>
        <p:spPr>
          <a:xfrm>
            <a:off x="8503920" y="1417320"/>
            <a:ext cx="1426464" cy="4572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 algn="ctr">
              <a:buNone/>
            </a:pPr>
            <a:r>
              <a:rPr sz="1900">
                <a:solidFill>
                  <a:srgbClr val="D24726"/>
                </a:solidFill>
                <a:latin typeface="Liberation Sans"/>
                <a:ea typeface="Liberation Sans"/>
                <a:cs typeface="Liberation Sans"/>
              </a:rPr>
              <a:t>2025</a:t>
            </a:r>
            <a:endParaRPr sz="2000"/>
          </a:p>
        </p:txBody>
      </p:sp>
      <p:sp>
        <p:nvSpPr>
          <p:cNvPr id="32" name="Shape 30">
            <a:extLst>
              <a:ext uri="{FF2B5EF4-FFF2-40B4-BE49-F238E27FC236}">
                <a16:creationId xmlns:a16="http://schemas.microsoft.com/office/drawing/2014/main" id="{449D9B8F-D816-486E-9CBA-C882918EE752}"/>
              </a:ext>
            </a:extLst>
          </p:cNvPr>
          <p:cNvSpPr>
            <a:spLocks noGrp="1"/>
          </p:cNvSpPr>
          <p:nvPr/>
        </p:nvSpPr>
        <p:spPr>
          <a:xfrm>
            <a:off x="8503920" y="2606040"/>
            <a:ext cx="1463040" cy="3063240"/>
          </a:xfrm>
          <a:prstGeom prst="roundRect">
            <a:avLst>
              <a:gd name="adj" fmla="val 7500"/>
            </a:avLst>
          </a:prstGeom>
          <a:noFill/>
          <a:ln w="0">
            <a:noFill/>
          </a:ln>
        </p:spPr>
        <p:txBody>
          <a:bodyPr/>
          <a:lstStyle/>
          <a:p>
            <a:endParaRPr/>
          </a:p>
        </p:txBody>
      </p:sp>
      <p:sp>
        <p:nvSpPr>
          <p:cNvPr id="33" name="Text 31">
            <a:extLst>
              <a:ext uri="{FF2B5EF4-FFF2-40B4-BE49-F238E27FC236}">
                <a16:creationId xmlns:a16="http://schemas.microsoft.com/office/drawing/2014/main" id="{63F43635-D2D7-4671-8D65-D428AE1D8E08}"/>
              </a:ext>
            </a:extLst>
          </p:cNvPr>
          <p:cNvSpPr>
            <a:spLocks noGrp="1"/>
          </p:cNvSpPr>
          <p:nvPr/>
        </p:nvSpPr>
        <p:spPr>
          <a:xfrm>
            <a:off x="8613648" y="2715768"/>
            <a:ext cx="1243584" cy="5943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>
              <a:buNone/>
            </a:pPr>
            <a:r>
              <a:rPr sz="1350">
                <a:solidFill>
                  <a:srgbClr val="000000"/>
                </a:solidFill>
                <a:latin typeface="Liberation Sans"/>
                <a:ea typeface="Liberation Sans"/>
                <a:cs typeface="Liberation Sans"/>
              </a:rPr>
              <a:t>Raciocínio e agentes</a:t>
            </a:r>
            <a:endParaRPr sz="1400"/>
          </a:p>
        </p:txBody>
      </p:sp>
      <p:sp>
        <p:nvSpPr>
          <p:cNvPr id="34" name="Text 32">
            <a:extLst>
              <a:ext uri="{FF2B5EF4-FFF2-40B4-BE49-F238E27FC236}">
                <a16:creationId xmlns:a16="http://schemas.microsoft.com/office/drawing/2014/main" id="{1FD53FFC-5181-461C-8252-14FB726B4651}"/>
              </a:ext>
            </a:extLst>
          </p:cNvPr>
          <p:cNvSpPr>
            <a:spLocks noGrp="1"/>
          </p:cNvSpPr>
          <p:nvPr/>
        </p:nvSpPr>
        <p:spPr>
          <a:xfrm>
            <a:off x="8613648" y="3310128"/>
            <a:ext cx="1280160" cy="2286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>
              <a:spcAft>
                <a:spcPts val="800"/>
              </a:spcAft>
              <a:buNone/>
            </a:pPr>
            <a:r>
              <a:rPr sz="1425">
                <a:solidFill>
                  <a:srgbClr val="262626"/>
                </a:solidFill>
                <a:latin typeface="Liberation Sans"/>
                <a:ea typeface="Liberation Sans"/>
                <a:cs typeface="Liberation Sans"/>
              </a:rPr>
              <a:t>Claude Code (fev)</a:t>
            </a:r>
            <a:endParaRPr sz="1200"/>
          </a:p>
          <a:p>
            <a:pPr marL="0" indent="0">
              <a:spcAft>
                <a:spcPts val="800"/>
              </a:spcAft>
              <a:buNone/>
            </a:pPr>
            <a:r>
              <a:rPr sz="1425">
                <a:solidFill>
                  <a:srgbClr val="262626"/>
                </a:solidFill>
                <a:latin typeface="Liberation Sans"/>
                <a:ea typeface="Liberation Sans"/>
                <a:cs typeface="Liberation Sans"/>
              </a:rPr>
              <a:t>ChatGPT agent (jul)</a:t>
            </a:r>
            <a:endParaRPr sz="1200"/>
          </a:p>
          <a:p>
            <a:pPr marL="0" indent="0">
              <a:spcAft>
                <a:spcPts val="800"/>
              </a:spcAft>
              <a:buNone/>
            </a:pPr>
            <a:r>
              <a:rPr sz="1425">
                <a:solidFill>
                  <a:srgbClr val="262626"/>
                </a:solidFill>
                <a:latin typeface="Liberation Sans"/>
                <a:ea typeface="Liberation Sans"/>
                <a:cs typeface="Liberation Sans"/>
              </a:rPr>
              <a:t>GPT-5 (ago)</a:t>
            </a:r>
            <a:endParaRPr sz="1200"/>
          </a:p>
        </p:txBody>
      </p:sp>
      <p:sp>
        <p:nvSpPr>
          <p:cNvPr id="35" name="Shape 33">
            <a:extLst>
              <a:ext uri="{FF2B5EF4-FFF2-40B4-BE49-F238E27FC236}">
                <a16:creationId xmlns:a16="http://schemas.microsoft.com/office/drawing/2014/main" id="{A6523DCB-8964-4361-81F2-31506EF49716}"/>
              </a:ext>
            </a:extLst>
          </p:cNvPr>
          <p:cNvSpPr>
            <a:spLocks noGrp="1"/>
          </p:cNvSpPr>
          <p:nvPr/>
        </p:nvSpPr>
        <p:spPr>
          <a:xfrm>
            <a:off x="10597896" y="1938528"/>
            <a:ext cx="420624" cy="420624"/>
          </a:xfrm>
          <a:prstGeom prst="ellipse">
            <a:avLst/>
          </a:prstGeom>
          <a:solidFill>
            <a:srgbClr val="D24726"/>
          </a:solidFill>
          <a:ln w="25400">
            <a:solidFill>
              <a:srgbClr val="FFFF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6" name="Text 34">
            <a:extLst>
              <a:ext uri="{FF2B5EF4-FFF2-40B4-BE49-F238E27FC236}">
                <a16:creationId xmlns:a16="http://schemas.microsoft.com/office/drawing/2014/main" id="{ECDEBB24-4E40-4411-9339-40CAFFAC1EFB}"/>
              </a:ext>
            </a:extLst>
          </p:cNvPr>
          <p:cNvSpPr>
            <a:spLocks noGrp="1"/>
          </p:cNvSpPr>
          <p:nvPr/>
        </p:nvSpPr>
        <p:spPr>
          <a:xfrm>
            <a:off x="10094976" y="1417320"/>
            <a:ext cx="1426464" cy="4572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 algn="ctr">
              <a:buNone/>
            </a:pPr>
            <a:r>
              <a:rPr sz="1900">
                <a:solidFill>
                  <a:srgbClr val="D24726"/>
                </a:solidFill>
                <a:latin typeface="Liberation Sans"/>
                <a:ea typeface="Liberation Sans"/>
                <a:cs typeface="Liberation Sans"/>
              </a:rPr>
              <a:t>2026</a:t>
            </a:r>
            <a:endParaRPr sz="2000"/>
          </a:p>
        </p:txBody>
      </p:sp>
      <p:sp>
        <p:nvSpPr>
          <p:cNvPr id="37" name="Shape 35">
            <a:extLst>
              <a:ext uri="{FF2B5EF4-FFF2-40B4-BE49-F238E27FC236}">
                <a16:creationId xmlns:a16="http://schemas.microsoft.com/office/drawing/2014/main" id="{C8FA1015-E916-4D7F-B6A5-9F377C3C073C}"/>
              </a:ext>
            </a:extLst>
          </p:cNvPr>
          <p:cNvSpPr>
            <a:spLocks noGrp="1"/>
          </p:cNvSpPr>
          <p:nvPr/>
        </p:nvSpPr>
        <p:spPr>
          <a:xfrm>
            <a:off x="10094976" y="2606040"/>
            <a:ext cx="1463040" cy="3063240"/>
          </a:xfrm>
          <a:prstGeom prst="roundRect">
            <a:avLst>
              <a:gd name="adj" fmla="val 7500"/>
            </a:avLst>
          </a:prstGeom>
          <a:noFill/>
          <a:ln w="0">
            <a:noFill/>
          </a:ln>
        </p:spPr>
        <p:txBody>
          <a:bodyPr/>
          <a:lstStyle/>
          <a:p>
            <a:endParaRPr/>
          </a:p>
        </p:txBody>
      </p:sp>
      <p:sp>
        <p:nvSpPr>
          <p:cNvPr id="38" name="Text 36">
            <a:extLst>
              <a:ext uri="{FF2B5EF4-FFF2-40B4-BE49-F238E27FC236}">
                <a16:creationId xmlns:a16="http://schemas.microsoft.com/office/drawing/2014/main" id="{84DA6AD1-F9C3-41DC-AF88-D28B33792272}"/>
              </a:ext>
            </a:extLst>
          </p:cNvPr>
          <p:cNvSpPr>
            <a:spLocks noGrp="1"/>
          </p:cNvSpPr>
          <p:nvPr/>
        </p:nvSpPr>
        <p:spPr>
          <a:xfrm>
            <a:off x="10204704" y="2715768"/>
            <a:ext cx="1243584" cy="5943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>
              <a:buNone/>
            </a:pPr>
            <a:r>
              <a:rPr sz="1350">
                <a:solidFill>
                  <a:srgbClr val="000000"/>
                </a:solidFill>
                <a:latin typeface="Liberation Sans"/>
                <a:ea typeface="Liberation Sans"/>
                <a:cs typeface="Liberation Sans"/>
              </a:rPr>
              <a:t>Agentes e resultado</a:t>
            </a:r>
            <a:endParaRPr sz="1400"/>
          </a:p>
        </p:txBody>
      </p:sp>
      <p:sp>
        <p:nvSpPr>
          <p:cNvPr id="39" name="Text 37">
            <a:extLst>
              <a:ext uri="{FF2B5EF4-FFF2-40B4-BE49-F238E27FC236}">
                <a16:creationId xmlns:a16="http://schemas.microsoft.com/office/drawing/2014/main" id="{E3067DC3-971D-4F58-8757-F10B31846EE0}"/>
              </a:ext>
            </a:extLst>
          </p:cNvPr>
          <p:cNvSpPr>
            <a:spLocks noGrp="1"/>
          </p:cNvSpPr>
          <p:nvPr/>
        </p:nvSpPr>
        <p:spPr>
          <a:xfrm>
            <a:off x="10204704" y="3310128"/>
            <a:ext cx="1280160" cy="2286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>
              <a:spcAft>
                <a:spcPts val="800"/>
              </a:spcAft>
              <a:buNone/>
            </a:pPr>
            <a:r>
              <a:rPr sz="1425">
                <a:solidFill>
                  <a:srgbClr val="262626"/>
                </a:solidFill>
                <a:latin typeface="Liberation Sans"/>
                <a:ea typeface="Liberation Sans"/>
                <a:cs typeface="Liberation Sans"/>
              </a:rPr>
              <a:t>ChatGPT: 900 mi/semana (fev)</a:t>
            </a:r>
            <a:endParaRPr sz="1200"/>
          </a:p>
          <a:p>
            <a:pPr marL="0" indent="0">
              <a:spcAft>
                <a:spcPts val="800"/>
              </a:spcAft>
              <a:buNone/>
            </a:pPr>
            <a:r>
              <a:rPr sz="1425">
                <a:solidFill>
                  <a:srgbClr val="262626"/>
                </a:solidFill>
                <a:latin typeface="Liberation Sans"/>
                <a:ea typeface="Liberation Sans"/>
                <a:cs typeface="Liberation Sans"/>
              </a:rPr>
              <a:t>Incidente em teste de modelos (jul)</a:t>
            </a:r>
            <a:endParaRPr sz="1200"/>
          </a:p>
          <a:p>
            <a:pPr marL="0" indent="0">
              <a:spcAft>
                <a:spcPts val="800"/>
              </a:spcAft>
              <a:buNone/>
            </a:pPr>
            <a:r>
              <a:rPr sz="1425">
                <a:solidFill>
                  <a:srgbClr val="262626"/>
                </a:solidFill>
                <a:latin typeface="Liberation Sans"/>
                <a:ea typeface="Liberation Sans"/>
                <a:cs typeface="Liberation Sans"/>
              </a:rPr>
              <a:t>Debate sobre desaceleração (set)</a:t>
            </a:r>
            <a:endParaRPr sz="1200"/>
          </a:p>
        </p:txBody>
      </p:sp>
      <p:sp>
        <p:nvSpPr>
          <p:cNvPr id="40" name="Text 38">
            <a:extLst>
              <a:ext uri="{FF2B5EF4-FFF2-40B4-BE49-F238E27FC236}">
                <a16:creationId xmlns:a16="http://schemas.microsoft.com/office/drawing/2014/main" id="{A0EA8F2E-DB97-4AA7-8039-FEE1F119CEB6}"/>
              </a:ext>
            </a:extLst>
          </p:cNvPr>
          <p:cNvSpPr>
            <a:spLocks noGrp="1"/>
          </p:cNvSpPr>
          <p:nvPr/>
        </p:nvSpPr>
        <p:spPr>
          <a:xfrm>
            <a:off x="609600" y="6334125"/>
            <a:ext cx="10572750" cy="28575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>
              <a:buNone/>
              <a:defRPr sz="1013">
                <a:solidFill>
                  <a:srgbClr val="666660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013">
                <a:solidFill>
                  <a:srgbClr val="666660"/>
                </a:solidFill>
                <a:latin typeface="Liberation Sans"/>
                <a:ea typeface="Liberation Sans"/>
                <a:cs typeface="Liberation Sans"/>
              </a:rPr>
              <a:t>Fontes: anúncios de OpenAI, Anthropic e Google, artigos originais, Parlamento Europeu e Casa Branca. Links completos no apêndice.</a:t>
            </a:r>
            <a:endParaRPr sz="900"/>
          </a:p>
        </p:txBody>
      </p:sp>
      <p:sp>
        <p:nvSpPr>
          <p:cNvPr id="41" name="Shape 39">
            <a:extLst>
              <a:ext uri="{FF2B5EF4-FFF2-40B4-BE49-F238E27FC236}">
                <a16:creationId xmlns:a16="http://schemas.microsoft.com/office/drawing/2014/main" id="{9CAEB8CD-CE4F-4821-A2B6-8F9E2AFBF2F7}"/>
              </a:ext>
            </a:extLst>
          </p:cNvPr>
          <p:cNvSpPr>
            <a:spLocks noGrp="1"/>
          </p:cNvSpPr>
          <p:nvPr/>
        </p:nvSpPr>
        <p:spPr>
          <a:xfrm>
            <a:off x="548640" y="5760720"/>
            <a:ext cx="11064240" cy="457200"/>
          </a:xfrm>
          <a:prstGeom prst="roundRect">
            <a:avLst>
              <a:gd name="adj" fmla="val 24000"/>
            </a:avLst>
          </a:prstGeom>
          <a:solidFill>
            <a:srgbClr val="262626"/>
          </a:solidFill>
          <a:ln w="12700">
            <a:solidFill>
              <a:srgbClr val="26262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2" name="Text 40">
            <a:extLst>
              <a:ext uri="{FF2B5EF4-FFF2-40B4-BE49-F238E27FC236}">
                <a16:creationId xmlns:a16="http://schemas.microsoft.com/office/drawing/2014/main" id="{13F79945-1FAB-47B7-B0ED-BA2E1F8F4B5A}"/>
              </a:ext>
            </a:extLst>
          </p:cNvPr>
          <p:cNvSpPr>
            <a:spLocks noGrp="1"/>
          </p:cNvSpPr>
          <p:nvPr/>
        </p:nvSpPr>
        <p:spPr>
          <a:xfrm>
            <a:off x="548640" y="5760720"/>
            <a:ext cx="11064240" cy="4572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1600">
                <a:solidFill>
                  <a:srgbClr val="FFFFFF"/>
                </a:solidFill>
                <a:latin typeface="Liberation Sans"/>
                <a:ea typeface="Liberation Sans"/>
                <a:cs typeface="Liberation Sans"/>
              </a:rPr>
              <a:t>Responder  →  Conversar  →  Ver e ouvir  →  Agir</a:t>
            </a:r>
            <a:endParaRPr sz="1700"/>
          </a:p>
        </p:txBody>
      </p:sp>
      <p:sp>
        <p:nvSpPr>
          <p:cNvPr id="43" name="08">
            <a:extLst>
              <a:ext uri="{FF2B5EF4-FFF2-40B4-BE49-F238E27FC236}">
                <a16:creationId xmlns:a16="http://schemas.microsoft.com/office/drawing/2014/main" id="{AEC60C44-5374-4A88-AEAB-03580D39CF00}"/>
              </a:ext>
            </a:extLst>
          </p:cNvPr>
          <p:cNvSpPr>
            <a:spLocks noGrp="1"/>
          </p:cNvSpPr>
          <p:nvPr/>
        </p:nvSpPr>
        <p:spPr>
          <a:xfrm>
            <a:off x="11258550" y="6515100"/>
            <a:ext cx="333375" cy="1905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r">
              <a:buNone/>
              <a:defRPr sz="1050" b="0" i="0">
                <a:solidFill>
                  <a:srgbClr val="8A8882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050" b="0" i="0">
                <a:solidFill>
                  <a:srgbClr val="8A8882"/>
                </a:solidFill>
                <a:latin typeface="Liberation Sans"/>
                <a:ea typeface="Liberation Sans"/>
                <a:cs typeface="Liberation Sans"/>
              </a:rPr>
              <a:t>09</a:t>
            </a:r>
          </a:p>
        </p:txBody>
      </p:sp>
      <p:sp>
        <p:nvSpPr>
          <p:cNvPr id="900" name="Chamada superinteligência"/>
          <p:cNvSpPr/>
          <p:nvPr/>
        </p:nvSpPr>
        <p:spPr>
          <a:xfrm>
            <a:off x="7882128" y="457200"/>
            <a:ext cx="3703320" cy="621792"/>
          </a:xfrm>
          <a:prstGeom prst="wedgeRoundRectCallout">
            <a:avLst>
              <a:gd name="adj1" fmla="val 29012"/>
              <a:gd name="adj2" fmla="val 97059"/>
              <a:gd name="adj3" fmla="val 16667"/>
            </a:avLst>
          </a:prstGeom>
          <a:solidFill>
            <a:srgbClr val="D24726"/>
          </a:solidFill>
          <a:ln>
            <a:noFill/>
          </a:ln>
        </p:spPr>
        <p:txBody>
          <a:bodyPr vert="horz" wrap="square" lIns="109728" tIns="54864" rIns="109728" bIns="54864" anchor="ctr">
            <a:noAutofit/>
          </a:bodyPr>
          <a:lstStyle/>
          <a:p>
            <a:pPr marL="0" indent="0" algn="l">
              <a:buNone/>
            </a:pPr>
            <a:r>
              <a:rPr lang="pt-BR" sz="1400" b="1" i="0" dirty="0">
                <a:solidFill>
                  <a:srgbClr val="FFFFFF"/>
                </a:solidFill>
                <a:latin typeface="Liberation Sans"/>
                <a:ea typeface="Liberation Sans"/>
                <a:cs typeface="Liberation Sans"/>
              </a:rPr>
              <a:t>29/09 · Governo dos EUA passa a</a:t>
            </a:r>
          </a:p>
          <a:p>
            <a:pPr marL="0" indent="0" algn="l">
              <a:buNone/>
            </a:pPr>
            <a:r>
              <a:rPr lang="pt-BR" sz="1400" b="1" i="0" dirty="0">
                <a:solidFill>
                  <a:srgbClr val="FFFFFF"/>
                </a:solidFill>
                <a:latin typeface="Liberation Sans"/>
                <a:ea typeface="Liberation Sans"/>
                <a:cs typeface="Liberation Sans"/>
              </a:rPr>
              <a:t>chamar a IA de “Super Intelligence”</a:t>
            </a:r>
          </a:p>
        </p:txBody>
      </p:sp>
    </p:spTree>
    <p:extLst>
      <p:ext uri="{BB962C8B-B14F-4D97-AF65-F5344CB8AC3E}">
        <p14:creationId xmlns:p14="http://schemas.microsoft.com/office/powerpoint/2010/main" val="199726433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tângulo 18">
            <a:extLst>
              <a:ext uri="{FF2B5EF4-FFF2-40B4-BE49-F238E27FC236}">
                <a16:creationId xmlns:a16="http://schemas.microsoft.com/office/drawing/2014/main" id="{5FFBC3FC-19CE-405D-9FC5-C08FBECFA805}"/>
              </a:ext>
            </a:extLst>
          </p:cNvPr>
          <p:cNvSpPr>
            <a:spLocks noGrp="1"/>
          </p:cNvSpPr>
          <p:nvPr/>
        </p:nvSpPr>
        <p:spPr>
          <a:xfrm>
            <a:off x="609600" y="419100"/>
            <a:ext cx="10972800" cy="685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  <a:defRPr sz="3450" b="1">
                <a:solidFill>
                  <a:srgbClr val="232322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3450" b="1">
                <a:solidFill>
                  <a:srgbClr val="232322"/>
                </a:solidFill>
                <a:latin typeface="Liberation Sans"/>
                <a:ea typeface="Liberation Sans"/>
                <a:cs typeface="Liberation Sans"/>
              </a:rPr>
              <a:t>O que é um agente de IA?</a:t>
            </a:r>
          </a:p>
        </p:txBody>
      </p:sp>
      <p:sp>
        <p:nvSpPr>
          <p:cNvPr id="20" name="Definição">
            <a:extLst>
              <a:ext uri="{FF2B5EF4-FFF2-40B4-BE49-F238E27FC236}">
                <a16:creationId xmlns:a16="http://schemas.microsoft.com/office/drawing/2014/main" id="{A2A22736-F4A9-4F8F-8F6A-0BCBCB01F1F5}"/>
              </a:ext>
            </a:extLst>
          </p:cNvPr>
          <p:cNvSpPr>
            <a:spLocks noGrp="1"/>
          </p:cNvSpPr>
          <p:nvPr/>
        </p:nvSpPr>
        <p:spPr>
          <a:xfrm>
            <a:off x="609600" y="1457325"/>
            <a:ext cx="10972800" cy="8858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buNone/>
              <a:defRPr sz="2175" b="0">
                <a:solidFill>
                  <a:srgbClr val="232322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2175" b="0">
                <a:solidFill>
                  <a:srgbClr val="232322"/>
                </a:solidFill>
                <a:latin typeface="Liberation Sans"/>
                <a:ea typeface="Liberation Sans"/>
                <a:cs typeface="Liberation Sans"/>
              </a:rPr>
              <a:t>Um sistema de IA que usa contexto e ferramentas para atingir um objetivo.</a:t>
            </a:r>
          </a:p>
          <a:p>
            <a:pPr algn="l">
              <a:buNone/>
              <a:defRPr sz="2175" b="0">
                <a:solidFill>
                  <a:srgbClr val="232322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2175" b="0">
                <a:solidFill>
                  <a:srgbClr val="232322"/>
                </a:solidFill>
                <a:latin typeface="Liberation Sans"/>
                <a:ea typeface="Liberation Sans"/>
                <a:cs typeface="Liberation Sans"/>
              </a:rPr>
              <a:t>Além de responder, pode agir em aplicativos e ajustar o plano conforme os resultados.</a:t>
            </a:r>
          </a:p>
        </p:txBody>
      </p:sp>
      <p:sp>
        <p:nvSpPr>
          <p:cNvPr id="21" name="Etapa 1">
            <a:extLst>
              <a:ext uri="{FF2B5EF4-FFF2-40B4-BE49-F238E27FC236}">
                <a16:creationId xmlns:a16="http://schemas.microsoft.com/office/drawing/2014/main" id="{8F64581B-799B-40D1-8616-E352D7B513CA}"/>
              </a:ext>
            </a:extLst>
          </p:cNvPr>
          <p:cNvSpPr>
            <a:spLocks noGrp="1"/>
          </p:cNvSpPr>
          <p:nvPr/>
        </p:nvSpPr>
        <p:spPr>
          <a:xfrm>
            <a:off x="609600" y="2762250"/>
            <a:ext cx="495300" cy="4191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buNone/>
              <a:defRPr sz="2400" b="1">
                <a:solidFill>
                  <a:srgbClr val="D6482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2400" b="1">
                <a:solidFill>
                  <a:srgbClr val="D64826"/>
                </a:solidFill>
                <a:latin typeface="Liberation Sans"/>
                <a:ea typeface="Liberation Sans"/>
                <a:cs typeface="Liberation Sans"/>
              </a:rPr>
              <a:t>1</a:t>
            </a:r>
          </a:p>
        </p:txBody>
      </p:sp>
      <p:sp>
        <p:nvSpPr>
          <p:cNvPr id="22" name="Fluxo: Objetivo e contexto">
            <a:extLst>
              <a:ext uri="{FF2B5EF4-FFF2-40B4-BE49-F238E27FC236}">
                <a16:creationId xmlns:a16="http://schemas.microsoft.com/office/drawing/2014/main" id="{6CF2F23B-7BAF-4EAB-9654-51C715AA8B6A}"/>
              </a:ext>
            </a:extLst>
          </p:cNvPr>
          <p:cNvSpPr>
            <a:spLocks noGrp="1"/>
          </p:cNvSpPr>
          <p:nvPr/>
        </p:nvSpPr>
        <p:spPr>
          <a:xfrm>
            <a:off x="609600" y="3257550"/>
            <a:ext cx="2190750" cy="7429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buNone/>
              <a:defRPr sz="2175" b="1">
                <a:solidFill>
                  <a:srgbClr val="232322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2175" b="1">
                <a:solidFill>
                  <a:srgbClr val="232322"/>
                </a:solidFill>
                <a:latin typeface="Liberation Sans"/>
                <a:ea typeface="Liberation Sans"/>
                <a:cs typeface="Liberation Sans"/>
              </a:rPr>
              <a:t>Objetivo</a:t>
            </a:r>
          </a:p>
          <a:p>
            <a:pPr algn="l">
              <a:buNone/>
              <a:defRPr sz="2175" b="1">
                <a:solidFill>
                  <a:srgbClr val="232322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2175" b="1">
                <a:solidFill>
                  <a:srgbClr val="232322"/>
                </a:solidFill>
                <a:latin typeface="Liberation Sans"/>
                <a:ea typeface="Liberation Sans"/>
                <a:cs typeface="Liberation Sans"/>
              </a:rPr>
              <a:t>e contexto</a:t>
            </a:r>
          </a:p>
        </p:txBody>
      </p:sp>
      <p:sp>
        <p:nvSpPr>
          <p:cNvPr id="23" name="Etapa 2">
            <a:extLst>
              <a:ext uri="{FF2B5EF4-FFF2-40B4-BE49-F238E27FC236}">
                <a16:creationId xmlns:a16="http://schemas.microsoft.com/office/drawing/2014/main" id="{0C9A5F36-B7F5-4852-92F9-17F379F787BB}"/>
              </a:ext>
            </a:extLst>
          </p:cNvPr>
          <p:cNvSpPr>
            <a:spLocks noGrp="1"/>
          </p:cNvSpPr>
          <p:nvPr/>
        </p:nvSpPr>
        <p:spPr>
          <a:xfrm>
            <a:off x="3505200" y="2762250"/>
            <a:ext cx="495300" cy="4191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buNone/>
              <a:defRPr sz="2400" b="1">
                <a:solidFill>
                  <a:srgbClr val="D6482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2400" b="1">
                <a:solidFill>
                  <a:srgbClr val="D64826"/>
                </a:solidFill>
                <a:latin typeface="Liberation Sans"/>
                <a:ea typeface="Liberation Sans"/>
                <a:cs typeface="Liberation Sans"/>
              </a:rPr>
              <a:t>2</a:t>
            </a:r>
          </a:p>
        </p:txBody>
      </p:sp>
      <p:sp>
        <p:nvSpPr>
          <p:cNvPr id="24" name="Fluxo: Plano">
            <a:extLst>
              <a:ext uri="{FF2B5EF4-FFF2-40B4-BE49-F238E27FC236}">
                <a16:creationId xmlns:a16="http://schemas.microsoft.com/office/drawing/2014/main" id="{0EC1E484-3523-458C-A3BC-D8BD2F64BCA0}"/>
              </a:ext>
            </a:extLst>
          </p:cNvPr>
          <p:cNvSpPr>
            <a:spLocks noGrp="1"/>
          </p:cNvSpPr>
          <p:nvPr/>
        </p:nvSpPr>
        <p:spPr>
          <a:xfrm>
            <a:off x="3505200" y="3257550"/>
            <a:ext cx="2190750" cy="7429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buNone/>
              <a:defRPr sz="2175" b="1">
                <a:solidFill>
                  <a:srgbClr val="232322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2175" b="1">
                <a:solidFill>
                  <a:srgbClr val="232322"/>
                </a:solidFill>
                <a:latin typeface="Liberation Sans"/>
                <a:ea typeface="Liberation Sans"/>
                <a:cs typeface="Liberation Sans"/>
              </a:rPr>
              <a:t>Plano</a:t>
            </a:r>
          </a:p>
        </p:txBody>
      </p:sp>
      <p:sp>
        <p:nvSpPr>
          <p:cNvPr id="25" name="Etapa 3">
            <a:extLst>
              <a:ext uri="{FF2B5EF4-FFF2-40B4-BE49-F238E27FC236}">
                <a16:creationId xmlns:a16="http://schemas.microsoft.com/office/drawing/2014/main" id="{C88880CB-23DF-452E-B02A-FC2889626A9A}"/>
              </a:ext>
            </a:extLst>
          </p:cNvPr>
          <p:cNvSpPr>
            <a:spLocks noGrp="1"/>
          </p:cNvSpPr>
          <p:nvPr/>
        </p:nvSpPr>
        <p:spPr>
          <a:xfrm>
            <a:off x="6400800" y="2762250"/>
            <a:ext cx="495300" cy="4191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buNone/>
              <a:defRPr sz="2400" b="1">
                <a:solidFill>
                  <a:srgbClr val="D6482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2400" b="1">
                <a:solidFill>
                  <a:srgbClr val="D64826"/>
                </a:solidFill>
                <a:latin typeface="Liberation Sans"/>
                <a:ea typeface="Liberation Sans"/>
                <a:cs typeface="Liberation Sans"/>
              </a:rPr>
              <a:t>3</a:t>
            </a:r>
          </a:p>
        </p:txBody>
      </p:sp>
      <p:sp>
        <p:nvSpPr>
          <p:cNvPr id="26" name="Fluxo: Ferramentas e ação">
            <a:extLst>
              <a:ext uri="{FF2B5EF4-FFF2-40B4-BE49-F238E27FC236}">
                <a16:creationId xmlns:a16="http://schemas.microsoft.com/office/drawing/2014/main" id="{2CEEA2EE-1BF8-41A4-8D9A-EE65EDDC832E}"/>
              </a:ext>
            </a:extLst>
          </p:cNvPr>
          <p:cNvSpPr>
            <a:spLocks noGrp="1"/>
          </p:cNvSpPr>
          <p:nvPr/>
        </p:nvSpPr>
        <p:spPr>
          <a:xfrm>
            <a:off x="6400800" y="3257550"/>
            <a:ext cx="2190750" cy="7429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buNone/>
              <a:defRPr sz="2175" b="1">
                <a:solidFill>
                  <a:srgbClr val="232322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2175" b="1">
                <a:solidFill>
                  <a:srgbClr val="232322"/>
                </a:solidFill>
                <a:latin typeface="Liberation Sans"/>
                <a:ea typeface="Liberation Sans"/>
                <a:cs typeface="Liberation Sans"/>
              </a:rPr>
              <a:t>Ferramentas</a:t>
            </a:r>
          </a:p>
          <a:p>
            <a:pPr algn="l">
              <a:buNone/>
              <a:defRPr sz="2175" b="1">
                <a:solidFill>
                  <a:srgbClr val="232322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2175" b="1">
                <a:solidFill>
                  <a:srgbClr val="232322"/>
                </a:solidFill>
                <a:latin typeface="Liberation Sans"/>
                <a:ea typeface="Liberation Sans"/>
                <a:cs typeface="Liberation Sans"/>
              </a:rPr>
              <a:t>e ação</a:t>
            </a:r>
          </a:p>
        </p:txBody>
      </p:sp>
      <p:sp>
        <p:nvSpPr>
          <p:cNvPr id="27" name="Etapa 4">
            <a:extLst>
              <a:ext uri="{FF2B5EF4-FFF2-40B4-BE49-F238E27FC236}">
                <a16:creationId xmlns:a16="http://schemas.microsoft.com/office/drawing/2014/main" id="{D132151C-864B-418E-92C1-097CA40E5356}"/>
              </a:ext>
            </a:extLst>
          </p:cNvPr>
          <p:cNvSpPr>
            <a:spLocks noGrp="1"/>
          </p:cNvSpPr>
          <p:nvPr/>
        </p:nvSpPr>
        <p:spPr>
          <a:xfrm>
            <a:off x="9296400" y="2762250"/>
            <a:ext cx="495300" cy="4191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buNone/>
              <a:defRPr sz="2400" b="1">
                <a:solidFill>
                  <a:srgbClr val="D6482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2400" b="1">
                <a:solidFill>
                  <a:srgbClr val="D64826"/>
                </a:solidFill>
                <a:latin typeface="Liberation Sans"/>
                <a:ea typeface="Liberation Sans"/>
                <a:cs typeface="Liberation Sans"/>
              </a:rPr>
              <a:t>4</a:t>
            </a:r>
          </a:p>
        </p:txBody>
      </p:sp>
      <p:sp>
        <p:nvSpPr>
          <p:cNvPr id="28" name="Fluxo: Verificação e ajuste">
            <a:extLst>
              <a:ext uri="{FF2B5EF4-FFF2-40B4-BE49-F238E27FC236}">
                <a16:creationId xmlns:a16="http://schemas.microsoft.com/office/drawing/2014/main" id="{F601410F-259A-4383-9B94-2AF66241B072}"/>
              </a:ext>
            </a:extLst>
          </p:cNvPr>
          <p:cNvSpPr>
            <a:spLocks noGrp="1"/>
          </p:cNvSpPr>
          <p:nvPr/>
        </p:nvSpPr>
        <p:spPr>
          <a:xfrm>
            <a:off x="9296400" y="3257550"/>
            <a:ext cx="2190750" cy="7429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buNone/>
              <a:defRPr sz="2175" b="1">
                <a:solidFill>
                  <a:srgbClr val="232322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2175" b="1">
                <a:solidFill>
                  <a:srgbClr val="232322"/>
                </a:solidFill>
                <a:latin typeface="Liberation Sans"/>
                <a:ea typeface="Liberation Sans"/>
                <a:cs typeface="Liberation Sans"/>
              </a:rPr>
              <a:t>Verificação</a:t>
            </a:r>
          </a:p>
          <a:p>
            <a:pPr algn="l">
              <a:buNone/>
              <a:defRPr sz="2175" b="1">
                <a:solidFill>
                  <a:srgbClr val="232322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2175" b="1">
                <a:solidFill>
                  <a:srgbClr val="232322"/>
                </a:solidFill>
                <a:latin typeface="Liberation Sans"/>
                <a:ea typeface="Liberation Sans"/>
                <a:cs typeface="Liberation Sans"/>
              </a:rPr>
              <a:t>e ajuste</a:t>
            </a:r>
          </a:p>
        </p:txBody>
      </p:sp>
      <p:cxnSp>
        <p:nvCxnSpPr>
          <p:cNvPr id="59" name="Conector de Seta Reta 44"/>
          <p:cNvCxnSpPr>
            <a:stCxn id="22" idx="3"/>
            <a:endCxn id="24" idx="1"/>
          </p:cNvCxnSpPr>
          <p:nvPr/>
        </p:nvCxnSpPr>
        <p:spPr>
          <a:xfrm>
            <a:off x="2800350" y="3629025"/>
            <a:ext cx="704850" cy="0"/>
          </a:xfrm>
          <a:prstGeom prst="straightConnector1">
            <a:avLst/>
          </a:prstGeom>
          <a:ln w="20955">
            <a:solidFill>
              <a:srgbClr val="D64826"/>
            </a:solidFill>
            <a:tailEnd type="triangle" w="sm" len="sm"/>
          </a:ln>
        </p:spPr>
      </p:cxnSp>
      <p:cxnSp>
        <p:nvCxnSpPr>
          <p:cNvPr id="60" name="Conector de Seta Reta 45"/>
          <p:cNvCxnSpPr>
            <a:stCxn id="24" idx="3"/>
            <a:endCxn id="26" idx="1"/>
          </p:cNvCxnSpPr>
          <p:nvPr/>
        </p:nvCxnSpPr>
        <p:spPr>
          <a:xfrm>
            <a:off x="5695950" y="3629025"/>
            <a:ext cx="704850" cy="0"/>
          </a:xfrm>
          <a:prstGeom prst="straightConnector1">
            <a:avLst/>
          </a:prstGeom>
          <a:ln w="20955">
            <a:solidFill>
              <a:srgbClr val="D64826"/>
            </a:solidFill>
            <a:tailEnd type="triangle" w="sm" len="sm"/>
          </a:ln>
        </p:spPr>
      </p:cxnSp>
      <p:cxnSp>
        <p:nvCxnSpPr>
          <p:cNvPr id="61" name="Conector de Seta Reta 46"/>
          <p:cNvCxnSpPr>
            <a:stCxn id="26" idx="3"/>
            <a:endCxn id="28" idx="1"/>
          </p:cNvCxnSpPr>
          <p:nvPr/>
        </p:nvCxnSpPr>
        <p:spPr>
          <a:xfrm>
            <a:off x="8591550" y="3629025"/>
            <a:ext cx="704850" cy="0"/>
          </a:xfrm>
          <a:prstGeom prst="straightConnector1">
            <a:avLst/>
          </a:prstGeom>
          <a:ln w="20955">
            <a:solidFill>
              <a:srgbClr val="D64826"/>
            </a:solidFill>
            <a:tailEnd type="triangle" w="sm" len="sm"/>
          </a:ln>
        </p:spPr>
      </p:cxnSp>
      <p:sp>
        <p:nvSpPr>
          <p:cNvPr id="32" name="Autonomia e aprovação">
            <a:extLst>
              <a:ext uri="{FF2B5EF4-FFF2-40B4-BE49-F238E27FC236}">
                <a16:creationId xmlns:a16="http://schemas.microsoft.com/office/drawing/2014/main" id="{36A61C7B-98B1-4810-9165-C91E69AC9BD5}"/>
              </a:ext>
            </a:extLst>
          </p:cNvPr>
          <p:cNvSpPr>
            <a:spLocks noGrp="1"/>
          </p:cNvSpPr>
          <p:nvPr/>
        </p:nvSpPr>
        <p:spPr>
          <a:xfrm>
            <a:off x="609600" y="4352925"/>
            <a:ext cx="10972800" cy="4286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buNone/>
              <a:defRPr sz="2025" b="1">
                <a:solidFill>
                  <a:srgbClr val="232322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2025" b="1">
                <a:solidFill>
                  <a:srgbClr val="232322"/>
                </a:solidFill>
                <a:latin typeface="Liberation Sans"/>
                <a:ea typeface="Liberation Sans"/>
                <a:cs typeface="Liberation Sans"/>
              </a:rPr>
              <a:t>Você define os acessos, os limites e quando o agente deve pedir aprovação.</a:t>
            </a:r>
          </a:p>
        </p:txBody>
      </p:sp>
      <p:sp>
        <p:nvSpPr>
          <p:cNvPr id="33" name="Exemplo de secretariado">
            <a:extLst>
              <a:ext uri="{FF2B5EF4-FFF2-40B4-BE49-F238E27FC236}">
                <a16:creationId xmlns:a16="http://schemas.microsoft.com/office/drawing/2014/main" id="{78B09BCB-47D1-4411-A2EC-CF2F3D17A3BC}"/>
              </a:ext>
            </a:extLst>
          </p:cNvPr>
          <p:cNvSpPr>
            <a:spLocks noGrp="1"/>
          </p:cNvSpPr>
          <p:nvPr/>
        </p:nvSpPr>
        <p:spPr>
          <a:xfrm>
            <a:off x="609600" y="5162550"/>
            <a:ext cx="10972800" cy="4095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buNone/>
              <a:defRPr sz="2175" b="1">
                <a:solidFill>
                  <a:srgbClr val="D6482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2175" b="1">
                <a:solidFill>
                  <a:srgbClr val="D64826"/>
                </a:solidFill>
                <a:latin typeface="Liberation Sans"/>
                <a:ea typeface="Liberation Sans"/>
                <a:cs typeface="Liberation Sans"/>
              </a:rPr>
              <a:t>Exemplo: remarcar uma reunião</a:t>
            </a:r>
          </a:p>
        </p:txBody>
      </p:sp>
      <p:sp>
        <p:nvSpPr>
          <p:cNvPr id="34" name="Passos do exemplo">
            <a:extLst>
              <a:ext uri="{FF2B5EF4-FFF2-40B4-BE49-F238E27FC236}">
                <a16:creationId xmlns:a16="http://schemas.microsoft.com/office/drawing/2014/main" id="{40769B7A-8A1F-4A03-9C94-E8317D93626D}"/>
              </a:ext>
            </a:extLst>
          </p:cNvPr>
          <p:cNvSpPr>
            <a:spLocks noGrp="1"/>
          </p:cNvSpPr>
          <p:nvPr/>
        </p:nvSpPr>
        <p:spPr>
          <a:xfrm>
            <a:off x="609600" y="5648325"/>
            <a:ext cx="10972800" cy="7334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buNone/>
              <a:defRPr sz="2025" b="0">
                <a:solidFill>
                  <a:srgbClr val="232322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2025" b="0">
                <a:solidFill>
                  <a:srgbClr val="232322"/>
                </a:solidFill>
                <a:latin typeface="Liberation Sans"/>
                <a:ea typeface="Liberation Sans"/>
                <a:cs typeface="Liberation Sans"/>
              </a:rPr>
              <a:t>Confere agendas, propõe um horário e prepara os convites.</a:t>
            </a:r>
          </a:p>
          <a:p>
            <a:pPr algn="l">
              <a:buNone/>
              <a:defRPr sz="2025" b="0">
                <a:solidFill>
                  <a:srgbClr val="232322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2025" b="0">
                <a:solidFill>
                  <a:srgbClr val="232322"/>
                </a:solidFill>
                <a:latin typeface="Liberation Sans"/>
                <a:ea typeface="Liberation Sans"/>
                <a:cs typeface="Liberation Sans"/>
              </a:rPr>
              <a:t>Pede sua confirmação antes de enviar.</a:t>
            </a:r>
          </a:p>
        </p:txBody>
      </p:sp>
      <p:sp>
        <p:nvSpPr>
          <p:cNvPr id="48" name="Número do slide">
            <a:extLst>
              <a:ext uri="{FF2B5EF4-FFF2-40B4-BE49-F238E27FC236}">
                <a16:creationId xmlns:a16="http://schemas.microsoft.com/office/drawing/2014/main" id="{FC077F09-A2B3-4CA3-85ED-EB4B1CC0B03E}"/>
              </a:ext>
            </a:extLst>
          </p:cNvPr>
          <p:cNvSpPr>
            <a:spLocks noGrp="1"/>
          </p:cNvSpPr>
          <p:nvPr/>
        </p:nvSpPr>
        <p:spPr>
          <a:xfrm>
            <a:off x="11258550" y="6515100"/>
            <a:ext cx="333375" cy="1905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r">
              <a:defRPr sz="1050" b="0">
                <a:solidFill>
                  <a:srgbClr val="8A8882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050" b="0">
                <a:solidFill>
                  <a:srgbClr val="8A8882"/>
                </a:solidFill>
                <a:latin typeface="Liberation Sans"/>
                <a:ea typeface="Liberation Sans"/>
                <a:cs typeface="Liberation Sans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383300142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10">
            <a:extLst>
              <a:ext uri="{FF2B5EF4-FFF2-40B4-BE49-F238E27FC236}">
                <a16:creationId xmlns:a16="http://schemas.microsoft.com/office/drawing/2014/main" id="{48752D1C-CD3C-4B95-8FAA-36F2338EB91C}"/>
              </a:ext>
            </a:extLst>
          </p:cNvPr>
          <p:cNvSpPr>
            <a:spLocks noGrp="1"/>
          </p:cNvSpPr>
          <p:nvPr/>
        </p:nvSpPr>
        <p:spPr>
          <a:xfrm>
            <a:off x="11258550" y="6515100"/>
            <a:ext cx="333375" cy="1905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r">
              <a:buNone/>
              <a:defRPr sz="1050" b="0" i="0">
                <a:solidFill>
                  <a:srgbClr val="8A8882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050" b="0" i="0">
                <a:solidFill>
                  <a:srgbClr val="8A8882"/>
                </a:solidFill>
                <a:latin typeface="Liberation Sans"/>
                <a:ea typeface="Liberation Sans"/>
                <a:cs typeface="Liberation Sans"/>
              </a:rPr>
              <a:t>11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289A820-AE06-361E-C031-075DD99755A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  <p:sp>
        <p:nvSpPr>
          <p:cNvPr id="34" name="Explorar no Manus">
            <a:hlinkClick r:id="rId4" tooltip="Explorar o material no Manus"/>
            <a:extLst>
              <a:ext uri="{FF2B5EF4-FFF2-40B4-BE49-F238E27FC236}">
                <a16:creationId xmlns:a16="http://schemas.microsoft.com/office/drawing/2014/main" id="{86CF1DCE-0C38-4A44-A252-D33D4016444F}"/>
              </a:ext>
            </a:extLst>
          </p:cNvPr>
          <p:cNvSpPr>
            <a:spLocks noGrp="1"/>
          </p:cNvSpPr>
          <p:nvPr/>
        </p:nvSpPr>
        <p:spPr>
          <a:xfrm>
            <a:off x="9429750" y="1085850"/>
            <a:ext cx="2286000" cy="457200"/>
          </a:xfrm>
          <a:prstGeom prst="roundRect">
            <a:avLst>
              <a:gd name="adj" fmla="val 16667"/>
            </a:avLst>
          </a:prstGeom>
          <a:solidFill>
            <a:srgbClr val="123967"/>
          </a:solidFill>
          <a:ln w="0">
            <a:solidFill>
              <a:srgbClr val="123967"/>
            </a:solidFill>
            <a:prstDash val="solid"/>
          </a:ln>
        </p:spPr>
        <p:txBody>
          <a:bodyPr wrap="none" lIns="57150" tIns="57150" rIns="57150" bIns="57150" anchor="ctr">
            <a:noAutofit/>
          </a:bodyPr>
          <a:lstStyle>
            <a:defPPr algn="ctr">
              <a:defRPr sz="1575" b="1">
                <a:solidFill>
                  <a:srgbClr val="FFFFFF"/>
                </a:solidFill>
                <a:latin typeface="Liberation Sans"/>
                <a:ea typeface="Liberation Sans"/>
                <a:cs typeface="Liberation Sans"/>
              </a:defRPr>
            </a:defPPr>
          </a:lstStyle>
          <a:p>
            <a:pPr algn="ctr">
              <a:defRPr sz="1575" b="1">
                <a:solidFill>
                  <a:srgbClr val="FFFFFF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575" b="1">
                <a:solidFill>
                  <a:srgbClr val="FFFFFF"/>
                </a:solidFill>
                <a:latin typeface="Liberation Sans"/>
                <a:ea typeface="Liberation Sans"/>
                <a:cs typeface="Liberation Sans"/>
                <a:hlinkClick r:id="rId4"/>
              </a:rPr>
              <a:t>Explorar no Manus ↗</a:t>
            </a:r>
          </a:p>
        </p:txBody>
      </p:sp>
    </p:spTree>
    <p:extLst>
      <p:ext uri="{BB962C8B-B14F-4D97-AF65-F5344CB8AC3E}">
        <p14:creationId xmlns:p14="http://schemas.microsoft.com/office/powerpoint/2010/main" val="38687645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"/>
          <p:cNvSpPr txBox="1"/>
          <p:nvPr/>
        </p:nvSpPr>
        <p:spPr>
          <a:xfrm>
            <a:off x="609600" y="419100"/>
            <a:ext cx="10972800" cy="6858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3450" b="1" i="0" dirty="0">
                <a:solidFill>
                  <a:srgbClr val="232322"/>
                </a:solidFill>
                <a:latin typeface="Liberation Sans"/>
                <a:ea typeface="Liberation Sans"/>
                <a:cs typeface="Liberation Sans"/>
              </a:rPr>
              <a:t>Agentes de trabalho na sua rotina</a:t>
            </a:r>
          </a:p>
        </p:txBody>
      </p:sp>
      <p:sp>
        <p:nvSpPr>
          <p:cNvPr id="3" name="Subtítulo"/>
          <p:cNvSpPr txBox="1"/>
          <p:nvPr/>
        </p:nvSpPr>
        <p:spPr>
          <a:xfrm>
            <a:off x="612648" y="1077420"/>
            <a:ext cx="10424160" cy="25917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750" b="0" i="0" dirty="0">
                <a:solidFill>
                  <a:srgbClr val="666660"/>
                </a:solidFill>
                <a:latin typeface="Liberation Sans"/>
                <a:ea typeface="Liberation Sans"/>
                <a:cs typeface="Liberation Sans"/>
              </a:rPr>
              <a:t>Você descreve o resultado; o agente planeja, executa e entrega para você conferir</a:t>
            </a:r>
          </a:p>
        </p:txBody>
      </p:sp>
      <p:sp>
        <p:nvSpPr>
          <p:cNvPr id="4" name="Cartão Claude Cowork"/>
          <p:cNvSpPr/>
          <p:nvPr/>
        </p:nvSpPr>
        <p:spPr>
          <a:xfrm>
            <a:off x="594360" y="1691640"/>
            <a:ext cx="3484869" cy="3977640"/>
          </a:xfrm>
          <a:prstGeom prst="rect">
            <a:avLst/>
          </a:prstGeom>
          <a:solidFill>
            <a:srgbClr val="FFFFFF"/>
          </a:solidFill>
          <a:ln w="8255">
            <a:solidFill>
              <a:srgbClr val="E2DED5"/>
            </a:solidFill>
          </a:ln>
        </p:spPr>
        <p:txBody>
          <a:bodyPr anchor="ctr"/>
          <a:lstStyle/>
          <a:p>
            <a:pPr algn="ctr">
              <a:buNone/>
            </a:pPr>
            <a:endParaRPr lang="pt-BR"/>
          </a:p>
        </p:txBody>
      </p:sp>
      <p:sp>
        <p:nvSpPr>
          <p:cNvPr id="5" name="Faixa Claude Cowork"/>
          <p:cNvSpPr/>
          <p:nvPr/>
        </p:nvSpPr>
        <p:spPr>
          <a:xfrm>
            <a:off x="594360" y="1691640"/>
            <a:ext cx="3484869" cy="32004"/>
          </a:xfrm>
          <a:prstGeom prst="rect">
            <a:avLst/>
          </a:prstGeom>
          <a:solidFill>
            <a:srgbClr val="D64826"/>
          </a:solidFill>
          <a:ln>
            <a:noFill/>
          </a:ln>
        </p:spPr>
        <p:txBody>
          <a:bodyPr anchor="ctr"/>
          <a:lstStyle/>
          <a:p>
            <a:pPr algn="ctr">
              <a:buNone/>
            </a:pPr>
            <a:endParaRPr lang="pt-BR"/>
          </a:p>
        </p:txBody>
      </p:sp>
      <p:sp>
        <p:nvSpPr>
          <p:cNvPr id="6" name="Claude Cowork">
            <a:hlinkClick r:id="rId3"/>
          </p:cNvPr>
          <p:cNvSpPr txBox="1"/>
          <p:nvPr/>
        </p:nvSpPr>
        <p:spPr>
          <a:xfrm>
            <a:off x="795528" y="1911096"/>
            <a:ext cx="3082533" cy="42062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200" b="1" i="0" dirty="0">
                <a:solidFill>
                  <a:srgbClr val="232322"/>
                </a:solidFill>
                <a:latin typeface="Liberation Sans"/>
                <a:ea typeface="Liberation Sans"/>
                <a:cs typeface="Liberation Sans"/>
              </a:rPr>
              <a:t>Claude Cowork</a:t>
            </a:r>
          </a:p>
        </p:txBody>
      </p:sp>
      <p:sp>
        <p:nvSpPr>
          <p:cNvPr id="7" name="Fabricante Claude Cowork"/>
          <p:cNvSpPr txBox="1"/>
          <p:nvPr/>
        </p:nvSpPr>
        <p:spPr>
          <a:xfrm>
            <a:off x="795528" y="2386584"/>
            <a:ext cx="3082533" cy="1828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000" b="1" i="0" dirty="0">
                <a:solidFill>
                  <a:srgbClr val="216476"/>
                </a:solidFill>
                <a:latin typeface="Liberation Sans"/>
                <a:ea typeface="Liberation Sans"/>
                <a:cs typeface="Liberation Sans"/>
              </a:rPr>
              <a:t>ANTHROPIC</a:t>
            </a:r>
          </a:p>
        </p:txBody>
      </p:sp>
      <p:cxnSp>
        <p:nvCxnSpPr>
          <p:cNvPr id="8" name="Divisor Claude Cowork"/>
          <p:cNvCxnSpPr/>
          <p:nvPr/>
        </p:nvCxnSpPr>
        <p:spPr>
          <a:xfrm>
            <a:off x="795528" y="2642616"/>
            <a:ext cx="3082533" cy="0"/>
          </a:xfrm>
          <a:prstGeom prst="line">
            <a:avLst/>
          </a:prstGeom>
          <a:ln w="9525">
            <a:solidFill>
              <a:srgbClr val="E2DED5"/>
            </a:solidFill>
          </a:ln>
        </p:spPr>
      </p:cxnSp>
      <p:sp>
        <p:nvSpPr>
          <p:cNvPr id="9" name="Descrição Claude Cowork"/>
          <p:cNvSpPr txBox="1"/>
          <p:nvPr/>
        </p:nvSpPr>
        <p:spPr>
          <a:xfrm>
            <a:off x="795528" y="2752344"/>
            <a:ext cx="3082533" cy="40284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400" b="0" i="0" dirty="0">
                <a:solidFill>
                  <a:srgbClr val="232322"/>
                </a:solidFill>
                <a:latin typeface="Liberation Sans"/>
                <a:ea typeface="Liberation Sans"/>
                <a:cs typeface="Liberation Sans"/>
              </a:rPr>
              <a:t>Usa suas pastas, e-mail e agenda,</a:t>
            </a:r>
          </a:p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400" b="0" i="0" dirty="0">
                <a:solidFill>
                  <a:srgbClr val="232322"/>
                </a:solidFill>
                <a:latin typeface="Liberation Sans"/>
                <a:ea typeface="Liberation Sans"/>
                <a:cs typeface="Liberation Sans"/>
              </a:rPr>
              <a:t>só com o acesso que você autorizar.</a:t>
            </a:r>
          </a:p>
        </p:txBody>
      </p:sp>
      <p:sp>
        <p:nvSpPr>
          <p:cNvPr id="10" name="Rótulo EXEMPLO DE PEDIDO Claude Cowork"/>
          <p:cNvSpPr txBox="1"/>
          <p:nvPr/>
        </p:nvSpPr>
        <p:spPr>
          <a:xfrm>
            <a:off x="795528" y="3365500"/>
            <a:ext cx="3082533" cy="17373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000" b="1" i="0" dirty="0">
                <a:solidFill>
                  <a:srgbClr val="D64826"/>
                </a:solidFill>
                <a:latin typeface="Liberation Sans"/>
                <a:ea typeface="Liberation Sans"/>
                <a:cs typeface="Liberation Sans"/>
              </a:rPr>
              <a:t>EXEMPLO DE PEDIDO</a:t>
            </a:r>
          </a:p>
        </p:txBody>
      </p:sp>
      <p:sp>
        <p:nvSpPr>
          <p:cNvPr id="11" name="Texto EXEMPLO DE PEDIDO Claude Cowork"/>
          <p:cNvSpPr txBox="1"/>
          <p:nvPr/>
        </p:nvSpPr>
        <p:spPr>
          <a:xfrm>
            <a:off x="795528" y="3548380"/>
            <a:ext cx="3082533" cy="37668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300" b="0" i="0" dirty="0">
                <a:solidFill>
                  <a:srgbClr val="232322"/>
                </a:solidFill>
                <a:latin typeface="Liberation Sans"/>
                <a:ea typeface="Liberation Sans"/>
                <a:cs typeface="Liberation Sans"/>
              </a:rPr>
              <a:t>“Use os recibos da pasta Viagem</a:t>
            </a:r>
          </a:p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300" b="0" i="0" dirty="0">
                <a:solidFill>
                  <a:srgbClr val="232322"/>
                </a:solidFill>
                <a:latin typeface="Liberation Sans"/>
                <a:ea typeface="Liberation Sans"/>
                <a:cs typeface="Liberation Sans"/>
              </a:rPr>
              <a:t>e monte o relatório de despesas.”</a:t>
            </a:r>
          </a:p>
        </p:txBody>
      </p:sp>
      <p:sp>
        <p:nvSpPr>
          <p:cNvPr id="12" name="Rótulo ONDE FUNCIONA Claude Cowork"/>
          <p:cNvSpPr txBox="1"/>
          <p:nvPr/>
        </p:nvSpPr>
        <p:spPr>
          <a:xfrm>
            <a:off x="795528" y="4135374"/>
            <a:ext cx="3082533" cy="17373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000" b="1" i="0" dirty="0">
                <a:solidFill>
                  <a:srgbClr val="D64826"/>
                </a:solidFill>
                <a:latin typeface="Liberation Sans"/>
                <a:ea typeface="Liberation Sans"/>
                <a:cs typeface="Liberation Sans"/>
              </a:rPr>
              <a:t>ONDE FUNCIONA</a:t>
            </a:r>
          </a:p>
        </p:txBody>
      </p:sp>
      <p:sp>
        <p:nvSpPr>
          <p:cNvPr id="13" name="Texto ONDE FUNCIONA Claude Cowork"/>
          <p:cNvSpPr txBox="1"/>
          <p:nvPr/>
        </p:nvSpPr>
        <p:spPr>
          <a:xfrm>
            <a:off x="795528" y="4318254"/>
            <a:ext cx="3082533" cy="37668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300" b="0" i="0" dirty="0">
                <a:solidFill>
                  <a:srgbClr val="232322"/>
                </a:solidFill>
                <a:latin typeface="Liberation Sans"/>
                <a:ea typeface="Liberation Sans"/>
                <a:cs typeface="Liberation Sans"/>
              </a:rPr>
              <a:t>App Claude no computador;</a:t>
            </a:r>
          </a:p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300" b="0" i="0" dirty="0">
                <a:solidFill>
                  <a:srgbClr val="232322"/>
                </a:solidFill>
                <a:latin typeface="Liberation Sans"/>
                <a:ea typeface="Liberation Sans"/>
                <a:cs typeface="Liberation Sans"/>
              </a:rPr>
              <a:t>web e celular conforme o plano</a:t>
            </a:r>
          </a:p>
        </p:txBody>
      </p:sp>
      <p:sp>
        <p:nvSpPr>
          <p:cNvPr id="14" name="Rótulo PARA USAR Claude Cowork"/>
          <p:cNvSpPr txBox="1"/>
          <p:nvPr/>
        </p:nvSpPr>
        <p:spPr>
          <a:xfrm>
            <a:off x="795528" y="4905248"/>
            <a:ext cx="3082533" cy="17373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000" b="1" i="0" dirty="0">
                <a:solidFill>
                  <a:srgbClr val="D64826"/>
                </a:solidFill>
                <a:latin typeface="Liberation Sans"/>
                <a:ea typeface="Liberation Sans"/>
                <a:cs typeface="Liberation Sans"/>
              </a:rPr>
              <a:t>PARA USAR</a:t>
            </a:r>
          </a:p>
        </p:txBody>
      </p:sp>
      <p:sp>
        <p:nvSpPr>
          <p:cNvPr id="15" name="Texto PARA USAR Claude Cowork"/>
          <p:cNvSpPr txBox="1"/>
          <p:nvPr/>
        </p:nvSpPr>
        <p:spPr>
          <a:xfrm>
            <a:off x="795528" y="5088128"/>
            <a:ext cx="3082533" cy="37668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300" b="0" i="0" dirty="0">
                <a:solidFill>
                  <a:srgbClr val="232322"/>
                </a:solidFill>
                <a:latin typeface="Liberation Sans"/>
                <a:ea typeface="Liberation Sans"/>
                <a:cs typeface="Liberation Sans"/>
              </a:rPr>
              <a:t>Plano pago do Claude</a:t>
            </a:r>
          </a:p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300" b="0" i="0" dirty="0">
                <a:solidFill>
                  <a:srgbClr val="232322"/>
                </a:solidFill>
                <a:latin typeface="Liberation Sans"/>
                <a:ea typeface="Liberation Sans"/>
                <a:cs typeface="Liberation Sans"/>
              </a:rPr>
              <a:t>(Pro, Max, Team ou Enterprise)</a:t>
            </a:r>
          </a:p>
        </p:txBody>
      </p:sp>
      <p:sp>
        <p:nvSpPr>
          <p:cNvPr id="16" name="Cartão ChatGPT Work"/>
          <p:cNvSpPr/>
          <p:nvPr/>
        </p:nvSpPr>
        <p:spPr>
          <a:xfrm>
            <a:off x="4353549" y="1691640"/>
            <a:ext cx="3484869" cy="3977640"/>
          </a:xfrm>
          <a:prstGeom prst="rect">
            <a:avLst/>
          </a:prstGeom>
          <a:solidFill>
            <a:srgbClr val="FFFFFF"/>
          </a:solidFill>
          <a:ln w="8255">
            <a:solidFill>
              <a:srgbClr val="E2DED5"/>
            </a:solidFill>
          </a:ln>
        </p:spPr>
        <p:txBody>
          <a:bodyPr anchor="ctr"/>
          <a:lstStyle/>
          <a:p>
            <a:pPr algn="ctr">
              <a:buNone/>
            </a:pPr>
            <a:endParaRPr lang="pt-BR"/>
          </a:p>
        </p:txBody>
      </p:sp>
      <p:sp>
        <p:nvSpPr>
          <p:cNvPr id="17" name="Faixa ChatGPT Work"/>
          <p:cNvSpPr/>
          <p:nvPr/>
        </p:nvSpPr>
        <p:spPr>
          <a:xfrm>
            <a:off x="4353549" y="1691640"/>
            <a:ext cx="3484869" cy="32004"/>
          </a:xfrm>
          <a:prstGeom prst="rect">
            <a:avLst/>
          </a:prstGeom>
          <a:solidFill>
            <a:srgbClr val="D64826"/>
          </a:solidFill>
          <a:ln>
            <a:noFill/>
          </a:ln>
        </p:spPr>
        <p:txBody>
          <a:bodyPr anchor="ctr"/>
          <a:lstStyle/>
          <a:p>
            <a:pPr algn="ctr">
              <a:buNone/>
            </a:pPr>
            <a:endParaRPr lang="pt-BR"/>
          </a:p>
        </p:txBody>
      </p:sp>
      <p:sp>
        <p:nvSpPr>
          <p:cNvPr id="18" name="ChatGPT Work">
            <a:hlinkClick r:id="rId4"/>
          </p:cNvPr>
          <p:cNvSpPr txBox="1"/>
          <p:nvPr/>
        </p:nvSpPr>
        <p:spPr>
          <a:xfrm>
            <a:off x="4554717" y="1911096"/>
            <a:ext cx="3082533" cy="42062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200" b="1" i="0" dirty="0">
                <a:solidFill>
                  <a:srgbClr val="232322"/>
                </a:solidFill>
                <a:latin typeface="Liberation Sans"/>
                <a:ea typeface="Liberation Sans"/>
                <a:cs typeface="Liberation Sans"/>
              </a:rPr>
              <a:t>ChatGPT Work</a:t>
            </a:r>
          </a:p>
        </p:txBody>
      </p:sp>
      <p:sp>
        <p:nvSpPr>
          <p:cNvPr id="19" name="Fabricante ChatGPT Work"/>
          <p:cNvSpPr txBox="1"/>
          <p:nvPr/>
        </p:nvSpPr>
        <p:spPr>
          <a:xfrm>
            <a:off x="4554717" y="2386584"/>
            <a:ext cx="3082533" cy="1828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000" b="1" i="0" dirty="0">
                <a:solidFill>
                  <a:srgbClr val="216476"/>
                </a:solidFill>
                <a:latin typeface="Liberation Sans"/>
                <a:ea typeface="Liberation Sans"/>
                <a:cs typeface="Liberation Sans"/>
              </a:rPr>
              <a:t>OPENAI</a:t>
            </a:r>
          </a:p>
        </p:txBody>
      </p:sp>
      <p:cxnSp>
        <p:nvCxnSpPr>
          <p:cNvPr id="20" name="Divisor ChatGPT Work"/>
          <p:cNvCxnSpPr/>
          <p:nvPr/>
        </p:nvCxnSpPr>
        <p:spPr>
          <a:xfrm>
            <a:off x="4554717" y="2642616"/>
            <a:ext cx="3082533" cy="0"/>
          </a:xfrm>
          <a:prstGeom prst="line">
            <a:avLst/>
          </a:prstGeom>
          <a:ln w="9525">
            <a:solidFill>
              <a:srgbClr val="E2DED5"/>
            </a:solidFill>
          </a:ln>
        </p:spPr>
      </p:cxnSp>
      <p:sp>
        <p:nvSpPr>
          <p:cNvPr id="21" name="Descrição ChatGPT Work"/>
          <p:cNvSpPr txBox="1"/>
          <p:nvPr/>
        </p:nvSpPr>
        <p:spPr>
          <a:xfrm>
            <a:off x="4554717" y="2752344"/>
            <a:ext cx="3082533" cy="40284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400" b="0" i="0" dirty="0">
                <a:solidFill>
                  <a:srgbClr val="232322"/>
                </a:solidFill>
                <a:latin typeface="Liberation Sans"/>
                <a:ea typeface="Liberation Sans"/>
                <a:cs typeface="Liberation Sans"/>
              </a:rPr>
              <a:t>Usa e-mail, agenda e documentos</a:t>
            </a:r>
          </a:p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400" b="0" i="0" dirty="0">
                <a:solidFill>
                  <a:srgbClr val="232322"/>
                </a:solidFill>
                <a:latin typeface="Liberation Sans"/>
                <a:ea typeface="Liberation Sans"/>
                <a:cs typeface="Liberation Sans"/>
              </a:rPr>
              <a:t>dos apps que você conectar.</a:t>
            </a:r>
          </a:p>
        </p:txBody>
      </p:sp>
      <p:sp>
        <p:nvSpPr>
          <p:cNvPr id="22" name="Rótulo EXEMPLO DE PEDIDO ChatGPT Work"/>
          <p:cNvSpPr txBox="1"/>
          <p:nvPr/>
        </p:nvSpPr>
        <p:spPr>
          <a:xfrm>
            <a:off x="4554717" y="3365500"/>
            <a:ext cx="3082533" cy="17373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000" b="1" i="0" dirty="0">
                <a:solidFill>
                  <a:srgbClr val="D64826"/>
                </a:solidFill>
                <a:latin typeface="Liberation Sans"/>
                <a:ea typeface="Liberation Sans"/>
                <a:cs typeface="Liberation Sans"/>
              </a:rPr>
              <a:t>EXEMPLO DE PEDIDO</a:t>
            </a:r>
          </a:p>
        </p:txBody>
      </p:sp>
      <p:sp>
        <p:nvSpPr>
          <p:cNvPr id="23" name="Texto EXEMPLO DE PEDIDO ChatGPT Work"/>
          <p:cNvSpPr txBox="1"/>
          <p:nvPr/>
        </p:nvSpPr>
        <p:spPr>
          <a:xfrm>
            <a:off x="4554717" y="3548380"/>
            <a:ext cx="3082533" cy="37668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300" b="0" i="0" dirty="0">
                <a:solidFill>
                  <a:srgbClr val="232322"/>
                </a:solidFill>
                <a:latin typeface="Liberation Sans"/>
                <a:ea typeface="Liberation Sans"/>
                <a:cs typeface="Liberation Sans"/>
              </a:rPr>
              <a:t>“Resuma os e-mails a responder,</a:t>
            </a:r>
          </a:p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300" b="0" i="0" dirty="0">
                <a:solidFill>
                  <a:srgbClr val="232322"/>
                </a:solidFill>
                <a:latin typeface="Liberation Sans"/>
                <a:ea typeface="Liberation Sans"/>
                <a:cs typeface="Liberation Sans"/>
              </a:rPr>
              <a:t>redija respostas e deixe sem enviar.”</a:t>
            </a:r>
          </a:p>
        </p:txBody>
      </p:sp>
      <p:sp>
        <p:nvSpPr>
          <p:cNvPr id="24" name="Rótulo ONDE FUNCIONA ChatGPT Work"/>
          <p:cNvSpPr txBox="1"/>
          <p:nvPr/>
        </p:nvSpPr>
        <p:spPr>
          <a:xfrm>
            <a:off x="4554717" y="4135374"/>
            <a:ext cx="3082533" cy="17373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000" b="1" i="0" dirty="0">
                <a:solidFill>
                  <a:srgbClr val="D64826"/>
                </a:solidFill>
                <a:latin typeface="Liberation Sans"/>
                <a:ea typeface="Liberation Sans"/>
                <a:cs typeface="Liberation Sans"/>
              </a:rPr>
              <a:t>ONDE FUNCIONA</a:t>
            </a:r>
          </a:p>
        </p:txBody>
      </p:sp>
      <p:sp>
        <p:nvSpPr>
          <p:cNvPr id="25" name="Texto ONDE FUNCIONA ChatGPT Work"/>
          <p:cNvSpPr txBox="1"/>
          <p:nvPr/>
        </p:nvSpPr>
        <p:spPr>
          <a:xfrm>
            <a:off x="4554717" y="4318254"/>
            <a:ext cx="3082533" cy="37668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300" b="0" i="0" dirty="0">
                <a:solidFill>
                  <a:srgbClr val="232322"/>
                </a:solidFill>
                <a:latin typeface="Liberation Sans"/>
                <a:ea typeface="Liberation Sans"/>
                <a:cs typeface="Liberation Sans"/>
              </a:rPr>
              <a:t>No ChatGPT, opção Work:</a:t>
            </a:r>
          </a:p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300" b="0" i="0" dirty="0">
                <a:solidFill>
                  <a:srgbClr val="232322"/>
                </a:solidFill>
                <a:latin typeface="Liberation Sans"/>
                <a:ea typeface="Liberation Sans"/>
                <a:cs typeface="Liberation Sans"/>
              </a:rPr>
              <a:t>computador, web e celular</a:t>
            </a:r>
          </a:p>
        </p:txBody>
      </p:sp>
      <p:sp>
        <p:nvSpPr>
          <p:cNvPr id="26" name="Rótulo PARA USAR ChatGPT Work"/>
          <p:cNvSpPr txBox="1"/>
          <p:nvPr/>
        </p:nvSpPr>
        <p:spPr>
          <a:xfrm>
            <a:off x="4554717" y="4905248"/>
            <a:ext cx="3082533" cy="17373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000" b="1" i="0" dirty="0">
                <a:solidFill>
                  <a:srgbClr val="D64826"/>
                </a:solidFill>
                <a:latin typeface="Liberation Sans"/>
                <a:ea typeface="Liberation Sans"/>
                <a:cs typeface="Liberation Sans"/>
              </a:rPr>
              <a:t>PARA USAR</a:t>
            </a:r>
          </a:p>
        </p:txBody>
      </p:sp>
      <p:sp>
        <p:nvSpPr>
          <p:cNvPr id="27" name="Texto PARA USAR ChatGPT Work"/>
          <p:cNvSpPr txBox="1"/>
          <p:nvPr/>
        </p:nvSpPr>
        <p:spPr>
          <a:xfrm>
            <a:off x="4554717" y="5088128"/>
            <a:ext cx="3082533" cy="37668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300" b="0" i="0" dirty="0">
                <a:solidFill>
                  <a:srgbClr val="232322"/>
                </a:solidFill>
                <a:latin typeface="Liberation Sans"/>
                <a:ea typeface="Liberation Sans"/>
                <a:cs typeface="Liberation Sans"/>
              </a:rPr>
              <a:t>Todos os planos; no Free e no Go,</a:t>
            </a:r>
          </a:p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300" b="0" i="0" dirty="0">
                <a:solidFill>
                  <a:srgbClr val="232322"/>
                </a:solidFill>
                <a:latin typeface="Liberation Sans"/>
                <a:ea typeface="Liberation Sans"/>
                <a:cs typeface="Liberation Sans"/>
              </a:rPr>
              <a:t>uso limitado, só no app de computador</a:t>
            </a:r>
          </a:p>
        </p:txBody>
      </p:sp>
      <p:sp>
        <p:nvSpPr>
          <p:cNvPr id="28" name="Cartão Copilot Cowork"/>
          <p:cNvSpPr/>
          <p:nvPr/>
        </p:nvSpPr>
        <p:spPr>
          <a:xfrm>
            <a:off x="8112738" y="1691640"/>
            <a:ext cx="3484869" cy="3977640"/>
          </a:xfrm>
          <a:prstGeom prst="rect">
            <a:avLst/>
          </a:prstGeom>
          <a:solidFill>
            <a:srgbClr val="FFFFFF"/>
          </a:solidFill>
          <a:ln w="8255">
            <a:solidFill>
              <a:srgbClr val="E2DED5"/>
            </a:solidFill>
          </a:ln>
        </p:spPr>
        <p:txBody>
          <a:bodyPr anchor="ctr"/>
          <a:lstStyle/>
          <a:p>
            <a:pPr algn="ctr">
              <a:buNone/>
            </a:pPr>
            <a:endParaRPr lang="pt-BR"/>
          </a:p>
        </p:txBody>
      </p:sp>
      <p:sp>
        <p:nvSpPr>
          <p:cNvPr id="29" name="Faixa Copilot Cowork"/>
          <p:cNvSpPr/>
          <p:nvPr/>
        </p:nvSpPr>
        <p:spPr>
          <a:xfrm>
            <a:off x="8112738" y="1691640"/>
            <a:ext cx="3484869" cy="32004"/>
          </a:xfrm>
          <a:prstGeom prst="rect">
            <a:avLst/>
          </a:prstGeom>
          <a:solidFill>
            <a:srgbClr val="D64826"/>
          </a:solidFill>
          <a:ln>
            <a:noFill/>
          </a:ln>
        </p:spPr>
        <p:txBody>
          <a:bodyPr anchor="ctr"/>
          <a:lstStyle/>
          <a:p>
            <a:pPr algn="ctr">
              <a:buNone/>
            </a:pPr>
            <a:endParaRPr lang="pt-BR"/>
          </a:p>
        </p:txBody>
      </p:sp>
      <p:sp>
        <p:nvSpPr>
          <p:cNvPr id="30" name="Copilot Cowork">
            <a:hlinkClick r:id="rId5"/>
          </p:cNvPr>
          <p:cNvSpPr txBox="1"/>
          <p:nvPr/>
        </p:nvSpPr>
        <p:spPr>
          <a:xfrm>
            <a:off x="8313906" y="1911096"/>
            <a:ext cx="3082533" cy="42062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200" b="1" i="0" dirty="0">
                <a:solidFill>
                  <a:srgbClr val="232322"/>
                </a:solidFill>
                <a:latin typeface="Liberation Sans"/>
                <a:ea typeface="Liberation Sans"/>
                <a:cs typeface="Liberation Sans"/>
              </a:rPr>
              <a:t>Copilot Cowork</a:t>
            </a:r>
          </a:p>
        </p:txBody>
      </p:sp>
      <p:sp>
        <p:nvSpPr>
          <p:cNvPr id="31" name="Fabricante Copilot Cowork"/>
          <p:cNvSpPr txBox="1"/>
          <p:nvPr/>
        </p:nvSpPr>
        <p:spPr>
          <a:xfrm>
            <a:off x="8313906" y="2386584"/>
            <a:ext cx="3082533" cy="1828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000" b="1" i="0" dirty="0">
                <a:solidFill>
                  <a:srgbClr val="216476"/>
                </a:solidFill>
                <a:latin typeface="Liberation Sans"/>
                <a:ea typeface="Liberation Sans"/>
                <a:cs typeface="Liberation Sans"/>
              </a:rPr>
              <a:t>MICROSOFT</a:t>
            </a:r>
          </a:p>
        </p:txBody>
      </p:sp>
      <p:cxnSp>
        <p:nvCxnSpPr>
          <p:cNvPr id="32" name="Divisor Copilot Cowork"/>
          <p:cNvCxnSpPr/>
          <p:nvPr/>
        </p:nvCxnSpPr>
        <p:spPr>
          <a:xfrm>
            <a:off x="8313906" y="2642616"/>
            <a:ext cx="3082533" cy="0"/>
          </a:xfrm>
          <a:prstGeom prst="line">
            <a:avLst/>
          </a:prstGeom>
          <a:ln w="9525">
            <a:solidFill>
              <a:srgbClr val="E2DED5"/>
            </a:solidFill>
          </a:ln>
        </p:spPr>
      </p:cxnSp>
      <p:sp>
        <p:nvSpPr>
          <p:cNvPr id="33" name="Descrição Copilot Cowork"/>
          <p:cNvSpPr txBox="1"/>
          <p:nvPr/>
        </p:nvSpPr>
        <p:spPr>
          <a:xfrm>
            <a:off x="8313906" y="2752344"/>
            <a:ext cx="3082533" cy="40284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400" b="0" i="0" dirty="0">
                <a:solidFill>
                  <a:srgbClr val="232322"/>
                </a:solidFill>
                <a:latin typeface="Liberation Sans"/>
                <a:ea typeface="Liberation Sans"/>
                <a:cs typeface="Liberation Sans"/>
              </a:rPr>
              <a:t>Trabalha em segundo plano</a:t>
            </a:r>
          </a:p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400" b="0" i="0" dirty="0">
                <a:solidFill>
                  <a:srgbClr val="232322"/>
                </a:solidFill>
                <a:latin typeface="Liberation Sans"/>
                <a:ea typeface="Liberation Sans"/>
                <a:cs typeface="Liberation Sans"/>
              </a:rPr>
              <a:t>no Microsoft 365 da sua empresa.</a:t>
            </a:r>
          </a:p>
        </p:txBody>
      </p:sp>
      <p:sp>
        <p:nvSpPr>
          <p:cNvPr id="34" name="Rótulo EXEMPLO DE PEDIDO Copilot Cowork"/>
          <p:cNvSpPr txBox="1"/>
          <p:nvPr/>
        </p:nvSpPr>
        <p:spPr>
          <a:xfrm>
            <a:off x="8313906" y="3365500"/>
            <a:ext cx="3082533" cy="17373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000" b="1" i="0" dirty="0">
                <a:solidFill>
                  <a:srgbClr val="D64826"/>
                </a:solidFill>
                <a:latin typeface="Liberation Sans"/>
                <a:ea typeface="Liberation Sans"/>
                <a:cs typeface="Liberation Sans"/>
              </a:rPr>
              <a:t>EXEMPLO DE PEDIDO</a:t>
            </a:r>
          </a:p>
        </p:txBody>
      </p:sp>
      <p:sp>
        <p:nvSpPr>
          <p:cNvPr id="35" name="Texto EXEMPLO DE PEDIDO Copilot Cowork"/>
          <p:cNvSpPr txBox="1"/>
          <p:nvPr/>
        </p:nvSpPr>
        <p:spPr>
          <a:xfrm>
            <a:off x="8313906" y="3548380"/>
            <a:ext cx="3082533" cy="37668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300" b="0" i="0" dirty="0">
                <a:solidFill>
                  <a:srgbClr val="232322"/>
                </a:solidFill>
                <a:latin typeface="Liberation Sans"/>
                <a:ea typeface="Liberation Sans"/>
                <a:cs typeface="Liberation Sans"/>
              </a:rPr>
              <a:t>“Proponha como resolver os conflitos</a:t>
            </a:r>
          </a:p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300" b="0" i="0" dirty="0">
                <a:solidFill>
                  <a:srgbClr val="232322"/>
                </a:solidFill>
                <a:latin typeface="Liberation Sans"/>
                <a:ea typeface="Liberation Sans"/>
                <a:cs typeface="Liberation Sans"/>
              </a:rPr>
              <a:t>da agenda e prepare o briefing do dia.”</a:t>
            </a:r>
          </a:p>
        </p:txBody>
      </p:sp>
      <p:sp>
        <p:nvSpPr>
          <p:cNvPr id="36" name="Rótulo ONDE FUNCIONA Copilot Cowork"/>
          <p:cNvSpPr txBox="1"/>
          <p:nvPr/>
        </p:nvSpPr>
        <p:spPr>
          <a:xfrm>
            <a:off x="8313906" y="4135374"/>
            <a:ext cx="3082533" cy="17373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000" b="1" i="0" dirty="0">
                <a:solidFill>
                  <a:srgbClr val="D64826"/>
                </a:solidFill>
                <a:latin typeface="Liberation Sans"/>
                <a:ea typeface="Liberation Sans"/>
                <a:cs typeface="Liberation Sans"/>
              </a:rPr>
              <a:t>ONDE FUNCIONA</a:t>
            </a:r>
          </a:p>
        </p:txBody>
      </p:sp>
      <p:sp>
        <p:nvSpPr>
          <p:cNvPr id="37" name="Texto ONDE FUNCIONA Copilot Cowork"/>
          <p:cNvSpPr txBox="1"/>
          <p:nvPr/>
        </p:nvSpPr>
        <p:spPr>
          <a:xfrm>
            <a:off x="8313906" y="4318254"/>
            <a:ext cx="3082533" cy="37668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300" b="0" i="0" dirty="0">
                <a:solidFill>
                  <a:srgbClr val="232322"/>
                </a:solidFill>
                <a:latin typeface="Liberation Sans"/>
                <a:ea typeface="Liberation Sans"/>
                <a:cs typeface="Liberation Sans"/>
              </a:rPr>
              <a:t>No Copilot da empresa: navegador,</a:t>
            </a:r>
          </a:p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300" b="0" i="0" dirty="0">
                <a:solidFill>
                  <a:srgbClr val="232322"/>
                </a:solidFill>
                <a:latin typeface="Liberation Sans"/>
                <a:ea typeface="Liberation Sans"/>
                <a:cs typeface="Liberation Sans"/>
              </a:rPr>
              <a:t>app no computador e celular</a:t>
            </a:r>
          </a:p>
        </p:txBody>
      </p:sp>
      <p:sp>
        <p:nvSpPr>
          <p:cNvPr id="38" name="Rótulo PARA USAR Copilot Cowork"/>
          <p:cNvSpPr txBox="1"/>
          <p:nvPr/>
        </p:nvSpPr>
        <p:spPr>
          <a:xfrm>
            <a:off x="8313906" y="4905248"/>
            <a:ext cx="3082533" cy="17373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000" b="1" i="0" dirty="0">
                <a:solidFill>
                  <a:srgbClr val="D64826"/>
                </a:solidFill>
                <a:latin typeface="Liberation Sans"/>
                <a:ea typeface="Liberation Sans"/>
                <a:cs typeface="Liberation Sans"/>
              </a:rPr>
              <a:t>PARA USAR</a:t>
            </a:r>
          </a:p>
        </p:txBody>
      </p:sp>
      <p:sp>
        <p:nvSpPr>
          <p:cNvPr id="39" name="Texto PARA USAR Copilot Cowork"/>
          <p:cNvSpPr txBox="1"/>
          <p:nvPr/>
        </p:nvSpPr>
        <p:spPr>
          <a:xfrm>
            <a:off x="8313906" y="5088128"/>
            <a:ext cx="3082533" cy="37668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300" b="0" i="0" dirty="0">
                <a:solidFill>
                  <a:srgbClr val="232322"/>
                </a:solidFill>
                <a:latin typeface="Liberation Sans"/>
                <a:ea typeface="Liberation Sans"/>
                <a:cs typeface="Liberation Sans"/>
              </a:rPr>
              <a:t>Licença Microsoft 365 Copilot,</a:t>
            </a:r>
          </a:p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300" b="0" i="0" dirty="0">
                <a:solidFill>
                  <a:srgbClr val="232322"/>
                </a:solidFill>
                <a:latin typeface="Liberation Sans"/>
                <a:ea typeface="Liberation Sans"/>
                <a:cs typeface="Liberation Sans"/>
              </a:rPr>
              <a:t>mais custo por uso e liberação da TI</a:t>
            </a:r>
          </a:p>
        </p:txBody>
      </p:sp>
      <p:sp>
        <p:nvSpPr>
          <p:cNvPr id="40" name="Faixa da mensagem"/>
          <p:cNvSpPr/>
          <p:nvPr/>
        </p:nvSpPr>
        <p:spPr>
          <a:xfrm>
            <a:off x="594360" y="5879592"/>
            <a:ext cx="11003249" cy="393192"/>
          </a:xfrm>
          <a:prstGeom prst="rect">
            <a:avLst/>
          </a:prstGeom>
          <a:solidFill>
            <a:srgbClr val="F0ECE4"/>
          </a:solidFill>
          <a:ln>
            <a:noFill/>
          </a:ln>
        </p:spPr>
        <p:txBody>
          <a:bodyPr anchor="ctr"/>
          <a:lstStyle/>
          <a:p>
            <a:pPr algn="ctr">
              <a:buNone/>
            </a:pPr>
            <a:endParaRPr lang="pt-BR"/>
          </a:p>
        </p:txBody>
      </p:sp>
      <p:sp>
        <p:nvSpPr>
          <p:cNvPr id="41" name="Marca da mensagem"/>
          <p:cNvSpPr/>
          <p:nvPr/>
        </p:nvSpPr>
        <p:spPr>
          <a:xfrm>
            <a:off x="594360" y="5879592"/>
            <a:ext cx="32004" cy="393192"/>
          </a:xfrm>
          <a:prstGeom prst="rect">
            <a:avLst/>
          </a:prstGeom>
          <a:solidFill>
            <a:srgbClr val="D64826"/>
          </a:solidFill>
          <a:ln>
            <a:noFill/>
          </a:ln>
        </p:spPr>
        <p:txBody>
          <a:bodyPr anchor="ctr"/>
          <a:lstStyle/>
          <a:p>
            <a:pPr algn="ctr">
              <a:buNone/>
            </a:pPr>
            <a:endParaRPr lang="pt-BR"/>
          </a:p>
        </p:txBody>
      </p:sp>
      <p:sp>
        <p:nvSpPr>
          <p:cNvPr id="42" name="Mensagem"/>
          <p:cNvSpPr txBox="1"/>
          <p:nvPr/>
        </p:nvSpPr>
        <p:spPr>
          <a:xfrm>
            <a:off x="758952" y="5911596"/>
            <a:ext cx="10643616" cy="32918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750" b="1" i="0" dirty="0">
                <a:solidFill>
                  <a:srgbClr val="232322"/>
                </a:solidFill>
                <a:latin typeface="Liberation Sans"/>
                <a:ea typeface="Liberation Sans"/>
                <a:cs typeface="Liberation Sans"/>
              </a:rPr>
              <a:t>Comece com rascunhos: o agente prepara, você aprova cada envio.</a:t>
            </a:r>
          </a:p>
        </p:txBody>
      </p:sp>
      <p:sp>
        <p:nvSpPr>
          <p:cNvPr id="43" name="Número do slide"/>
          <p:cNvSpPr txBox="1"/>
          <p:nvPr/>
        </p:nvSpPr>
        <p:spPr>
          <a:xfrm>
            <a:off x="11258550" y="6515100"/>
            <a:ext cx="333375" cy="1905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r">
              <a:buNone/>
            </a:pPr>
            <a:r>
              <a:rPr lang="pt-BR" sz="1050" b="0" i="0" dirty="0">
                <a:solidFill>
                  <a:srgbClr val="8A8882"/>
                </a:solidFill>
                <a:latin typeface="Liberation Sans"/>
                <a:ea typeface="Liberation Sans"/>
                <a:cs typeface="Liberation Sans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222403F-9AEA-44FA-BB31-C9984904084A}"/>
              </a:ext>
            </a:extLst>
          </p:cNvPr>
          <p:cNvSpPr>
            <a:spLocks noGrp="1"/>
          </p:cNvSpPr>
          <p:nvPr/>
        </p:nvSpPr>
        <p:spPr>
          <a:xfrm>
            <a:off x="609600" y="419100"/>
            <a:ext cx="10972800" cy="6858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0"/>
              </a:spcAft>
              <a:buNone/>
              <a:defRPr sz="3450" b="1">
                <a:solidFill>
                  <a:srgbClr val="232322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3450" b="1" dirty="0">
                <a:solidFill>
                  <a:srgbClr val="232322"/>
                </a:solidFill>
                <a:latin typeface="Liberation Sans"/>
                <a:ea typeface="Liberation Sans"/>
                <a:cs typeface="Liberation Sans"/>
              </a:rPr>
              <a:t>Assistentes </a:t>
            </a:r>
            <a:r>
              <a:rPr lang="en-US" sz="3450" b="1" dirty="0">
                <a:solidFill>
                  <a:srgbClr val="232322"/>
                </a:solidFill>
                <a:latin typeface="Liberation Sans"/>
                <a:ea typeface="Liberation Sans"/>
                <a:cs typeface="Liberation Sans"/>
              </a:rPr>
              <a:t>d</a:t>
            </a:r>
            <a:r>
              <a:rPr sz="3450" b="1" dirty="0">
                <a:solidFill>
                  <a:srgbClr val="232322"/>
                </a:solidFill>
                <a:latin typeface="Liberation Sans"/>
                <a:ea typeface="Liberation Sans"/>
                <a:cs typeface="Liberation Sans"/>
              </a:rPr>
              <a:t>e IA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DEAE39B-4937-4A94-B962-3CFD93B88455}"/>
              </a:ext>
            </a:extLst>
          </p:cNvPr>
          <p:cNvSpPr>
            <a:spLocks noGrp="1"/>
          </p:cNvSpPr>
          <p:nvPr/>
        </p:nvSpPr>
        <p:spPr>
          <a:xfrm>
            <a:off x="612648" y="1077420"/>
            <a:ext cx="10424160" cy="25917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750" b="0">
                <a:solidFill>
                  <a:srgbClr val="666660"/>
                </a:solidFill>
                <a:latin typeface="Liberation Sans"/>
                <a:ea typeface="Liberation Sans"/>
                <a:cs typeface="Liberation Sans"/>
              </a:rPr>
              <a:t>Da conversa à execução de tarefas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A9EC84E-5F7F-4622-83E4-3455CF0122F6}"/>
              </a:ext>
            </a:extLst>
          </p:cNvPr>
          <p:cNvSpPr>
            <a:spLocks noGrp="1"/>
          </p:cNvSpPr>
          <p:nvPr/>
        </p:nvSpPr>
        <p:spPr>
          <a:xfrm>
            <a:off x="594360" y="1691640"/>
            <a:ext cx="2076297" cy="1892807"/>
          </a:xfrm>
          <a:prstGeom prst="rect">
            <a:avLst/>
          </a:prstGeom>
          <a:solidFill>
            <a:srgbClr val="FFFFFF"/>
          </a:solidFill>
          <a:ln w="8255">
            <a:solidFill>
              <a:srgbClr val="E2DED5"/>
            </a:solidFill>
          </a:ln>
        </p:spPr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A224690-BA08-48F8-8DEA-0D28214E6F4F}"/>
              </a:ext>
            </a:extLst>
          </p:cNvPr>
          <p:cNvSpPr>
            <a:spLocks noGrp="1"/>
          </p:cNvSpPr>
          <p:nvPr/>
        </p:nvSpPr>
        <p:spPr>
          <a:xfrm>
            <a:off x="594360" y="1691640"/>
            <a:ext cx="2076297" cy="32004"/>
          </a:xfrm>
          <a:prstGeom prst="rect">
            <a:avLst/>
          </a:prstGeom>
          <a:solidFill>
            <a:srgbClr val="D64826"/>
          </a:solidFill>
          <a:ln>
            <a:noFill/>
          </a:ln>
        </p:spPr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7" name="TextBox 6">
            <a:hlinkClick r:id="rId3"/>
            <a:extLst>
              <a:ext uri="{FF2B5EF4-FFF2-40B4-BE49-F238E27FC236}">
                <a16:creationId xmlns:a16="http://schemas.microsoft.com/office/drawing/2014/main" id="{4F2D8DA6-06E8-4661-88E0-E006CEEB1530}"/>
              </a:ext>
            </a:extLst>
          </p:cNvPr>
          <p:cNvSpPr>
            <a:spLocks noGrp="1"/>
          </p:cNvSpPr>
          <p:nvPr/>
        </p:nvSpPr>
        <p:spPr>
          <a:xfrm>
            <a:off x="879319" y="2014929"/>
            <a:ext cx="1856841" cy="34060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3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300" b="1">
                <a:solidFill>
                  <a:srgbClr val="232322"/>
                </a:solidFill>
                <a:latin typeface="Liberation Sans"/>
                <a:ea typeface="Liberation Sans"/>
                <a:cs typeface="Liberation Sans"/>
              </a:rPr>
              <a:t>OpenClaw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F8D2B5E-87E5-4B93-8A5F-7918F6D3B808}"/>
              </a:ext>
            </a:extLst>
          </p:cNvPr>
          <p:cNvSpPr>
            <a:spLocks noGrp="1"/>
          </p:cNvSpPr>
          <p:nvPr/>
        </p:nvSpPr>
        <p:spPr>
          <a:xfrm>
            <a:off x="704088" y="2569464"/>
            <a:ext cx="1856841" cy="1828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3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19" b="1">
                <a:solidFill>
                  <a:srgbClr val="216476"/>
                </a:solidFill>
                <a:latin typeface="Liberation Sans"/>
                <a:ea typeface="Liberation Sans"/>
                <a:cs typeface="Liberation Sans"/>
              </a:rPr>
              <a:t>PROJETO OPEN SOURCE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F10F62A-009D-4713-A09A-06EB7C1067B3}"/>
              </a:ext>
            </a:extLst>
          </p:cNvPr>
          <p:cNvSpPr>
            <a:spLocks noGrp="1"/>
          </p:cNvSpPr>
          <p:nvPr/>
        </p:nvSpPr>
        <p:spPr>
          <a:xfrm>
            <a:off x="704088" y="2825496"/>
            <a:ext cx="1856841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3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00" b="0">
                <a:solidFill>
                  <a:srgbClr val="232322"/>
                </a:solidFill>
                <a:latin typeface="Liberation Sans"/>
                <a:ea typeface="Liberation Sans"/>
                <a:cs typeface="Liberation Sans"/>
              </a:rPr>
              <a:t>Infraestrutura própria</a:t>
            </a:r>
          </a:p>
          <a:p>
            <a:pPr algn="ctr">
              <a:lnSpc>
                <a:spcPct val="103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00" b="0">
                <a:solidFill>
                  <a:srgbClr val="232322"/>
                </a:solidFill>
                <a:latin typeface="Liberation Sans"/>
                <a:ea typeface="Liberation Sans"/>
                <a:cs typeface="Liberation Sans"/>
              </a:rPr>
              <a:t>e atuação por canais</a:t>
            </a:r>
          </a:p>
          <a:p>
            <a:pPr algn="ctr">
              <a:lnSpc>
                <a:spcPct val="103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00" b="0">
                <a:solidFill>
                  <a:srgbClr val="232322"/>
                </a:solidFill>
                <a:latin typeface="Liberation Sans"/>
                <a:ea typeface="Liberation Sans"/>
                <a:cs typeface="Liberation Sans"/>
              </a:rPr>
              <a:t>de mensagens.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5BBE3D3-D489-457D-8C2A-727A3515D883}"/>
              </a:ext>
            </a:extLst>
          </p:cNvPr>
          <p:cNvSpPr>
            <a:spLocks noGrp="1"/>
          </p:cNvSpPr>
          <p:nvPr/>
        </p:nvSpPr>
        <p:spPr>
          <a:xfrm>
            <a:off x="2826105" y="1691640"/>
            <a:ext cx="2076297" cy="1892807"/>
          </a:xfrm>
          <a:prstGeom prst="rect">
            <a:avLst/>
          </a:prstGeom>
          <a:solidFill>
            <a:srgbClr val="FFFFFF"/>
          </a:solidFill>
          <a:ln w="8255">
            <a:solidFill>
              <a:srgbClr val="E2DED5"/>
            </a:solidFill>
          </a:ln>
        </p:spPr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515CBBD2-8A9A-495D-BC29-9D1B60B3DC76}"/>
              </a:ext>
            </a:extLst>
          </p:cNvPr>
          <p:cNvSpPr>
            <a:spLocks noGrp="1"/>
          </p:cNvSpPr>
          <p:nvPr/>
        </p:nvSpPr>
        <p:spPr>
          <a:xfrm>
            <a:off x="2826105" y="1691640"/>
            <a:ext cx="2076297" cy="32004"/>
          </a:xfrm>
          <a:prstGeom prst="rect">
            <a:avLst/>
          </a:prstGeom>
          <a:solidFill>
            <a:srgbClr val="D64826"/>
          </a:solidFill>
          <a:ln>
            <a:noFill/>
          </a:ln>
        </p:spPr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2" name="TextBox 11">
            <a:hlinkClick r:id="rId4"/>
            <a:extLst>
              <a:ext uri="{FF2B5EF4-FFF2-40B4-BE49-F238E27FC236}">
                <a16:creationId xmlns:a16="http://schemas.microsoft.com/office/drawing/2014/main" id="{DFD31770-B3EF-4FB6-B912-9158C4AC88B8}"/>
              </a:ext>
            </a:extLst>
          </p:cNvPr>
          <p:cNvSpPr>
            <a:spLocks noGrp="1"/>
          </p:cNvSpPr>
          <p:nvPr/>
        </p:nvSpPr>
        <p:spPr>
          <a:xfrm>
            <a:off x="3042125" y="2060972"/>
            <a:ext cx="2001042" cy="28135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3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900" b="1">
                <a:solidFill>
                  <a:srgbClr val="232322"/>
                </a:solidFill>
                <a:latin typeface="Liberation Sans"/>
                <a:ea typeface="Liberation Sans"/>
                <a:cs typeface="Liberation Sans"/>
              </a:rPr>
              <a:t>Hermes Agent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FB3E042-1820-4065-BEEC-7FB8A0501891}"/>
              </a:ext>
            </a:extLst>
          </p:cNvPr>
          <p:cNvSpPr>
            <a:spLocks noGrp="1"/>
          </p:cNvSpPr>
          <p:nvPr/>
        </p:nvSpPr>
        <p:spPr>
          <a:xfrm>
            <a:off x="2935833" y="2569464"/>
            <a:ext cx="1856841" cy="1828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3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19" b="1">
                <a:solidFill>
                  <a:srgbClr val="216476"/>
                </a:solidFill>
                <a:latin typeface="Liberation Sans"/>
                <a:ea typeface="Liberation Sans"/>
                <a:cs typeface="Liberation Sans"/>
              </a:rPr>
              <a:t>NOUS RESEARCH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F3163B6-A246-4A10-810A-7BE1AAB0FA46}"/>
              </a:ext>
            </a:extLst>
          </p:cNvPr>
          <p:cNvSpPr>
            <a:spLocks noGrp="1"/>
          </p:cNvSpPr>
          <p:nvPr/>
        </p:nvSpPr>
        <p:spPr>
          <a:xfrm>
            <a:off x="2935833" y="2825496"/>
            <a:ext cx="1856841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3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00" b="0">
                <a:solidFill>
                  <a:srgbClr val="232322"/>
                </a:solidFill>
                <a:latin typeface="Liberation Sans"/>
                <a:ea typeface="Liberation Sans"/>
                <a:cs typeface="Liberation Sans"/>
              </a:rPr>
              <a:t>Memória persistente,</a:t>
            </a:r>
          </a:p>
          <a:p>
            <a:pPr algn="ctr">
              <a:lnSpc>
                <a:spcPct val="103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00" b="0">
                <a:solidFill>
                  <a:srgbClr val="232322"/>
                </a:solidFill>
                <a:latin typeface="Liberation Sans"/>
                <a:ea typeface="Liberation Sans"/>
                <a:cs typeface="Liberation Sans"/>
              </a:rPr>
              <a:t>skills reutilizáveis</a:t>
            </a:r>
          </a:p>
          <a:p>
            <a:pPr algn="ctr">
              <a:lnSpc>
                <a:spcPct val="103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00" b="0">
                <a:solidFill>
                  <a:srgbClr val="232322"/>
                </a:solidFill>
                <a:latin typeface="Liberation Sans"/>
                <a:ea typeface="Liberation Sans"/>
                <a:cs typeface="Liberation Sans"/>
              </a:rPr>
              <a:t>e automações.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58A0C71B-6A89-425B-9CA9-3B72E35FF2A0}"/>
              </a:ext>
            </a:extLst>
          </p:cNvPr>
          <p:cNvSpPr>
            <a:spLocks noGrp="1"/>
          </p:cNvSpPr>
          <p:nvPr/>
        </p:nvSpPr>
        <p:spPr>
          <a:xfrm>
            <a:off x="5057851" y="1691640"/>
            <a:ext cx="2076297" cy="1892807"/>
          </a:xfrm>
          <a:prstGeom prst="rect">
            <a:avLst/>
          </a:prstGeom>
          <a:solidFill>
            <a:srgbClr val="FFFFFF"/>
          </a:solidFill>
          <a:ln w="8255">
            <a:solidFill>
              <a:srgbClr val="E2DED5"/>
            </a:solidFill>
          </a:ln>
        </p:spPr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F9328EA1-4C0E-4FC8-9770-D15BE7016E31}"/>
              </a:ext>
            </a:extLst>
          </p:cNvPr>
          <p:cNvSpPr>
            <a:spLocks noGrp="1"/>
          </p:cNvSpPr>
          <p:nvPr/>
        </p:nvSpPr>
        <p:spPr>
          <a:xfrm>
            <a:off x="5057851" y="1691640"/>
            <a:ext cx="2076297" cy="32004"/>
          </a:xfrm>
          <a:prstGeom prst="rect">
            <a:avLst/>
          </a:prstGeom>
          <a:solidFill>
            <a:srgbClr val="D64826"/>
          </a:solidFill>
          <a:ln>
            <a:noFill/>
          </a:ln>
        </p:spPr>
        <p:txBody>
          <a:bodyPr anchor="ctr"/>
          <a:lstStyle/>
          <a:p>
            <a:pPr algn="ctr">
              <a:buNone/>
            </a:pPr>
            <a:endParaRPr/>
          </a:p>
        </p:txBody>
      </p:sp>
      <p:pic>
        <p:nvPicPr>
          <p:cNvPr id="89" name="Picture 16">
            <a:hlinkClick r:id="rId5"/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359603" y="2062513"/>
            <a:ext cx="429768" cy="291525"/>
          </a:xfrm>
          <a:prstGeom prst="rect">
            <a:avLst/>
          </a:prstGeom>
        </p:spPr>
      </p:pic>
      <p:sp>
        <p:nvSpPr>
          <p:cNvPr id="18" name="TextBox 17">
            <a:hlinkClick r:id="rId5"/>
            <a:extLst>
              <a:ext uri="{FF2B5EF4-FFF2-40B4-BE49-F238E27FC236}">
                <a16:creationId xmlns:a16="http://schemas.microsoft.com/office/drawing/2014/main" id="{D7ED25DD-5827-4AAA-AF23-DCFC1E931C80}"/>
              </a:ext>
            </a:extLst>
          </p:cNvPr>
          <p:cNvSpPr>
            <a:spLocks noGrp="1"/>
          </p:cNvSpPr>
          <p:nvPr/>
        </p:nvSpPr>
        <p:spPr>
          <a:xfrm>
            <a:off x="5880811" y="1965960"/>
            <a:ext cx="105156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500" b="1">
                <a:solidFill>
                  <a:srgbClr val="232322"/>
                </a:solidFill>
                <a:latin typeface="Liberation Sans"/>
                <a:ea typeface="Liberation Sans"/>
                <a:cs typeface="Liberation Sans"/>
              </a:rPr>
              <a:t>Muse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C4FDF117-4158-4B40-8928-871BF6A1EFBD}"/>
              </a:ext>
            </a:extLst>
          </p:cNvPr>
          <p:cNvSpPr>
            <a:spLocks noGrp="1"/>
          </p:cNvSpPr>
          <p:nvPr/>
        </p:nvSpPr>
        <p:spPr>
          <a:xfrm>
            <a:off x="5167579" y="2569464"/>
            <a:ext cx="1856841" cy="1828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3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19" b="1">
                <a:solidFill>
                  <a:srgbClr val="216476"/>
                </a:solidFill>
                <a:latin typeface="Liberation Sans"/>
                <a:ea typeface="Liberation Sans"/>
                <a:cs typeface="Liberation Sans"/>
              </a:rPr>
              <a:t>META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18B8BB89-3C21-4F5D-B769-2E1EBD4020AC}"/>
              </a:ext>
            </a:extLst>
          </p:cNvPr>
          <p:cNvSpPr>
            <a:spLocks noGrp="1"/>
          </p:cNvSpPr>
          <p:nvPr/>
        </p:nvSpPr>
        <p:spPr>
          <a:xfrm>
            <a:off x="5167579" y="2825496"/>
            <a:ext cx="1856841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3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00" b="0">
                <a:solidFill>
                  <a:srgbClr val="232322"/>
                </a:solidFill>
                <a:latin typeface="Liberation Sans"/>
                <a:ea typeface="Liberation Sans"/>
                <a:cs typeface="Liberation Sans"/>
              </a:rPr>
              <a:t>Agente proativo com</a:t>
            </a:r>
          </a:p>
          <a:p>
            <a:pPr algn="ctr">
              <a:lnSpc>
                <a:spcPct val="103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00" b="0">
                <a:solidFill>
                  <a:srgbClr val="232322"/>
                </a:solidFill>
                <a:latin typeface="Liberation Sans"/>
                <a:ea typeface="Liberation Sans"/>
                <a:cs typeface="Liberation Sans"/>
              </a:rPr>
              <a:t>uso de computador</a:t>
            </a:r>
          </a:p>
          <a:p>
            <a:pPr algn="ctr">
              <a:lnSpc>
                <a:spcPct val="103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00" b="0">
                <a:solidFill>
                  <a:srgbClr val="232322"/>
                </a:solidFill>
                <a:latin typeface="Liberation Sans"/>
                <a:ea typeface="Liberation Sans"/>
                <a:cs typeface="Liberation Sans"/>
              </a:rPr>
              <a:t>e navegador.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4DBEA0D0-CAE3-4356-97EE-5702F683D030}"/>
              </a:ext>
            </a:extLst>
          </p:cNvPr>
          <p:cNvSpPr>
            <a:spLocks noGrp="1"/>
          </p:cNvSpPr>
          <p:nvPr/>
        </p:nvSpPr>
        <p:spPr>
          <a:xfrm>
            <a:off x="7289596" y="1691640"/>
            <a:ext cx="2076297" cy="1892807"/>
          </a:xfrm>
          <a:prstGeom prst="rect">
            <a:avLst/>
          </a:prstGeom>
          <a:solidFill>
            <a:srgbClr val="FFFFFF"/>
          </a:solidFill>
          <a:ln w="8255">
            <a:solidFill>
              <a:srgbClr val="E2DED5"/>
            </a:solidFill>
          </a:ln>
        </p:spPr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9F31D87F-67F7-4356-BB4B-6E01EB15C8CA}"/>
              </a:ext>
            </a:extLst>
          </p:cNvPr>
          <p:cNvSpPr>
            <a:spLocks noGrp="1"/>
          </p:cNvSpPr>
          <p:nvPr/>
        </p:nvSpPr>
        <p:spPr>
          <a:xfrm>
            <a:off x="7289596" y="1691640"/>
            <a:ext cx="2076297" cy="32004"/>
          </a:xfrm>
          <a:prstGeom prst="rect">
            <a:avLst/>
          </a:prstGeom>
          <a:solidFill>
            <a:srgbClr val="D64826"/>
          </a:solidFill>
          <a:ln>
            <a:noFill/>
          </a:ln>
        </p:spPr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24" name="TextBox 23">
            <a:hlinkClick r:id="rId7"/>
            <a:extLst>
              <a:ext uri="{FF2B5EF4-FFF2-40B4-BE49-F238E27FC236}">
                <a16:creationId xmlns:a16="http://schemas.microsoft.com/office/drawing/2014/main" id="{9BC84366-B988-41B1-9B7F-30F5900C033E}"/>
              </a:ext>
            </a:extLst>
          </p:cNvPr>
          <p:cNvSpPr>
            <a:spLocks noGrp="1"/>
          </p:cNvSpPr>
          <p:nvPr/>
        </p:nvSpPr>
        <p:spPr>
          <a:xfrm>
            <a:off x="8268004" y="1965960"/>
            <a:ext cx="77724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600" b="1" dirty="0">
                <a:solidFill>
                  <a:srgbClr val="232322"/>
                </a:solidFill>
                <a:latin typeface="Liberation Sans"/>
                <a:ea typeface="Liberation Sans"/>
                <a:cs typeface="Liberation Sans"/>
              </a:rPr>
              <a:t>dots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AD1C8FB4-5188-4B24-93F4-F360767E8D07}"/>
              </a:ext>
            </a:extLst>
          </p:cNvPr>
          <p:cNvSpPr>
            <a:spLocks noGrp="1"/>
          </p:cNvSpPr>
          <p:nvPr/>
        </p:nvSpPr>
        <p:spPr>
          <a:xfrm>
            <a:off x="7399324" y="2569464"/>
            <a:ext cx="1856841" cy="1828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3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19" b="1" dirty="0">
                <a:solidFill>
                  <a:srgbClr val="216476"/>
                </a:solidFill>
                <a:latin typeface="Liberation Sans"/>
                <a:ea typeface="Liberation Sans"/>
                <a:cs typeface="Liberation Sans"/>
              </a:rPr>
              <a:t>OPENAI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B67564A9-5821-493D-B147-2B93DACAA293}"/>
              </a:ext>
            </a:extLst>
          </p:cNvPr>
          <p:cNvSpPr>
            <a:spLocks noGrp="1"/>
          </p:cNvSpPr>
          <p:nvPr/>
        </p:nvSpPr>
        <p:spPr>
          <a:xfrm>
            <a:off x="7399324" y="2825496"/>
            <a:ext cx="1856841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3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00" b="0">
                <a:solidFill>
                  <a:srgbClr val="232322"/>
                </a:solidFill>
                <a:latin typeface="Liberation Sans"/>
                <a:ea typeface="Liberation Sans"/>
                <a:cs typeface="Liberation Sans"/>
              </a:rPr>
              <a:t>Agentes persistentes,</a:t>
            </a:r>
          </a:p>
          <a:p>
            <a:pPr algn="ctr">
              <a:lnSpc>
                <a:spcPct val="103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00" b="0">
                <a:solidFill>
                  <a:srgbClr val="232322"/>
                </a:solidFill>
                <a:latin typeface="Liberation Sans"/>
                <a:ea typeface="Liberation Sans"/>
                <a:cs typeface="Liberation Sans"/>
              </a:rPr>
              <a:t>computador na nuvem</a:t>
            </a:r>
          </a:p>
          <a:p>
            <a:pPr algn="ctr">
              <a:lnSpc>
                <a:spcPct val="103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00" b="0">
                <a:solidFill>
                  <a:srgbClr val="232322"/>
                </a:solidFill>
                <a:latin typeface="Liberation Sans"/>
                <a:ea typeface="Liberation Sans"/>
                <a:cs typeface="Liberation Sans"/>
              </a:rPr>
              <a:t>e apps conectados.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CB952406-F316-4145-9E71-99BFEF4D5FA1}"/>
              </a:ext>
            </a:extLst>
          </p:cNvPr>
          <p:cNvSpPr>
            <a:spLocks noGrp="1"/>
          </p:cNvSpPr>
          <p:nvPr/>
        </p:nvSpPr>
        <p:spPr>
          <a:xfrm>
            <a:off x="9521342" y="1691640"/>
            <a:ext cx="2076297" cy="1892807"/>
          </a:xfrm>
          <a:prstGeom prst="rect">
            <a:avLst/>
          </a:prstGeom>
          <a:solidFill>
            <a:srgbClr val="FFFFFF"/>
          </a:solidFill>
          <a:ln w="8255">
            <a:solidFill>
              <a:srgbClr val="E2DED5"/>
            </a:solidFill>
          </a:ln>
        </p:spPr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EBE8656A-1734-4039-BE84-F56CCE8C12F1}"/>
              </a:ext>
            </a:extLst>
          </p:cNvPr>
          <p:cNvSpPr>
            <a:spLocks noGrp="1"/>
          </p:cNvSpPr>
          <p:nvPr/>
        </p:nvSpPr>
        <p:spPr>
          <a:xfrm>
            <a:off x="9521342" y="1691640"/>
            <a:ext cx="2076297" cy="32004"/>
          </a:xfrm>
          <a:prstGeom prst="rect">
            <a:avLst/>
          </a:prstGeom>
          <a:solidFill>
            <a:srgbClr val="D64826"/>
          </a:solidFill>
          <a:ln>
            <a:noFill/>
          </a:ln>
        </p:spPr>
        <p:txBody>
          <a:bodyPr anchor="ctr"/>
          <a:lstStyle/>
          <a:p>
            <a:pPr algn="ctr">
              <a:buNone/>
            </a:pPr>
            <a:endParaRPr/>
          </a:p>
        </p:txBody>
      </p:sp>
      <p:pic>
        <p:nvPicPr>
          <p:cNvPr id="101" name="Picture 28">
            <a:hlinkClick r:id="rId8"/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724471" y="1965960"/>
            <a:ext cx="462421" cy="466344"/>
          </a:xfrm>
          <a:prstGeom prst="rect">
            <a:avLst/>
          </a:prstGeom>
        </p:spPr>
      </p:pic>
      <p:sp>
        <p:nvSpPr>
          <p:cNvPr id="30" name="TextBox 29">
            <a:hlinkClick r:id="rId8"/>
            <a:extLst>
              <a:ext uri="{FF2B5EF4-FFF2-40B4-BE49-F238E27FC236}">
                <a16:creationId xmlns:a16="http://schemas.microsoft.com/office/drawing/2014/main" id="{5EE9F970-EC8D-485F-A3E5-ECC88A0F474A}"/>
              </a:ext>
            </a:extLst>
          </p:cNvPr>
          <p:cNvSpPr>
            <a:spLocks noGrp="1"/>
          </p:cNvSpPr>
          <p:nvPr/>
        </p:nvSpPr>
        <p:spPr>
          <a:xfrm>
            <a:off x="10280294" y="1965960"/>
            <a:ext cx="1216152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920" b="1">
                <a:solidFill>
                  <a:srgbClr val="232322"/>
                </a:solidFill>
                <a:latin typeface="Liberation Sans"/>
                <a:ea typeface="Liberation Sans"/>
                <a:cs typeface="Liberation Sans"/>
              </a:rPr>
              <a:t>Grok Bot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66168DC6-652D-49D0-BD79-9041E0E5ED61}"/>
              </a:ext>
            </a:extLst>
          </p:cNvPr>
          <p:cNvSpPr>
            <a:spLocks noGrp="1"/>
          </p:cNvSpPr>
          <p:nvPr/>
        </p:nvSpPr>
        <p:spPr>
          <a:xfrm>
            <a:off x="9631070" y="2569464"/>
            <a:ext cx="1856841" cy="1828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3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19" b="1">
                <a:solidFill>
                  <a:srgbClr val="216476"/>
                </a:solidFill>
                <a:latin typeface="Liberation Sans"/>
                <a:ea typeface="Liberation Sans"/>
                <a:cs typeface="Liberation Sans"/>
              </a:rPr>
              <a:t>ECOSSISTEMA GROK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8273053E-A23C-402D-92DD-26629DE06B20}"/>
              </a:ext>
            </a:extLst>
          </p:cNvPr>
          <p:cNvSpPr>
            <a:spLocks noGrp="1"/>
          </p:cNvSpPr>
          <p:nvPr/>
        </p:nvSpPr>
        <p:spPr>
          <a:xfrm>
            <a:off x="9631070" y="2825496"/>
            <a:ext cx="1856841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3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00" b="0">
                <a:solidFill>
                  <a:srgbClr val="232322"/>
                </a:solidFill>
                <a:latin typeface="Liberation Sans"/>
                <a:ea typeface="Liberation Sans"/>
                <a:cs typeface="Liberation Sans"/>
              </a:rPr>
              <a:t>Bots que usam</a:t>
            </a:r>
          </a:p>
          <a:p>
            <a:pPr algn="ctr">
              <a:lnSpc>
                <a:spcPct val="103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00" b="0">
                <a:solidFill>
                  <a:srgbClr val="232322"/>
                </a:solidFill>
                <a:latin typeface="Liberation Sans"/>
                <a:ea typeface="Liberation Sans"/>
                <a:cs typeface="Liberation Sans"/>
              </a:rPr>
              <a:t>ferramentas para</a:t>
            </a:r>
          </a:p>
          <a:p>
            <a:pPr algn="ctr">
              <a:lnSpc>
                <a:spcPct val="103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00" b="0">
                <a:solidFill>
                  <a:srgbClr val="232322"/>
                </a:solidFill>
                <a:latin typeface="Liberation Sans"/>
                <a:ea typeface="Liberation Sans"/>
                <a:cs typeface="Liberation Sans"/>
              </a:rPr>
              <a:t>concluir tarefas.</a:t>
            </a:r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B81A646C-6E16-4B1E-91EE-A8F9330C85BC}"/>
              </a:ext>
            </a:extLst>
          </p:cNvPr>
          <p:cNvSpPr>
            <a:spLocks noGrp="1"/>
          </p:cNvSpPr>
          <p:nvPr/>
        </p:nvSpPr>
        <p:spPr>
          <a:xfrm>
            <a:off x="594360" y="3764142"/>
            <a:ext cx="2076297" cy="1892807"/>
          </a:xfrm>
          <a:prstGeom prst="rect">
            <a:avLst/>
          </a:prstGeom>
          <a:solidFill>
            <a:srgbClr val="FFFFFF"/>
          </a:solidFill>
          <a:ln w="8255">
            <a:solidFill>
              <a:srgbClr val="E2DED5"/>
            </a:solidFill>
          </a:ln>
        </p:spPr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AA56566C-8FB1-4A76-ADA0-F185FC6B487D}"/>
              </a:ext>
            </a:extLst>
          </p:cNvPr>
          <p:cNvSpPr>
            <a:spLocks noGrp="1"/>
          </p:cNvSpPr>
          <p:nvPr/>
        </p:nvSpPr>
        <p:spPr>
          <a:xfrm>
            <a:off x="594360" y="3764142"/>
            <a:ext cx="2076297" cy="32004"/>
          </a:xfrm>
          <a:prstGeom prst="rect">
            <a:avLst/>
          </a:prstGeom>
          <a:solidFill>
            <a:srgbClr val="216476"/>
          </a:solidFill>
          <a:ln>
            <a:noFill/>
          </a:ln>
        </p:spPr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57" name="TextBox 56">
            <a:hlinkClick r:id="rId10"/>
            <a:extLst>
              <a:ext uri="{FF2B5EF4-FFF2-40B4-BE49-F238E27FC236}">
                <a16:creationId xmlns:a16="http://schemas.microsoft.com/office/drawing/2014/main" id="{17F9B1C2-2DEF-4377-AE1D-84A55F627BAA}"/>
              </a:ext>
            </a:extLst>
          </p:cNvPr>
          <p:cNvSpPr>
            <a:spLocks noGrp="1"/>
          </p:cNvSpPr>
          <p:nvPr/>
        </p:nvSpPr>
        <p:spPr>
          <a:xfrm>
            <a:off x="780287" y="4024849"/>
            <a:ext cx="1856841" cy="37023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3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500" b="1" dirty="0">
                <a:solidFill>
                  <a:srgbClr val="232322"/>
                </a:solidFill>
                <a:latin typeface="Liberation Sans"/>
                <a:ea typeface="Liberation Sans"/>
                <a:cs typeface="Liberation Sans"/>
              </a:rPr>
              <a:t>Manus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1BE0C135-F030-46D7-AA35-F6BE87502D95}"/>
              </a:ext>
            </a:extLst>
          </p:cNvPr>
          <p:cNvSpPr>
            <a:spLocks noGrp="1"/>
          </p:cNvSpPr>
          <p:nvPr/>
        </p:nvSpPr>
        <p:spPr>
          <a:xfrm>
            <a:off x="704088" y="4641966"/>
            <a:ext cx="1856841" cy="1828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3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19" b="1">
                <a:solidFill>
                  <a:srgbClr val="216476"/>
                </a:solidFill>
                <a:latin typeface="Liberation Sans"/>
                <a:ea typeface="Liberation Sans"/>
                <a:cs typeface="Liberation Sans"/>
              </a:rPr>
              <a:t>AGENTE DE EXECUÇÃO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5238C85C-3B76-4F61-9742-EF98341B0B43}"/>
              </a:ext>
            </a:extLst>
          </p:cNvPr>
          <p:cNvSpPr>
            <a:spLocks noGrp="1"/>
          </p:cNvSpPr>
          <p:nvPr/>
        </p:nvSpPr>
        <p:spPr>
          <a:xfrm>
            <a:off x="704088" y="4897998"/>
            <a:ext cx="1856841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3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00" b="0">
                <a:solidFill>
                  <a:srgbClr val="232322"/>
                </a:solidFill>
                <a:latin typeface="Liberation Sans"/>
                <a:ea typeface="Liberation Sans"/>
                <a:cs typeface="Liberation Sans"/>
              </a:rPr>
              <a:t>Execução de tarefas e</a:t>
            </a:r>
          </a:p>
          <a:p>
            <a:pPr algn="ctr">
              <a:lnSpc>
                <a:spcPct val="103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00" b="0">
                <a:solidFill>
                  <a:srgbClr val="232322"/>
                </a:solidFill>
                <a:latin typeface="Liberation Sans"/>
                <a:ea typeface="Liberation Sans"/>
                <a:cs typeface="Liberation Sans"/>
              </a:rPr>
              <a:t>automação de fluxos</a:t>
            </a:r>
          </a:p>
          <a:p>
            <a:pPr algn="ctr">
              <a:lnSpc>
                <a:spcPct val="103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00" b="0">
                <a:solidFill>
                  <a:srgbClr val="232322"/>
                </a:solidFill>
                <a:latin typeface="Liberation Sans"/>
                <a:ea typeface="Liberation Sans"/>
                <a:cs typeface="Liberation Sans"/>
              </a:rPr>
              <a:t>de trabalho.</a:t>
            </a:r>
          </a:p>
        </p:txBody>
      </p:sp>
      <p:sp>
        <p:nvSpPr>
          <p:cNvPr id="60" name="Rectangle 59">
            <a:extLst>
              <a:ext uri="{FF2B5EF4-FFF2-40B4-BE49-F238E27FC236}">
                <a16:creationId xmlns:a16="http://schemas.microsoft.com/office/drawing/2014/main" id="{8017FB40-FA21-414A-B4D0-FD5DA58AF967}"/>
              </a:ext>
            </a:extLst>
          </p:cNvPr>
          <p:cNvSpPr>
            <a:spLocks noGrp="1"/>
          </p:cNvSpPr>
          <p:nvPr/>
        </p:nvSpPr>
        <p:spPr>
          <a:xfrm>
            <a:off x="594360" y="5879592"/>
            <a:ext cx="11003249" cy="393192"/>
          </a:xfrm>
          <a:prstGeom prst="rect">
            <a:avLst/>
          </a:prstGeom>
          <a:solidFill>
            <a:srgbClr val="F0ECE4"/>
          </a:solidFill>
          <a:ln>
            <a:noFill/>
          </a:ln>
        </p:spPr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61" name="Rectangle 60">
            <a:extLst>
              <a:ext uri="{FF2B5EF4-FFF2-40B4-BE49-F238E27FC236}">
                <a16:creationId xmlns:a16="http://schemas.microsoft.com/office/drawing/2014/main" id="{CDC5C696-87CF-4902-BC44-55D6531F4C1C}"/>
              </a:ext>
            </a:extLst>
          </p:cNvPr>
          <p:cNvSpPr>
            <a:spLocks noGrp="1"/>
          </p:cNvSpPr>
          <p:nvPr/>
        </p:nvSpPr>
        <p:spPr>
          <a:xfrm>
            <a:off x="594360" y="5879592"/>
            <a:ext cx="32004" cy="393192"/>
          </a:xfrm>
          <a:prstGeom prst="rect">
            <a:avLst/>
          </a:prstGeom>
          <a:solidFill>
            <a:srgbClr val="D64826"/>
          </a:solidFill>
          <a:ln>
            <a:noFill/>
          </a:ln>
        </p:spPr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CDC27DB6-F691-4DAD-A047-CE049010731E}"/>
              </a:ext>
            </a:extLst>
          </p:cNvPr>
          <p:cNvSpPr>
            <a:spLocks noGrp="1"/>
          </p:cNvSpPr>
          <p:nvPr/>
        </p:nvSpPr>
        <p:spPr>
          <a:xfrm>
            <a:off x="758952" y="5911596"/>
            <a:ext cx="10643616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750" b="1">
                <a:solidFill>
                  <a:srgbClr val="232322"/>
                </a:solidFill>
                <a:latin typeface="Liberation Sans"/>
                <a:ea typeface="Liberation Sans"/>
                <a:cs typeface="Liberation Sans"/>
              </a:rPr>
              <a:t>Delegar a tarefa. Acompanhar a execução. Conferir o resultado.</a:t>
            </a:r>
          </a:p>
        </p:txBody>
      </p:sp>
      <p:pic>
        <p:nvPicPr>
          <p:cNvPr id="135" name="Imagem 64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78651" y="2015351"/>
            <a:ext cx="358416" cy="358416"/>
          </a:xfrm>
          <a:prstGeom prst="rect">
            <a:avLst/>
          </a:prstGeom>
        </p:spPr>
      </p:pic>
      <p:pic>
        <p:nvPicPr>
          <p:cNvPr id="136" name="Imagem 65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2883894" y="2024693"/>
            <a:ext cx="334610" cy="339838"/>
          </a:xfrm>
          <a:prstGeom prst="rect">
            <a:avLst/>
          </a:prstGeom>
        </p:spPr>
      </p:pic>
      <p:pic>
        <p:nvPicPr>
          <p:cNvPr id="137" name="Imagem 66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09600" y="3796146"/>
            <a:ext cx="583868" cy="543193"/>
          </a:xfrm>
          <a:prstGeom prst="rect">
            <a:avLst/>
          </a:prstGeom>
        </p:spPr>
      </p:pic>
      <p:pic>
        <p:nvPicPr>
          <p:cNvPr id="138" name="Imagem 67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2197057" y="4006459"/>
            <a:ext cx="386403" cy="386403"/>
          </a:xfrm>
          <a:prstGeom prst="rect">
            <a:avLst/>
          </a:prstGeom>
        </p:spPr>
      </p:pic>
      <p:sp>
        <p:nvSpPr>
          <p:cNvPr id="74" name="Número do slide">
            <a:extLst>
              <a:ext uri="{FF2B5EF4-FFF2-40B4-BE49-F238E27FC236}">
                <a16:creationId xmlns:a16="http://schemas.microsoft.com/office/drawing/2014/main" id="{847C0937-8C5C-4A74-9EBF-D7284C030445}"/>
              </a:ext>
            </a:extLst>
          </p:cNvPr>
          <p:cNvSpPr>
            <a:spLocks noGrp="1"/>
          </p:cNvSpPr>
          <p:nvPr/>
        </p:nvSpPr>
        <p:spPr>
          <a:xfrm>
            <a:off x="11258550" y="6515100"/>
            <a:ext cx="333375" cy="1905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r">
              <a:defRPr sz="1050" b="0">
                <a:solidFill>
                  <a:srgbClr val="8A8882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050" b="0">
                <a:solidFill>
                  <a:srgbClr val="8A8882"/>
                </a:solidFill>
                <a:latin typeface="Liberation Sans"/>
                <a:ea typeface="Liberation Sans"/>
                <a:cs typeface="Liberation Sans"/>
              </a:rPr>
              <a:t>13</a:t>
            </a: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93F64562-DFDF-A1B7-FD62-50E3FF2CEF33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66329" y="1921585"/>
            <a:ext cx="562051" cy="5620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2859754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Título">
            <a:extLst>
              <a:ext uri="{FF2B5EF4-FFF2-40B4-BE49-F238E27FC236}">
                <a16:creationId xmlns:a16="http://schemas.microsoft.com/office/drawing/2014/main" id="{4CAB7668-3EB6-480F-B108-8C089F373DD9}"/>
              </a:ext>
            </a:extLst>
          </p:cNvPr>
          <p:cNvSpPr>
            <a:spLocks noGrp="1"/>
          </p:cNvSpPr>
          <p:nvPr/>
        </p:nvSpPr>
        <p:spPr>
          <a:xfrm>
            <a:off x="609600" y="419100"/>
            <a:ext cx="1097280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3450" b="1">
                <a:solidFill>
                  <a:srgbClr val="232322"/>
                </a:solidFill>
                <a:latin typeface="Liberation Sans"/>
                <a:ea typeface="Liberation Sans"/>
                <a:cs typeface="Liberation Sans"/>
              </a:defRPr>
            </a:defPPr>
          </a:lstStyle>
          <a:p>
            <a:pPr algn="l">
              <a:defRPr sz="3450" b="1">
                <a:solidFill>
                  <a:srgbClr val="232322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3450" b="1">
                <a:solidFill>
                  <a:srgbClr val="232322"/>
                </a:solidFill>
                <a:latin typeface="Liberation Sans"/>
                <a:ea typeface="Liberation Sans"/>
                <a:cs typeface="Liberation Sans"/>
              </a:rPr>
              <a:t>Cowork e assistentes persistentes</a:t>
            </a:r>
          </a:p>
        </p:txBody>
      </p:sp>
      <p:sp>
        <p:nvSpPr>
          <p:cNvPr id="2" name="Subtítulo">
            <a:extLst>
              <a:ext uri="{FF2B5EF4-FFF2-40B4-BE49-F238E27FC236}">
                <a16:creationId xmlns:a16="http://schemas.microsoft.com/office/drawing/2014/main" id="{B0ED8C74-7D46-4C65-B68D-98DDBCE9BEE9}"/>
              </a:ext>
            </a:extLst>
          </p:cNvPr>
          <p:cNvSpPr>
            <a:spLocks noGrp="1"/>
          </p:cNvSpPr>
          <p:nvPr/>
        </p:nvSpPr>
        <p:spPr>
          <a:xfrm>
            <a:off x="612648" y="1077373"/>
            <a:ext cx="10424160" cy="2952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750" b="0">
                <a:solidFill>
                  <a:srgbClr val="666660"/>
                </a:solidFill>
                <a:latin typeface="Liberation Sans"/>
                <a:ea typeface="Liberation Sans"/>
                <a:cs typeface="Liberation Sans"/>
              </a:defRPr>
            </a:defPPr>
          </a:lstStyle>
          <a:p>
            <a:pPr algn="l">
              <a:defRPr sz="1750" b="0">
                <a:solidFill>
                  <a:srgbClr val="666660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750" b="0">
                <a:solidFill>
                  <a:srgbClr val="666660"/>
                </a:solidFill>
                <a:latin typeface="Liberation Sans"/>
                <a:ea typeface="Liberation Sans"/>
                <a:cs typeface="Liberation Sans"/>
              </a:rPr>
              <a:t>Ambos executam ações. A diferença está no foco e na continuidade.</a:t>
            </a:r>
          </a:p>
        </p:txBody>
      </p:sp>
      <p:sp>
        <p:nvSpPr>
          <p:cNvPr id="3" name="Cartão Cowork">
            <a:extLst>
              <a:ext uri="{FF2B5EF4-FFF2-40B4-BE49-F238E27FC236}">
                <a16:creationId xmlns:a16="http://schemas.microsoft.com/office/drawing/2014/main" id="{B36B7252-CAFA-46DE-9C13-FDA6D20870F5}"/>
              </a:ext>
            </a:extLst>
          </p:cNvPr>
          <p:cNvSpPr>
            <a:spLocks noGrp="1"/>
          </p:cNvSpPr>
          <p:nvPr/>
        </p:nvSpPr>
        <p:spPr>
          <a:xfrm>
            <a:off x="594360" y="1691640"/>
            <a:ext cx="5364480" cy="3977640"/>
          </a:xfrm>
          <a:prstGeom prst="rect">
            <a:avLst/>
          </a:prstGeom>
          <a:solidFill>
            <a:srgbClr val="FFFFFF"/>
          </a:solidFill>
          <a:ln w="8287">
            <a:solidFill>
              <a:srgbClr val="E2DED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Faixa Cowork">
            <a:extLst>
              <a:ext uri="{FF2B5EF4-FFF2-40B4-BE49-F238E27FC236}">
                <a16:creationId xmlns:a16="http://schemas.microsoft.com/office/drawing/2014/main" id="{58CF266D-70F7-4449-832B-D868B4422B04}"/>
              </a:ext>
            </a:extLst>
          </p:cNvPr>
          <p:cNvSpPr>
            <a:spLocks noGrp="1"/>
          </p:cNvSpPr>
          <p:nvPr/>
        </p:nvSpPr>
        <p:spPr>
          <a:xfrm>
            <a:off x="594360" y="1691640"/>
            <a:ext cx="5364480" cy="32004"/>
          </a:xfrm>
          <a:prstGeom prst="rect">
            <a:avLst/>
          </a:prstGeom>
          <a:solidFill>
            <a:srgbClr val="D64826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Nome Cowork">
            <a:extLst>
              <a:ext uri="{FF2B5EF4-FFF2-40B4-BE49-F238E27FC236}">
                <a16:creationId xmlns:a16="http://schemas.microsoft.com/office/drawing/2014/main" id="{0ADD0A97-0850-4436-863B-85FE112E0582}"/>
              </a:ext>
            </a:extLst>
          </p:cNvPr>
          <p:cNvSpPr>
            <a:spLocks noGrp="1"/>
          </p:cNvSpPr>
          <p:nvPr/>
        </p:nvSpPr>
        <p:spPr>
          <a:xfrm>
            <a:off x="807720" y="1971675"/>
            <a:ext cx="493776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2200" b="1">
                <a:solidFill>
                  <a:srgbClr val="232322"/>
                </a:solidFill>
                <a:latin typeface="Liberation Sans"/>
                <a:ea typeface="Liberation Sans"/>
                <a:cs typeface="Liberation Sans"/>
              </a:defRPr>
            </a:defPPr>
          </a:lstStyle>
          <a:p>
            <a:pPr algn="l">
              <a:defRPr sz="2200" b="1">
                <a:solidFill>
                  <a:srgbClr val="232322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2200" b="1">
                <a:solidFill>
                  <a:srgbClr val="232322"/>
                </a:solidFill>
                <a:latin typeface="Liberation Sans"/>
                <a:ea typeface="Liberation Sans"/>
                <a:cs typeface="Liberation Sans"/>
              </a:rPr>
              <a:t>Cowork</a:t>
            </a:r>
          </a:p>
        </p:txBody>
      </p:sp>
      <p:sp>
        <p:nvSpPr>
          <p:cNvPr id="6" name="Foco Cowork">
            <a:extLst>
              <a:ext uri="{FF2B5EF4-FFF2-40B4-BE49-F238E27FC236}">
                <a16:creationId xmlns:a16="http://schemas.microsoft.com/office/drawing/2014/main" id="{E91BE7A2-4057-4DAE-913E-D43D9410A7D2}"/>
              </a:ext>
            </a:extLst>
          </p:cNvPr>
          <p:cNvSpPr>
            <a:spLocks noGrp="1"/>
          </p:cNvSpPr>
          <p:nvPr/>
        </p:nvSpPr>
        <p:spPr>
          <a:xfrm>
            <a:off x="807720" y="2447925"/>
            <a:ext cx="4937760" cy="2190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050" b="1">
                <a:solidFill>
                  <a:srgbClr val="D64826"/>
                </a:solidFill>
                <a:latin typeface="Liberation Sans"/>
                <a:ea typeface="Liberation Sans"/>
                <a:cs typeface="Liberation Sans"/>
              </a:defRPr>
            </a:defPPr>
          </a:lstStyle>
          <a:p>
            <a:pPr algn="l">
              <a:defRPr sz="1050" b="1">
                <a:solidFill>
                  <a:srgbClr val="D6482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050" b="1">
                <a:solidFill>
                  <a:srgbClr val="D64826"/>
                </a:solidFill>
                <a:latin typeface="Liberation Sans"/>
                <a:ea typeface="Liberation Sans"/>
                <a:cs typeface="Liberation Sans"/>
              </a:rPr>
              <a:t>ENTREGAR UM TRABALHO</a:t>
            </a:r>
          </a:p>
        </p:txBody>
      </p:sp>
      <p:sp>
        <p:nvSpPr>
          <p:cNvPr id="7" name="Separador Cowork">
            <a:extLst>
              <a:ext uri="{FF2B5EF4-FFF2-40B4-BE49-F238E27FC236}">
                <a16:creationId xmlns:a16="http://schemas.microsoft.com/office/drawing/2014/main" id="{BCE5E870-AE03-4B6F-BCBB-EA5F8F7DCBE4}"/>
              </a:ext>
            </a:extLst>
          </p:cNvPr>
          <p:cNvSpPr>
            <a:spLocks noGrp="1"/>
          </p:cNvSpPr>
          <p:nvPr/>
        </p:nvSpPr>
        <p:spPr>
          <a:xfrm>
            <a:off x="807720" y="2781300"/>
            <a:ext cx="4937760" cy="8573"/>
          </a:xfrm>
          <a:prstGeom prst="rect">
            <a:avLst/>
          </a:prstGeom>
          <a:solidFill>
            <a:srgbClr val="E2DED5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Descrição Cowork">
            <a:extLst>
              <a:ext uri="{FF2B5EF4-FFF2-40B4-BE49-F238E27FC236}">
                <a16:creationId xmlns:a16="http://schemas.microsoft.com/office/drawing/2014/main" id="{E8547E66-6A12-4C20-AFD1-D9C4F68B8B91}"/>
              </a:ext>
            </a:extLst>
          </p:cNvPr>
          <p:cNvSpPr>
            <a:spLocks noGrp="1"/>
          </p:cNvSpPr>
          <p:nvPr/>
        </p:nvSpPr>
        <p:spPr>
          <a:xfrm>
            <a:off x="807720" y="2952750"/>
            <a:ext cx="4937760" cy="819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600" b="0">
                <a:solidFill>
                  <a:srgbClr val="232322"/>
                </a:solidFill>
                <a:latin typeface="Liberation Sans"/>
                <a:ea typeface="Liberation Sans"/>
                <a:cs typeface="Liberation Sans"/>
              </a:defRPr>
            </a:defPPr>
          </a:lstStyle>
          <a:p>
            <a:pPr algn="l">
              <a:defRPr sz="1600" b="0">
                <a:solidFill>
                  <a:srgbClr val="232322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600" b="0">
                <a:solidFill>
                  <a:srgbClr val="232322"/>
                </a:solidFill>
                <a:latin typeface="Liberation Sans"/>
                <a:ea typeface="Liberation Sans"/>
                <a:cs typeface="Liberation Sans"/>
              </a:rPr>
              <a:t>Tarefa ou projeto, com resultado definido.</a:t>
            </a:r>
          </a:p>
          <a:p>
            <a:pPr algn="l">
              <a:defRPr sz="1600" b="0">
                <a:solidFill>
                  <a:srgbClr val="232322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600" b="0">
                <a:solidFill>
                  <a:srgbClr val="232322"/>
                </a:solidFill>
                <a:latin typeface="Liberation Sans"/>
                <a:ea typeface="Liberation Sans"/>
                <a:cs typeface="Liberation Sans"/>
              </a:rPr>
              <a:t>Usa arquivos, instruções e sistemas</a:t>
            </a:r>
          </a:p>
          <a:p>
            <a:pPr algn="l">
              <a:defRPr sz="1600" b="0">
                <a:solidFill>
                  <a:srgbClr val="232322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600" b="0">
                <a:solidFill>
                  <a:srgbClr val="232322"/>
                </a:solidFill>
                <a:latin typeface="Liberation Sans"/>
                <a:ea typeface="Liberation Sans"/>
                <a:cs typeface="Liberation Sans"/>
              </a:rPr>
              <a:t>para planejar e executar.</a:t>
            </a:r>
          </a:p>
        </p:txBody>
      </p:sp>
      <p:sp>
        <p:nvSpPr>
          <p:cNvPr id="9" name="Exemplo rótulo Cowork">
            <a:extLst>
              <a:ext uri="{FF2B5EF4-FFF2-40B4-BE49-F238E27FC236}">
                <a16:creationId xmlns:a16="http://schemas.microsoft.com/office/drawing/2014/main" id="{C470D4A8-8FC8-46D1-84AF-0904D4E10A3F}"/>
              </a:ext>
            </a:extLst>
          </p:cNvPr>
          <p:cNvSpPr>
            <a:spLocks noGrp="1"/>
          </p:cNvSpPr>
          <p:nvPr/>
        </p:nvSpPr>
        <p:spPr>
          <a:xfrm>
            <a:off x="807720" y="4038600"/>
            <a:ext cx="4937760" cy="2190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050" b="1">
                <a:solidFill>
                  <a:srgbClr val="D64826"/>
                </a:solidFill>
                <a:latin typeface="Liberation Sans"/>
                <a:ea typeface="Liberation Sans"/>
                <a:cs typeface="Liberation Sans"/>
              </a:defRPr>
            </a:defPPr>
          </a:lstStyle>
          <a:p>
            <a:pPr algn="l">
              <a:defRPr sz="1050" b="1">
                <a:solidFill>
                  <a:srgbClr val="D6482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050" b="1">
                <a:solidFill>
                  <a:srgbClr val="D64826"/>
                </a:solidFill>
                <a:latin typeface="Liberation Sans"/>
                <a:ea typeface="Liberation Sans"/>
                <a:cs typeface="Liberation Sans"/>
              </a:rPr>
              <a:t>EXEMPLO: ORGANIZAR UM EVENTO</a:t>
            </a:r>
          </a:p>
        </p:txBody>
      </p:sp>
      <p:sp>
        <p:nvSpPr>
          <p:cNvPr id="10" name="Exemplo Cowork">
            <a:extLst>
              <a:ext uri="{FF2B5EF4-FFF2-40B4-BE49-F238E27FC236}">
                <a16:creationId xmlns:a16="http://schemas.microsoft.com/office/drawing/2014/main" id="{7767681A-E39A-4D3D-9133-4B114FE9F30D}"/>
              </a:ext>
            </a:extLst>
          </p:cNvPr>
          <p:cNvSpPr>
            <a:spLocks noGrp="1"/>
          </p:cNvSpPr>
          <p:nvPr/>
        </p:nvSpPr>
        <p:spPr>
          <a:xfrm>
            <a:off x="807720" y="4314825"/>
            <a:ext cx="4937760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600" b="0">
                <a:solidFill>
                  <a:srgbClr val="232322"/>
                </a:solidFill>
                <a:latin typeface="Liberation Sans"/>
                <a:ea typeface="Liberation Sans"/>
                <a:cs typeface="Liberation Sans"/>
              </a:defRPr>
            </a:defPPr>
          </a:lstStyle>
          <a:p>
            <a:pPr algn="l">
              <a:defRPr sz="1600" b="0">
                <a:solidFill>
                  <a:srgbClr val="232322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600" b="0">
                <a:solidFill>
                  <a:srgbClr val="232322"/>
                </a:solidFill>
                <a:latin typeface="Liberation Sans"/>
                <a:ea typeface="Liberation Sans"/>
                <a:cs typeface="Liberation Sans"/>
              </a:rPr>
              <a:t>“Compare os fornecedores e prepare</a:t>
            </a:r>
          </a:p>
          <a:p>
            <a:pPr algn="l">
              <a:defRPr sz="1600" b="0">
                <a:solidFill>
                  <a:srgbClr val="232322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600" b="0">
                <a:solidFill>
                  <a:srgbClr val="232322"/>
                </a:solidFill>
                <a:latin typeface="Liberation Sans"/>
                <a:ea typeface="Liberation Sans"/>
                <a:cs typeface="Liberation Sans"/>
              </a:rPr>
              <a:t>o orçamento e a apresentação do evento.”</a:t>
            </a:r>
          </a:p>
        </p:txBody>
      </p:sp>
      <p:sp>
        <p:nvSpPr>
          <p:cNvPr id="11" name="Resultado Cowork">
            <a:extLst>
              <a:ext uri="{FF2B5EF4-FFF2-40B4-BE49-F238E27FC236}">
                <a16:creationId xmlns:a16="http://schemas.microsoft.com/office/drawing/2014/main" id="{5D915583-E2C2-4DE5-A0FA-8162A41A5046}"/>
              </a:ext>
            </a:extLst>
          </p:cNvPr>
          <p:cNvSpPr>
            <a:spLocks noGrp="1"/>
          </p:cNvSpPr>
          <p:nvPr/>
        </p:nvSpPr>
        <p:spPr>
          <a:xfrm>
            <a:off x="807720" y="5219700"/>
            <a:ext cx="493776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450" b="1">
                <a:solidFill>
                  <a:srgbClr val="232322"/>
                </a:solidFill>
                <a:latin typeface="Liberation Sans"/>
                <a:ea typeface="Liberation Sans"/>
                <a:cs typeface="Liberation Sans"/>
              </a:defRPr>
            </a:defPPr>
          </a:lstStyle>
          <a:p>
            <a:pPr algn="l">
              <a:defRPr sz="1450" b="1">
                <a:solidFill>
                  <a:srgbClr val="232322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450" b="1">
                <a:solidFill>
                  <a:srgbClr val="232322"/>
                </a:solidFill>
                <a:latin typeface="Liberation Sans"/>
                <a:ea typeface="Liberation Sans"/>
                <a:cs typeface="Liberation Sans"/>
              </a:rPr>
              <a:t>Resultado: análise e materiais prontos.</a:t>
            </a:r>
          </a:p>
        </p:txBody>
      </p:sp>
      <p:sp>
        <p:nvSpPr>
          <p:cNvPr id="12" name="Cartão Assistente de IA persistente">
            <a:extLst>
              <a:ext uri="{FF2B5EF4-FFF2-40B4-BE49-F238E27FC236}">
                <a16:creationId xmlns:a16="http://schemas.microsoft.com/office/drawing/2014/main" id="{78FC795B-CF79-4AA4-B3D2-B1B505515495}"/>
              </a:ext>
            </a:extLst>
          </p:cNvPr>
          <p:cNvSpPr>
            <a:spLocks noGrp="1"/>
          </p:cNvSpPr>
          <p:nvPr/>
        </p:nvSpPr>
        <p:spPr>
          <a:xfrm>
            <a:off x="6233160" y="1691640"/>
            <a:ext cx="5364480" cy="3977640"/>
          </a:xfrm>
          <a:prstGeom prst="rect">
            <a:avLst/>
          </a:prstGeom>
          <a:solidFill>
            <a:srgbClr val="FFFFFF"/>
          </a:solidFill>
          <a:ln w="8287">
            <a:solidFill>
              <a:srgbClr val="E2DED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Faixa Assistente de IA persistente">
            <a:extLst>
              <a:ext uri="{FF2B5EF4-FFF2-40B4-BE49-F238E27FC236}">
                <a16:creationId xmlns:a16="http://schemas.microsoft.com/office/drawing/2014/main" id="{7A0FDF25-0A59-4633-AC74-5DC4C1884F7C}"/>
              </a:ext>
            </a:extLst>
          </p:cNvPr>
          <p:cNvSpPr>
            <a:spLocks noGrp="1"/>
          </p:cNvSpPr>
          <p:nvPr/>
        </p:nvSpPr>
        <p:spPr>
          <a:xfrm>
            <a:off x="6233160" y="1691640"/>
            <a:ext cx="5364480" cy="32004"/>
          </a:xfrm>
          <a:prstGeom prst="rect">
            <a:avLst/>
          </a:prstGeom>
          <a:solidFill>
            <a:srgbClr val="216476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Nome Assistente de IA persistente">
            <a:extLst>
              <a:ext uri="{FF2B5EF4-FFF2-40B4-BE49-F238E27FC236}">
                <a16:creationId xmlns:a16="http://schemas.microsoft.com/office/drawing/2014/main" id="{9E57927F-3008-4810-B29E-FCBD5468F6E7}"/>
              </a:ext>
            </a:extLst>
          </p:cNvPr>
          <p:cNvSpPr>
            <a:spLocks noGrp="1"/>
          </p:cNvSpPr>
          <p:nvPr/>
        </p:nvSpPr>
        <p:spPr>
          <a:xfrm>
            <a:off x="6446520" y="1971675"/>
            <a:ext cx="493776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2200" b="1">
                <a:solidFill>
                  <a:srgbClr val="232322"/>
                </a:solidFill>
                <a:latin typeface="Liberation Sans"/>
                <a:ea typeface="Liberation Sans"/>
                <a:cs typeface="Liberation Sans"/>
              </a:defRPr>
            </a:defPPr>
          </a:lstStyle>
          <a:p>
            <a:pPr algn="l">
              <a:defRPr sz="2200" b="1">
                <a:solidFill>
                  <a:srgbClr val="232322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2200" b="1">
                <a:solidFill>
                  <a:srgbClr val="232322"/>
                </a:solidFill>
                <a:latin typeface="Liberation Sans"/>
                <a:ea typeface="Liberation Sans"/>
                <a:cs typeface="Liberation Sans"/>
              </a:rPr>
              <a:t>Assistente de IA persistente</a:t>
            </a:r>
          </a:p>
        </p:txBody>
      </p:sp>
      <p:sp>
        <p:nvSpPr>
          <p:cNvPr id="15" name="Foco Assistente de IA persistente">
            <a:extLst>
              <a:ext uri="{FF2B5EF4-FFF2-40B4-BE49-F238E27FC236}">
                <a16:creationId xmlns:a16="http://schemas.microsoft.com/office/drawing/2014/main" id="{FF038B29-ED86-4D18-B602-18E28D487CA9}"/>
              </a:ext>
            </a:extLst>
          </p:cNvPr>
          <p:cNvSpPr>
            <a:spLocks noGrp="1"/>
          </p:cNvSpPr>
          <p:nvPr/>
        </p:nvSpPr>
        <p:spPr>
          <a:xfrm>
            <a:off x="6446520" y="2447925"/>
            <a:ext cx="4937760" cy="2190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050" b="1">
                <a:solidFill>
                  <a:srgbClr val="216476"/>
                </a:solidFill>
                <a:latin typeface="Liberation Sans"/>
                <a:ea typeface="Liberation Sans"/>
                <a:cs typeface="Liberation Sans"/>
              </a:defRPr>
            </a:defPPr>
          </a:lstStyle>
          <a:p>
            <a:pPr algn="l">
              <a:defRPr sz="1050" b="1">
                <a:solidFill>
                  <a:srgbClr val="21647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050" b="1">
                <a:solidFill>
                  <a:srgbClr val="216476"/>
                </a:solidFill>
                <a:latin typeface="Liberation Sans"/>
                <a:ea typeface="Liberation Sans"/>
                <a:cs typeface="Liberation Sans"/>
              </a:rPr>
              <a:t>ACOMPANHAR RESPONSABILIDADES</a:t>
            </a:r>
          </a:p>
        </p:txBody>
      </p:sp>
      <p:sp>
        <p:nvSpPr>
          <p:cNvPr id="16" name="Separador Assistente de IA persistente">
            <a:extLst>
              <a:ext uri="{FF2B5EF4-FFF2-40B4-BE49-F238E27FC236}">
                <a16:creationId xmlns:a16="http://schemas.microsoft.com/office/drawing/2014/main" id="{A17216D5-12D4-41FF-B98E-3F3F775C8690}"/>
              </a:ext>
            </a:extLst>
          </p:cNvPr>
          <p:cNvSpPr>
            <a:spLocks noGrp="1"/>
          </p:cNvSpPr>
          <p:nvPr/>
        </p:nvSpPr>
        <p:spPr>
          <a:xfrm>
            <a:off x="6446520" y="2781300"/>
            <a:ext cx="4937760" cy="8573"/>
          </a:xfrm>
          <a:prstGeom prst="rect">
            <a:avLst/>
          </a:prstGeom>
          <a:solidFill>
            <a:srgbClr val="E2DED5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Descrição Assistente de IA persistente">
            <a:extLst>
              <a:ext uri="{FF2B5EF4-FFF2-40B4-BE49-F238E27FC236}">
                <a16:creationId xmlns:a16="http://schemas.microsoft.com/office/drawing/2014/main" id="{EBD84290-6E74-47E7-994C-22A8F72634EB}"/>
              </a:ext>
            </a:extLst>
          </p:cNvPr>
          <p:cNvSpPr>
            <a:spLocks noGrp="1"/>
          </p:cNvSpPr>
          <p:nvPr/>
        </p:nvSpPr>
        <p:spPr>
          <a:xfrm>
            <a:off x="6446520" y="2952750"/>
            <a:ext cx="4937760" cy="819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600" b="0">
                <a:solidFill>
                  <a:srgbClr val="232322"/>
                </a:solidFill>
                <a:latin typeface="Liberation Sans"/>
                <a:ea typeface="Liberation Sans"/>
                <a:cs typeface="Liberation Sans"/>
              </a:defRPr>
            </a:defPPr>
          </a:lstStyle>
          <a:p>
            <a:pPr algn="l">
              <a:defRPr sz="1600" b="0">
                <a:solidFill>
                  <a:srgbClr val="232322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600" b="0">
                <a:solidFill>
                  <a:srgbClr val="232322"/>
                </a:solidFill>
                <a:latin typeface="Liberation Sans"/>
                <a:ea typeface="Liberation Sans"/>
                <a:cs typeface="Liberation Sans"/>
              </a:rPr>
              <a:t>Continuidade por dias, semanas ou meses.</a:t>
            </a:r>
          </a:p>
          <a:p>
            <a:pPr algn="l">
              <a:defRPr sz="1600" b="0">
                <a:solidFill>
                  <a:srgbClr val="232322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600" b="0">
                <a:solidFill>
                  <a:srgbClr val="232322"/>
                </a:solidFill>
                <a:latin typeface="Liberation Sans"/>
                <a:ea typeface="Liberation Sans"/>
                <a:cs typeface="Liberation Sans"/>
              </a:rPr>
              <a:t>Preserva contexto e preferências,</a:t>
            </a:r>
          </a:p>
          <a:p>
            <a:pPr algn="l">
              <a:defRPr sz="1600" b="0">
                <a:solidFill>
                  <a:srgbClr val="232322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600" b="0">
                <a:solidFill>
                  <a:srgbClr val="232322"/>
                </a:solidFill>
                <a:latin typeface="Liberation Sans"/>
                <a:ea typeface="Liberation Sans"/>
                <a:cs typeface="Liberation Sans"/>
              </a:rPr>
              <a:t>acompanha atividades e sinaliza pendências.</a:t>
            </a:r>
          </a:p>
        </p:txBody>
      </p:sp>
      <p:sp>
        <p:nvSpPr>
          <p:cNvPr id="18" name="Exemplo rótulo Assistente de IA persistente">
            <a:extLst>
              <a:ext uri="{FF2B5EF4-FFF2-40B4-BE49-F238E27FC236}">
                <a16:creationId xmlns:a16="http://schemas.microsoft.com/office/drawing/2014/main" id="{4C7ADF3C-DF03-44D4-A1DD-8D0080473D14}"/>
              </a:ext>
            </a:extLst>
          </p:cNvPr>
          <p:cNvSpPr>
            <a:spLocks noGrp="1"/>
          </p:cNvSpPr>
          <p:nvPr/>
        </p:nvSpPr>
        <p:spPr>
          <a:xfrm>
            <a:off x="6446520" y="4038600"/>
            <a:ext cx="4937760" cy="2190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050" b="1">
                <a:solidFill>
                  <a:srgbClr val="216476"/>
                </a:solidFill>
                <a:latin typeface="Liberation Sans"/>
                <a:ea typeface="Liberation Sans"/>
                <a:cs typeface="Liberation Sans"/>
              </a:defRPr>
            </a:defPPr>
          </a:lstStyle>
          <a:p>
            <a:pPr algn="l">
              <a:defRPr sz="1050" b="1">
                <a:solidFill>
                  <a:srgbClr val="21647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050" b="1">
                <a:solidFill>
                  <a:srgbClr val="216476"/>
                </a:solidFill>
                <a:latin typeface="Liberation Sans"/>
                <a:ea typeface="Liberation Sans"/>
                <a:cs typeface="Liberation Sans"/>
              </a:rPr>
              <a:t>EXEMPLO: ORGANIZAR UM EVENTO</a:t>
            </a:r>
          </a:p>
        </p:txBody>
      </p:sp>
      <p:sp>
        <p:nvSpPr>
          <p:cNvPr id="19" name="Exemplo Assistente de IA persistente">
            <a:extLst>
              <a:ext uri="{FF2B5EF4-FFF2-40B4-BE49-F238E27FC236}">
                <a16:creationId xmlns:a16="http://schemas.microsoft.com/office/drawing/2014/main" id="{7110FCCC-7B71-413C-9393-912FF19A0FD9}"/>
              </a:ext>
            </a:extLst>
          </p:cNvPr>
          <p:cNvSpPr>
            <a:spLocks noGrp="1"/>
          </p:cNvSpPr>
          <p:nvPr/>
        </p:nvSpPr>
        <p:spPr>
          <a:xfrm>
            <a:off x="6446520" y="4314825"/>
            <a:ext cx="4937760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600" b="0">
                <a:solidFill>
                  <a:srgbClr val="232322"/>
                </a:solidFill>
                <a:latin typeface="Liberation Sans"/>
                <a:ea typeface="Liberation Sans"/>
                <a:cs typeface="Liberation Sans"/>
              </a:defRPr>
            </a:defPPr>
          </a:lstStyle>
          <a:p>
            <a:pPr algn="l">
              <a:defRPr sz="1600" b="0">
                <a:solidFill>
                  <a:srgbClr val="232322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600" b="0">
                <a:solidFill>
                  <a:srgbClr val="232322"/>
                </a:solidFill>
                <a:latin typeface="Liberation Sans"/>
                <a:ea typeface="Liberation Sans"/>
                <a:cs typeface="Liberation Sans"/>
              </a:rPr>
              <a:t>“Acompanhe as respostas dos fornecedores</a:t>
            </a:r>
          </a:p>
          <a:p>
            <a:pPr algn="l">
              <a:defRPr sz="1600" b="0">
                <a:solidFill>
                  <a:srgbClr val="232322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600" b="0">
                <a:solidFill>
                  <a:srgbClr val="232322"/>
                </a:solidFill>
                <a:latin typeface="Liberation Sans"/>
                <a:ea typeface="Liberation Sans"/>
                <a:cs typeface="Liberation Sans"/>
              </a:rPr>
              <a:t>e me avise quando houver decisões.”</a:t>
            </a:r>
          </a:p>
        </p:txBody>
      </p:sp>
      <p:sp>
        <p:nvSpPr>
          <p:cNvPr id="20" name="Resultado Assistente de IA persistente">
            <a:extLst>
              <a:ext uri="{FF2B5EF4-FFF2-40B4-BE49-F238E27FC236}">
                <a16:creationId xmlns:a16="http://schemas.microsoft.com/office/drawing/2014/main" id="{2C62DDC8-C573-42BB-A704-5BBD841DB0EA}"/>
              </a:ext>
            </a:extLst>
          </p:cNvPr>
          <p:cNvSpPr>
            <a:spLocks noGrp="1"/>
          </p:cNvSpPr>
          <p:nvPr/>
        </p:nvSpPr>
        <p:spPr>
          <a:xfrm>
            <a:off x="6446520" y="5219700"/>
            <a:ext cx="493776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450" b="1">
                <a:solidFill>
                  <a:srgbClr val="232322"/>
                </a:solidFill>
                <a:latin typeface="Liberation Sans"/>
                <a:ea typeface="Liberation Sans"/>
                <a:cs typeface="Liberation Sans"/>
              </a:defRPr>
            </a:defPPr>
          </a:lstStyle>
          <a:p>
            <a:pPr algn="l">
              <a:defRPr sz="1450" b="1">
                <a:solidFill>
                  <a:srgbClr val="232322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450" b="1">
                <a:solidFill>
                  <a:srgbClr val="232322"/>
                </a:solidFill>
                <a:latin typeface="Liberation Sans"/>
                <a:ea typeface="Liberation Sans"/>
                <a:cs typeface="Liberation Sans"/>
              </a:rPr>
              <a:t>Resultado: acompanhamento, alertas e ações.</a:t>
            </a:r>
          </a:p>
        </p:txBody>
      </p:sp>
      <p:sp>
        <p:nvSpPr>
          <p:cNvPr id="21" name="Faixa de conclusão">
            <a:extLst>
              <a:ext uri="{FF2B5EF4-FFF2-40B4-BE49-F238E27FC236}">
                <a16:creationId xmlns:a16="http://schemas.microsoft.com/office/drawing/2014/main" id="{A9890B52-0DAF-415D-9B5A-3C0546CA1095}"/>
              </a:ext>
            </a:extLst>
          </p:cNvPr>
          <p:cNvSpPr>
            <a:spLocks noGrp="1"/>
          </p:cNvSpPr>
          <p:nvPr/>
        </p:nvSpPr>
        <p:spPr>
          <a:xfrm>
            <a:off x="594360" y="5882640"/>
            <a:ext cx="11003280" cy="396240"/>
          </a:xfrm>
          <a:prstGeom prst="rect">
            <a:avLst/>
          </a:prstGeom>
          <a:solidFill>
            <a:srgbClr val="EFECE5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Marca da conclusão">
            <a:extLst>
              <a:ext uri="{FF2B5EF4-FFF2-40B4-BE49-F238E27FC236}">
                <a16:creationId xmlns:a16="http://schemas.microsoft.com/office/drawing/2014/main" id="{D27C6F58-EF75-49B4-B12B-EE9B71CC354F}"/>
              </a:ext>
            </a:extLst>
          </p:cNvPr>
          <p:cNvSpPr>
            <a:spLocks noGrp="1"/>
          </p:cNvSpPr>
          <p:nvPr/>
        </p:nvSpPr>
        <p:spPr>
          <a:xfrm>
            <a:off x="594360" y="5882640"/>
            <a:ext cx="32004" cy="396240"/>
          </a:xfrm>
          <a:prstGeom prst="rect">
            <a:avLst/>
          </a:prstGeom>
          <a:solidFill>
            <a:srgbClr val="D64826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Conclusão">
            <a:extLst>
              <a:ext uri="{FF2B5EF4-FFF2-40B4-BE49-F238E27FC236}">
                <a16:creationId xmlns:a16="http://schemas.microsoft.com/office/drawing/2014/main" id="{7C087111-4C41-43BB-BBEB-F42B34FCEA2B}"/>
              </a:ext>
            </a:extLst>
          </p:cNvPr>
          <p:cNvSpPr>
            <a:spLocks noGrp="1"/>
          </p:cNvSpPr>
          <p:nvPr/>
        </p:nvSpPr>
        <p:spPr>
          <a:xfrm>
            <a:off x="762000" y="5968365"/>
            <a:ext cx="105727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750" b="1">
                <a:solidFill>
                  <a:srgbClr val="232322"/>
                </a:solidFill>
                <a:latin typeface="Liberation Sans"/>
                <a:ea typeface="Liberation Sans"/>
                <a:cs typeface="Liberation Sans"/>
              </a:defRPr>
            </a:defPPr>
          </a:lstStyle>
          <a:p>
            <a:pPr algn="l">
              <a:defRPr sz="1750" b="1">
                <a:solidFill>
                  <a:srgbClr val="232322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750" b="1">
                <a:solidFill>
                  <a:srgbClr val="232322"/>
                </a:solidFill>
                <a:latin typeface="Liberation Sans"/>
                <a:ea typeface="Liberation Sans"/>
                <a:cs typeface="Liberation Sans"/>
              </a:rPr>
              <a:t>As categorias podem se combinar. Você define acessos, limites e aprovações.</a:t>
            </a:r>
          </a:p>
        </p:txBody>
      </p:sp>
      <p:sp>
        <p:nvSpPr>
          <p:cNvPr id="24" name="Número do slide">
            <a:extLst>
              <a:ext uri="{FF2B5EF4-FFF2-40B4-BE49-F238E27FC236}">
                <a16:creationId xmlns:a16="http://schemas.microsoft.com/office/drawing/2014/main" id="{ED9600A6-B854-4554-ABDD-B736A50B32F7}"/>
              </a:ext>
            </a:extLst>
          </p:cNvPr>
          <p:cNvSpPr>
            <a:spLocks noGrp="1"/>
          </p:cNvSpPr>
          <p:nvPr/>
        </p:nvSpPr>
        <p:spPr>
          <a:xfrm>
            <a:off x="11258550" y="6515100"/>
            <a:ext cx="333375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r">
              <a:defRPr sz="1050" b="0">
                <a:solidFill>
                  <a:srgbClr val="8A8882"/>
                </a:solidFill>
                <a:latin typeface="Liberation Sans"/>
                <a:ea typeface="Liberation Sans"/>
                <a:cs typeface="Liberation Sans"/>
              </a:defRPr>
            </a:defPPr>
          </a:lstStyle>
          <a:p>
            <a:pPr algn="r">
              <a:defRPr sz="1050" b="0">
                <a:solidFill>
                  <a:srgbClr val="8A8882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050" b="0">
                <a:solidFill>
                  <a:srgbClr val="8A8882"/>
                </a:solidFill>
                <a:latin typeface="Liberation Sans"/>
                <a:ea typeface="Liberation Sans"/>
                <a:cs typeface="Liberation Sans"/>
              </a:rPr>
              <a:t>14</a:t>
            </a:r>
          </a:p>
        </p:txBody>
      </p:sp>
    </p:spTree>
    <p:extLst>
      <p:ext uri="{BB962C8B-B14F-4D97-AF65-F5344CB8AC3E}">
        <p14:creationId xmlns:p14="http://schemas.microsoft.com/office/powerpoint/2010/main" val="202475885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3232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erramentas da demonstração">
            <a:extLst>
              <a:ext uri="{FF2B5EF4-FFF2-40B4-BE49-F238E27FC236}">
                <a16:creationId xmlns:a16="http://schemas.microsoft.com/office/drawing/2014/main" id="{B3571BD2-C79E-4759-8D00-1D1C257A98DB}"/>
              </a:ext>
            </a:extLst>
          </p:cNvPr>
          <p:cNvSpPr>
            <a:spLocks noGrp="1"/>
          </p:cNvSpPr>
          <p:nvPr/>
        </p:nvSpPr>
        <p:spPr>
          <a:xfrm>
            <a:off x="609600" y="485775"/>
            <a:ext cx="10972800" cy="4953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2325" b="1">
                <a:solidFill>
                  <a:srgbClr val="FF9678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2325" b="1">
                <a:solidFill>
                  <a:srgbClr val="FF9678"/>
                </a:solidFill>
                <a:latin typeface="Liberation Sans"/>
                <a:ea typeface="Liberation Sans"/>
                <a:cs typeface="Liberation Sans"/>
              </a:rPr>
              <a:t>ChatGPT e Claude</a:t>
            </a:r>
          </a:p>
        </p:txBody>
      </p:sp>
      <p:sp>
        <p:nvSpPr>
          <p:cNvPr id="2" name="Demonstrações na prática">
            <a:extLst>
              <a:ext uri="{FF2B5EF4-FFF2-40B4-BE49-F238E27FC236}">
                <a16:creationId xmlns:a16="http://schemas.microsoft.com/office/drawing/2014/main" id="{C424BE42-3B95-4D62-9C5A-D6F9DD1650DF}"/>
              </a:ext>
            </a:extLst>
          </p:cNvPr>
          <p:cNvSpPr>
            <a:spLocks noGrp="1"/>
          </p:cNvSpPr>
          <p:nvPr/>
        </p:nvSpPr>
        <p:spPr>
          <a:xfrm>
            <a:off x="609600" y="1457325"/>
            <a:ext cx="10972800" cy="16573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4800" b="1">
                <a:solidFill>
                  <a:srgbClr val="FFFFFF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4800" b="1">
                <a:solidFill>
                  <a:srgbClr val="FFFFFF"/>
                </a:solidFill>
                <a:latin typeface="Liberation Sans"/>
                <a:ea typeface="Liberation Sans"/>
                <a:cs typeface="Liberation Sans"/>
              </a:rPr>
              <a:t>Demonstrações</a:t>
            </a:r>
          </a:p>
          <a:p>
            <a:pPr algn="l">
              <a:defRPr sz="4800" b="1">
                <a:solidFill>
                  <a:srgbClr val="FFFFFF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4800" b="1">
                <a:solidFill>
                  <a:srgbClr val="FFFFFF"/>
                </a:solidFill>
                <a:latin typeface="Liberation Sans"/>
                <a:ea typeface="Liberation Sans"/>
                <a:cs typeface="Liberation Sans"/>
              </a:rPr>
              <a:t>na prática</a:t>
            </a:r>
          </a:p>
        </p:txBody>
      </p:sp>
      <p:sp>
        <p:nvSpPr>
          <p:cNvPr id="3" name="Rotinas do secretariado">
            <a:extLst>
              <a:ext uri="{FF2B5EF4-FFF2-40B4-BE49-F238E27FC236}">
                <a16:creationId xmlns:a16="http://schemas.microsoft.com/office/drawing/2014/main" id="{5A4FB15C-BDDC-4A68-9E35-722DD65FA2F5}"/>
              </a:ext>
            </a:extLst>
          </p:cNvPr>
          <p:cNvSpPr>
            <a:spLocks noGrp="1"/>
          </p:cNvSpPr>
          <p:nvPr/>
        </p:nvSpPr>
        <p:spPr>
          <a:xfrm>
            <a:off x="609600" y="3581400"/>
            <a:ext cx="10972800" cy="7429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2700" b="0">
                <a:solidFill>
                  <a:srgbClr val="DFDCD4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2700" b="0">
                <a:solidFill>
                  <a:srgbClr val="DFDCD4"/>
                </a:solidFill>
                <a:latin typeface="Liberation Sans"/>
                <a:ea typeface="Liberation Sans"/>
                <a:cs typeface="Liberation Sans"/>
              </a:rPr>
              <a:t>Reuniões, atas e decisões do dia a dia</a:t>
            </a:r>
          </a:p>
        </p:txBody>
      </p:sp>
      <p:sp>
        <p:nvSpPr>
          <p:cNvPr id="4" name="Primeiro, dados fictícios; no fim, um caso real">
            <a:extLst>
              <a:ext uri="{FF2B5EF4-FFF2-40B4-BE49-F238E27FC236}">
                <a16:creationId xmlns:a16="http://schemas.microsoft.com/office/drawing/2014/main" id="{C389E63A-F27A-4442-8856-2077BFF9AB8A}"/>
              </a:ext>
            </a:extLst>
          </p:cNvPr>
          <p:cNvSpPr>
            <a:spLocks noGrp="1"/>
          </p:cNvSpPr>
          <p:nvPr/>
        </p:nvSpPr>
        <p:spPr>
          <a:xfrm>
            <a:off x="609600" y="5400675"/>
            <a:ext cx="10972800" cy="457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2100" b="0">
                <a:solidFill>
                  <a:srgbClr val="FFFFFF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2100" b="0">
                <a:solidFill>
                  <a:srgbClr val="FFFFFF"/>
                </a:solidFill>
                <a:latin typeface="Liberation Sans"/>
                <a:ea typeface="Liberation Sans"/>
                <a:cs typeface="Liberation Sans"/>
              </a:rPr>
              <a:t>Primeiro, dados fictícios; no fim, um caso real</a:t>
            </a:r>
          </a:p>
        </p:txBody>
      </p:sp>
      <p:sp>
        <p:nvSpPr>
          <p:cNvPr id="5" name="Número do slide">
            <a:extLst>
              <a:ext uri="{FF2B5EF4-FFF2-40B4-BE49-F238E27FC236}">
                <a16:creationId xmlns:a16="http://schemas.microsoft.com/office/drawing/2014/main" id="{4EB66672-2534-442D-8B64-6AB9824631D0}"/>
              </a:ext>
            </a:extLst>
          </p:cNvPr>
          <p:cNvSpPr>
            <a:spLocks noGrp="1"/>
          </p:cNvSpPr>
          <p:nvPr/>
        </p:nvSpPr>
        <p:spPr>
          <a:xfrm>
            <a:off x="11258550" y="6515100"/>
            <a:ext cx="333375" cy="1905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r">
              <a:defRPr sz="1050" b="0">
                <a:solidFill>
                  <a:srgbClr val="BEBBB3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050" b="0">
                <a:solidFill>
                  <a:srgbClr val="BEBBB3"/>
                </a:solidFill>
                <a:latin typeface="Liberation Sans"/>
                <a:ea typeface="Liberation Sans"/>
                <a:cs typeface="Liberation Sans"/>
              </a:rPr>
              <a:t>15</a:t>
            </a:r>
          </a:p>
        </p:txBody>
      </p:sp>
      <p:pic>
        <p:nvPicPr>
          <p:cNvPr id="8" name="QR Code - baixar material completo" descr="QR Code para baixar o material completo do Secretariado em arquivo ZIP pelo GitHub. https://github.com/LawrenceTeixeira/Secretariado/archive/refs/heads/main.zip">
            <a:hlinkClick r:id="rId4" tooltip="Baixar material completo em ZIP"/>
            <a:extLst>
              <a:ext uri="{FF2B5EF4-FFF2-40B4-BE49-F238E27FC236}">
                <a16:creationId xmlns:a16="http://schemas.microsoft.com/office/drawing/2014/main" id="{BDCA82D5-1439-0642-3F52-66D68FFACBE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01958" y="2090596"/>
            <a:ext cx="2372008" cy="2372008"/>
          </a:xfrm>
          <a:prstGeom prst="rect">
            <a:avLst/>
          </a:prstGeom>
        </p:spPr>
      </p:pic>
      <p:sp>
        <p:nvSpPr>
          <p:cNvPr id="9" name="download-material">
            <a:extLst>
              <a:ext uri="{FF2B5EF4-FFF2-40B4-BE49-F238E27FC236}">
                <a16:creationId xmlns:a16="http://schemas.microsoft.com/office/drawing/2014/main" id="{B19E7D3E-F119-4D86-A8A8-28F2E7B4D2D7}"/>
              </a:ext>
            </a:extLst>
          </p:cNvPr>
          <p:cNvSpPr>
            <a:spLocks noGrp="1"/>
          </p:cNvSpPr>
          <p:nvPr/>
        </p:nvSpPr>
        <p:spPr>
          <a:xfrm>
            <a:off x="8201025" y="4619625"/>
            <a:ext cx="2952750" cy="2952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>
            <a:defPPr algn="ctr">
              <a:defRPr sz="1650" b="1">
                <a:solidFill>
                  <a:srgbClr val="FF9678"/>
                </a:solidFill>
                <a:latin typeface="Liberation Sans"/>
                <a:ea typeface="Liberation Sans"/>
                <a:cs typeface="Liberation Sans"/>
              </a:defRPr>
            </a:defPPr>
          </a:lstStyle>
          <a:p>
            <a:pPr algn="ctr">
              <a:defRPr sz="1650" b="1">
                <a:solidFill>
                  <a:srgbClr val="FF9678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650" b="1">
                <a:solidFill>
                  <a:srgbClr val="FF9678"/>
                </a:solidFill>
                <a:latin typeface="Liberation Sans"/>
                <a:ea typeface="Liberation Sans"/>
                <a:cs typeface="Liberation Sans"/>
                <a:hlinkClick r:id="rId4"/>
              </a:rPr>
              <a:t>Baixar material completo</a:t>
            </a:r>
          </a:p>
        </p:txBody>
      </p:sp>
      <p:sp>
        <p:nvSpPr>
          <p:cNvPr id="10" name="download-format">
            <a:extLst>
              <a:ext uri="{FF2B5EF4-FFF2-40B4-BE49-F238E27FC236}">
                <a16:creationId xmlns:a16="http://schemas.microsoft.com/office/drawing/2014/main" id="{81DD7A92-3AF1-420C-9716-17E28EDA3665}"/>
              </a:ext>
            </a:extLst>
          </p:cNvPr>
          <p:cNvSpPr>
            <a:spLocks noGrp="1"/>
          </p:cNvSpPr>
          <p:nvPr/>
        </p:nvSpPr>
        <p:spPr>
          <a:xfrm>
            <a:off x="8201025" y="4943475"/>
            <a:ext cx="2952750" cy="2571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>
            <a:defPPr algn="ctr">
              <a:defRPr sz="1350" b="0">
                <a:solidFill>
                  <a:srgbClr val="DFDCD4"/>
                </a:solidFill>
                <a:latin typeface="Liberation Sans"/>
                <a:ea typeface="Liberation Sans"/>
                <a:cs typeface="Liberation Sans"/>
              </a:defRPr>
            </a:defPPr>
          </a:lstStyle>
          <a:p>
            <a:pPr algn="ctr">
              <a:defRPr sz="1350" b="0">
                <a:solidFill>
                  <a:srgbClr val="DFDCD4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 b="0">
                <a:solidFill>
                  <a:srgbClr val="DFDCD4"/>
                </a:solidFill>
                <a:latin typeface="Liberation Sans"/>
                <a:ea typeface="Liberation Sans"/>
                <a:cs typeface="Liberation Sans"/>
                <a:hlinkClick r:id="rId4"/>
              </a:rPr>
              <a:t>Arquivo ZIP · GitHub</a:t>
            </a:r>
          </a:p>
        </p:txBody>
      </p:sp>
    </p:spTree>
    <p:extLst>
      <p:ext uri="{BB962C8B-B14F-4D97-AF65-F5344CB8AC3E}">
        <p14:creationId xmlns:p14="http://schemas.microsoft.com/office/powerpoint/2010/main" val="117862530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3232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monstração com envio real">
            <a:extLst>
              <a:ext uri="{FF2B5EF4-FFF2-40B4-BE49-F238E27FC236}">
                <a16:creationId xmlns:a16="http://schemas.microsoft.com/office/drawing/2014/main" id="{558C88E5-8EAE-4AEB-BADE-7733522CC875}"/>
              </a:ext>
            </a:extLst>
          </p:cNvPr>
          <p:cNvSpPr>
            <a:spLocks noGrp="1"/>
          </p:cNvSpPr>
          <p:nvPr/>
        </p:nvSpPr>
        <p:spPr>
          <a:xfrm>
            <a:off x="609600" y="485775"/>
            <a:ext cx="10858500" cy="4953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 algn="l">
              <a:buNone/>
              <a:defRPr sz="2325" b="1">
                <a:solidFill>
                  <a:srgbClr val="FF9678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2325" b="1">
                <a:solidFill>
                  <a:srgbClr val="FF9678"/>
                </a:solidFill>
                <a:latin typeface="Liberation Sans"/>
                <a:ea typeface="Liberation Sans"/>
                <a:cs typeface="Liberation Sans"/>
              </a:rPr>
              <a:t>Demonstração com envio real</a:t>
            </a:r>
          </a:p>
        </p:txBody>
      </p:sp>
      <p:sp>
        <p:nvSpPr>
          <p:cNvPr id="3" name="Jarvis ao vivo">
            <a:extLst>
              <a:ext uri="{FF2B5EF4-FFF2-40B4-BE49-F238E27FC236}">
                <a16:creationId xmlns:a16="http://schemas.microsoft.com/office/drawing/2014/main" id="{22B78BDA-3622-4757-9B16-1F16CBEDC385}"/>
              </a:ext>
            </a:extLst>
          </p:cNvPr>
          <p:cNvSpPr>
            <a:spLocks noGrp="1"/>
          </p:cNvSpPr>
          <p:nvPr/>
        </p:nvSpPr>
        <p:spPr>
          <a:xfrm>
            <a:off x="609600" y="1400175"/>
            <a:ext cx="10725150" cy="1390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 algn="l">
              <a:buNone/>
              <a:defRPr sz="4725" b="1">
                <a:solidFill>
                  <a:srgbClr val="FFFFFF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4725" b="1">
                <a:solidFill>
                  <a:srgbClr val="FFFFFF"/>
                </a:solidFill>
                <a:latin typeface="Liberation Sans"/>
                <a:ea typeface="Liberation Sans"/>
                <a:cs typeface="Liberation Sans"/>
              </a:rPr>
              <a:t>Jarvis ao vivo</a:t>
            </a:r>
          </a:p>
        </p:txBody>
      </p:sp>
      <p:sp>
        <p:nvSpPr>
          <p:cNvPr id="4" name="Jarvis acha horários, monta a pauta, prepara convite e e-mai">
            <a:extLst>
              <a:ext uri="{FF2B5EF4-FFF2-40B4-BE49-F238E27FC236}">
                <a16:creationId xmlns:a16="http://schemas.microsoft.com/office/drawing/2014/main" id="{56BF9A62-5BBD-442E-ADB8-ECF7D0AC61F1}"/>
              </a:ext>
            </a:extLst>
          </p:cNvPr>
          <p:cNvSpPr>
            <a:spLocks noGrp="1"/>
          </p:cNvSpPr>
          <p:nvPr/>
        </p:nvSpPr>
        <p:spPr>
          <a:xfrm>
            <a:off x="609600" y="3524250"/>
            <a:ext cx="10725150" cy="1409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 algn="l">
              <a:buNone/>
              <a:defRPr sz="2625" b="0">
                <a:solidFill>
                  <a:srgbClr val="E1DDD4"/>
                </a:solidFill>
                <a:latin typeface="Liberation Sans"/>
                <a:ea typeface="Liberation Sans"/>
                <a:cs typeface="Liberation Sans"/>
              </a:defRPr>
            </a:pPr>
            <a:r>
              <a:rPr lang="en-US" sz="2625" b="0" dirty="0" err="1">
                <a:solidFill>
                  <a:srgbClr val="E1DDD4"/>
                </a:solidFill>
                <a:latin typeface="Liberation Sans"/>
                <a:ea typeface="Liberation Sans"/>
                <a:cs typeface="Liberation Sans"/>
              </a:rPr>
              <a:t>Apresentando</a:t>
            </a:r>
            <a:r>
              <a:rPr lang="en-US" sz="2625" b="0" dirty="0">
                <a:solidFill>
                  <a:srgbClr val="E1DDD4"/>
                </a:solidFill>
                <a:latin typeface="Liberation Sans"/>
                <a:ea typeface="Liberation Sans"/>
                <a:cs typeface="Liberation Sans"/>
              </a:rPr>
              <a:t> Jarvis para a plateia.</a:t>
            </a:r>
            <a:endParaRPr sz="2625" b="0" dirty="0">
              <a:solidFill>
                <a:srgbClr val="E1DDD4"/>
              </a:solidFill>
              <a:latin typeface="Liberation Sans"/>
              <a:ea typeface="Liberation Sans"/>
              <a:cs typeface="Liberation Sans"/>
            </a:endParaRPr>
          </a:p>
        </p:txBody>
      </p:sp>
      <p:sp>
        <p:nvSpPr>
          <p:cNvPr id="5" name="Ele prepara e executa. Quem confere e autoriza somos nós.">
            <a:extLst>
              <a:ext uri="{FF2B5EF4-FFF2-40B4-BE49-F238E27FC236}">
                <a16:creationId xmlns:a16="http://schemas.microsoft.com/office/drawing/2014/main" id="{5B433EBA-7F35-4A62-9A69-92E07220BC91}"/>
              </a:ext>
            </a:extLst>
          </p:cNvPr>
          <p:cNvSpPr>
            <a:spLocks noGrp="1"/>
          </p:cNvSpPr>
          <p:nvPr/>
        </p:nvSpPr>
        <p:spPr>
          <a:xfrm>
            <a:off x="609600" y="5334000"/>
            <a:ext cx="10763250" cy="857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 algn="l">
              <a:buNone/>
              <a:defRPr sz="2325" b="0">
                <a:solidFill>
                  <a:srgbClr val="FFFFFF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2325" b="0">
                <a:solidFill>
                  <a:srgbClr val="FFFFFF"/>
                </a:solidFill>
                <a:latin typeface="Liberation Sans"/>
                <a:ea typeface="Liberation Sans"/>
                <a:cs typeface="Liberation Sans"/>
              </a:rPr>
              <a:t>Ele prepara e executa. Quem confere e autoriza somos nós.</a:t>
            </a:r>
          </a:p>
        </p:txBody>
      </p:sp>
      <p:sp>
        <p:nvSpPr>
          <p:cNvPr id="6" name="16">
            <a:extLst>
              <a:ext uri="{FF2B5EF4-FFF2-40B4-BE49-F238E27FC236}">
                <a16:creationId xmlns:a16="http://schemas.microsoft.com/office/drawing/2014/main" id="{3E75DF3F-6DF3-4E31-BB18-5E79B17498D0}"/>
              </a:ext>
            </a:extLst>
          </p:cNvPr>
          <p:cNvSpPr>
            <a:spLocks noGrp="1"/>
          </p:cNvSpPr>
          <p:nvPr/>
        </p:nvSpPr>
        <p:spPr>
          <a:xfrm>
            <a:off x="11258550" y="6515100"/>
            <a:ext cx="333375" cy="1905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r">
              <a:buNone/>
              <a:defRPr sz="1050" b="0" i="0">
                <a:solidFill>
                  <a:srgbClr val="BEBBB3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050" b="0" i="0">
                <a:solidFill>
                  <a:srgbClr val="BEBBB3"/>
                </a:solidFill>
                <a:latin typeface="Liberation Sans"/>
                <a:ea typeface="Liberation Sans"/>
                <a:cs typeface="Liberation Sans"/>
              </a:rPr>
              <a:t>16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890CBA5E-FED5-71F8-5472-E2FE042FC34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14309" y="876300"/>
            <a:ext cx="2457450" cy="24574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864906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3232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Evento">
            <a:extLst>
              <a:ext uri="{FF2B5EF4-FFF2-40B4-BE49-F238E27FC236}">
                <a16:creationId xmlns:a16="http://schemas.microsoft.com/office/drawing/2014/main" id="{345CD36D-2463-4516-B469-8C0A8E7F4A4A}"/>
              </a:ext>
            </a:extLst>
          </p:cNvPr>
          <p:cNvSpPr>
            <a:spLocks noGrp="1"/>
          </p:cNvSpPr>
          <p:nvPr/>
        </p:nvSpPr>
        <p:spPr>
          <a:xfrm>
            <a:off x="609600" y="485775"/>
            <a:ext cx="10972800" cy="4953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2325" b="1">
                <a:solidFill>
                  <a:srgbClr val="FF9678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2325" b="1">
                <a:solidFill>
                  <a:srgbClr val="FF9678"/>
                </a:solidFill>
                <a:latin typeface="Liberation Sans"/>
                <a:ea typeface="Liberation Sans"/>
                <a:cs typeface="Liberation Sans"/>
              </a:rPr>
              <a:t>Secretariado Sob Medida</a:t>
            </a:r>
          </a:p>
        </p:txBody>
      </p:sp>
      <p:sp>
        <p:nvSpPr>
          <p:cNvPr id="2" name="Agradecimento">
            <a:extLst>
              <a:ext uri="{FF2B5EF4-FFF2-40B4-BE49-F238E27FC236}">
                <a16:creationId xmlns:a16="http://schemas.microsoft.com/office/drawing/2014/main" id="{A57E56FD-F485-4A9E-A8F4-4E5CA704267F}"/>
              </a:ext>
            </a:extLst>
          </p:cNvPr>
          <p:cNvSpPr>
            <a:spLocks noGrp="1"/>
          </p:cNvSpPr>
          <p:nvPr/>
        </p:nvSpPr>
        <p:spPr>
          <a:xfrm>
            <a:off x="609600" y="1695450"/>
            <a:ext cx="10972800" cy="12001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6300" b="1">
                <a:solidFill>
                  <a:srgbClr val="FFFFFF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6300" b="1">
                <a:solidFill>
                  <a:srgbClr val="FFFFFF"/>
                </a:solidFill>
                <a:latin typeface="Liberation Sans"/>
                <a:ea typeface="Liberation Sans"/>
                <a:cs typeface="Liberation Sans"/>
              </a:rPr>
              <a:t>Obrigado!</a:t>
            </a:r>
          </a:p>
        </p:txBody>
      </p:sp>
      <p:sp>
        <p:nvSpPr>
          <p:cNvPr id="3" name="Apresentador">
            <a:extLst>
              <a:ext uri="{FF2B5EF4-FFF2-40B4-BE49-F238E27FC236}">
                <a16:creationId xmlns:a16="http://schemas.microsoft.com/office/drawing/2014/main" id="{46F5CE32-3EB5-4BBF-9FE5-77AB1EE61AC6}"/>
              </a:ext>
            </a:extLst>
          </p:cNvPr>
          <p:cNvSpPr>
            <a:spLocks noGrp="1"/>
          </p:cNvSpPr>
          <p:nvPr/>
        </p:nvSpPr>
        <p:spPr>
          <a:xfrm>
            <a:off x="609600" y="3819525"/>
            <a:ext cx="10972800" cy="4953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2700" b="1">
                <a:solidFill>
                  <a:srgbClr val="DFDCD4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2700" b="1">
                <a:solidFill>
                  <a:srgbClr val="DFDCD4"/>
                </a:solidFill>
                <a:latin typeface="Liberation Sans"/>
                <a:ea typeface="Liberation Sans"/>
                <a:cs typeface="Liberation Sans"/>
              </a:rPr>
              <a:t>Lawrence Teixeira</a:t>
            </a:r>
          </a:p>
        </p:txBody>
      </p:sp>
      <p:sp>
        <p:nvSpPr>
          <p:cNvPr id="4" name="Contato">
            <a:extLst>
              <a:ext uri="{FF2B5EF4-FFF2-40B4-BE49-F238E27FC236}">
                <a16:creationId xmlns:a16="http://schemas.microsoft.com/office/drawing/2014/main" id="{9507AE65-1A73-4C33-9CD6-A4DF3EB977D4}"/>
              </a:ext>
            </a:extLst>
          </p:cNvPr>
          <p:cNvSpPr>
            <a:spLocks noGrp="1"/>
          </p:cNvSpPr>
          <p:nvPr/>
        </p:nvSpPr>
        <p:spPr>
          <a:xfrm>
            <a:off x="609600" y="4381500"/>
            <a:ext cx="10972800" cy="4953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2325" b="0">
                <a:solidFill>
                  <a:srgbClr val="FF9678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2325" b="0">
                <a:solidFill>
                  <a:srgbClr val="FF9678"/>
                </a:solidFill>
                <a:latin typeface="Liberation Sans"/>
                <a:ea typeface="Liberation Sans"/>
                <a:cs typeface="Liberation Sans"/>
              </a:rPr>
              <a:t>lawrence.eti.br</a:t>
            </a:r>
          </a:p>
        </p:txBody>
      </p:sp>
      <p:sp>
        <p:nvSpPr>
          <p:cNvPr id="5" name="Número do slide">
            <a:extLst>
              <a:ext uri="{FF2B5EF4-FFF2-40B4-BE49-F238E27FC236}">
                <a16:creationId xmlns:a16="http://schemas.microsoft.com/office/drawing/2014/main" id="{7F3C06EE-5A5F-405C-8C89-C4714FF600A2}"/>
              </a:ext>
            </a:extLst>
          </p:cNvPr>
          <p:cNvSpPr>
            <a:spLocks noGrp="1"/>
          </p:cNvSpPr>
          <p:nvPr/>
        </p:nvSpPr>
        <p:spPr>
          <a:xfrm>
            <a:off x="11258550" y="6515100"/>
            <a:ext cx="333375" cy="1905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r">
              <a:defRPr sz="1050" b="0">
                <a:solidFill>
                  <a:srgbClr val="BEBBB3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050" b="0">
                <a:solidFill>
                  <a:srgbClr val="BEBBB3"/>
                </a:solidFill>
                <a:latin typeface="Liberation Sans"/>
                <a:ea typeface="Liberation Sans"/>
                <a:cs typeface="Liberation Sans"/>
              </a:rPr>
              <a:t>17</a:t>
            </a:r>
          </a:p>
        </p:txBody>
      </p:sp>
      <p:pic>
        <p:nvPicPr>
          <p:cNvPr id="8" name="Imagem 7">
            <a:extLst>
              <a:ext uri="{FF2B5EF4-FFF2-40B4-BE49-F238E27FC236}">
                <a16:creationId xmlns:a16="http://schemas.microsoft.com/office/drawing/2014/main" id="{8C521E12-71E7-5C8E-8D32-E0969829E4C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7333673" y="2557840"/>
            <a:ext cx="2809122" cy="28091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1639325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Ferramentas: citadas e recursos extras">
            <a:extLst>
              <a:ext uri="{FF2B5EF4-FFF2-40B4-BE49-F238E27FC236}">
                <a16:creationId xmlns:a16="http://schemas.microsoft.com/office/drawing/2014/main" id="{515BB856-C090-4783-993A-F9DEBEFE36A1}"/>
              </a:ext>
            </a:extLst>
          </p:cNvPr>
          <p:cNvSpPr>
            <a:spLocks noGrp="1"/>
          </p:cNvSpPr>
          <p:nvPr/>
        </p:nvSpPr>
        <p:spPr>
          <a:xfrm>
            <a:off x="609600" y="419100"/>
            <a:ext cx="10972800" cy="685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  <a:defRPr sz="3450" b="1" i="0">
                <a:solidFill>
                  <a:srgbClr val="232322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3450" b="1" i="0">
                <a:solidFill>
                  <a:srgbClr val="232322"/>
                </a:solidFill>
                <a:latin typeface="Liberation Sans"/>
                <a:ea typeface="Liberation Sans"/>
                <a:cs typeface="Liberation Sans"/>
              </a:rPr>
              <a:t>Ferramentas: citadas e recursos extras</a:t>
            </a:r>
          </a:p>
        </p:txBody>
      </p:sp>
      <p:sp>
        <p:nvSpPr>
          <p:cNvPr id="2" name="Citadas na apresentação">
            <a:extLst>
              <a:ext uri="{FF2B5EF4-FFF2-40B4-BE49-F238E27FC236}">
                <a16:creationId xmlns:a16="http://schemas.microsoft.com/office/drawing/2014/main" id="{F858A803-6155-4492-8E7B-3BAC32720349}"/>
              </a:ext>
            </a:extLst>
          </p:cNvPr>
          <p:cNvSpPr>
            <a:spLocks noGrp="1"/>
          </p:cNvSpPr>
          <p:nvPr/>
        </p:nvSpPr>
        <p:spPr>
          <a:xfrm>
            <a:off x="609600" y="1543050"/>
            <a:ext cx="5238750" cy="361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  <a:defRPr sz="2025" b="1" i="0">
                <a:solidFill>
                  <a:srgbClr val="D6482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2025" b="1" i="0">
                <a:solidFill>
                  <a:srgbClr val="D64826"/>
                </a:solidFill>
                <a:latin typeface="Liberation Sans"/>
                <a:ea typeface="Liberation Sans"/>
                <a:cs typeface="Liberation Sans"/>
              </a:rPr>
              <a:t>Citadas na apresentação</a:t>
            </a:r>
          </a:p>
        </p:txBody>
      </p:sp>
      <p:sp>
        <p:nvSpPr>
          <p:cNvPr id="3" name="ChatGPT">
            <a:extLst>
              <a:ext uri="{FF2B5EF4-FFF2-40B4-BE49-F238E27FC236}">
                <a16:creationId xmlns:a16="http://schemas.microsoft.com/office/drawing/2014/main" id="{A4121D12-5297-45CF-AC71-C6CFAA961442}"/>
              </a:ext>
            </a:extLst>
          </p:cNvPr>
          <p:cNvSpPr>
            <a:spLocks noGrp="1"/>
          </p:cNvSpPr>
          <p:nvPr/>
        </p:nvSpPr>
        <p:spPr>
          <a:xfrm>
            <a:off x="609600" y="2076450"/>
            <a:ext cx="5191125" cy="2952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  <a:defRPr sz="1875" b="0" i="0">
                <a:solidFill>
                  <a:srgbClr val="21647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875" b="0" i="0">
                <a:solidFill>
                  <a:srgbClr val="216476"/>
                </a:solidFill>
                <a:latin typeface="Liberation Sans"/>
                <a:ea typeface="Liberation Sans"/>
                <a:cs typeface="Liberation Sans"/>
                <a:hlinkClick r:id="rId3"/>
              </a:rPr>
              <a:t>ChatGPT</a:t>
            </a:r>
          </a:p>
        </p:txBody>
      </p:sp>
      <p:sp>
        <p:nvSpPr>
          <p:cNvPr id="4" name="Claude">
            <a:extLst>
              <a:ext uri="{FF2B5EF4-FFF2-40B4-BE49-F238E27FC236}">
                <a16:creationId xmlns:a16="http://schemas.microsoft.com/office/drawing/2014/main" id="{32464630-216E-4C43-ABD6-76303A760CBB}"/>
              </a:ext>
            </a:extLst>
          </p:cNvPr>
          <p:cNvSpPr>
            <a:spLocks noGrp="1"/>
          </p:cNvSpPr>
          <p:nvPr/>
        </p:nvSpPr>
        <p:spPr>
          <a:xfrm>
            <a:off x="609600" y="2667000"/>
            <a:ext cx="5191125" cy="2952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  <a:defRPr sz="1875" b="0" i="0">
                <a:solidFill>
                  <a:srgbClr val="21647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875" b="0" i="0">
                <a:solidFill>
                  <a:srgbClr val="216476"/>
                </a:solidFill>
                <a:latin typeface="Liberation Sans"/>
                <a:ea typeface="Liberation Sans"/>
                <a:cs typeface="Liberation Sans"/>
                <a:hlinkClick r:id="rId4"/>
              </a:rPr>
              <a:t>Claude</a:t>
            </a:r>
          </a:p>
        </p:txBody>
      </p:sp>
      <p:sp>
        <p:nvSpPr>
          <p:cNvPr id="5" name="Gemini">
            <a:extLst>
              <a:ext uri="{FF2B5EF4-FFF2-40B4-BE49-F238E27FC236}">
                <a16:creationId xmlns:a16="http://schemas.microsoft.com/office/drawing/2014/main" id="{674B7C6A-29CB-448D-98C8-2BC6FAA7AAB2}"/>
              </a:ext>
            </a:extLst>
          </p:cNvPr>
          <p:cNvSpPr>
            <a:spLocks noGrp="1"/>
          </p:cNvSpPr>
          <p:nvPr/>
        </p:nvSpPr>
        <p:spPr>
          <a:xfrm>
            <a:off x="609600" y="3257550"/>
            <a:ext cx="5191125" cy="2952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  <a:defRPr sz="1875" b="0" i="0">
                <a:solidFill>
                  <a:srgbClr val="21647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875" b="0" i="0">
                <a:solidFill>
                  <a:srgbClr val="216476"/>
                </a:solidFill>
                <a:latin typeface="Liberation Sans"/>
                <a:ea typeface="Liberation Sans"/>
                <a:cs typeface="Liberation Sans"/>
                <a:hlinkClick r:id="rId5"/>
              </a:rPr>
              <a:t>Gemini</a:t>
            </a:r>
          </a:p>
        </p:txBody>
      </p:sp>
      <p:sp>
        <p:nvSpPr>
          <p:cNvPr id="6" name="dot">
            <a:extLst>
              <a:ext uri="{FF2B5EF4-FFF2-40B4-BE49-F238E27FC236}">
                <a16:creationId xmlns:a16="http://schemas.microsoft.com/office/drawing/2014/main" id="{12555111-DA2B-4E9F-A832-DABFB979E8D5}"/>
              </a:ext>
            </a:extLst>
          </p:cNvPr>
          <p:cNvSpPr>
            <a:spLocks noGrp="1"/>
          </p:cNvSpPr>
          <p:nvPr/>
        </p:nvSpPr>
        <p:spPr>
          <a:xfrm>
            <a:off x="609600" y="3848100"/>
            <a:ext cx="5191125" cy="2952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  <a:defRPr sz="1875" b="0" i="0">
                <a:solidFill>
                  <a:srgbClr val="21647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875" b="0" i="0">
                <a:solidFill>
                  <a:srgbClr val="216476"/>
                </a:solidFill>
                <a:latin typeface="Liberation Sans"/>
                <a:ea typeface="Liberation Sans"/>
                <a:cs typeface="Liberation Sans"/>
                <a:hlinkClick r:id="rId6"/>
              </a:rPr>
              <a:t>dot</a:t>
            </a:r>
          </a:p>
        </p:txBody>
      </p:sp>
      <p:sp>
        <p:nvSpPr>
          <p:cNvPr id="7" name="Muse">
            <a:extLst>
              <a:ext uri="{FF2B5EF4-FFF2-40B4-BE49-F238E27FC236}">
                <a16:creationId xmlns:a16="http://schemas.microsoft.com/office/drawing/2014/main" id="{51433186-32FE-4BF1-8984-C9F14DB88C88}"/>
              </a:ext>
            </a:extLst>
          </p:cNvPr>
          <p:cNvSpPr>
            <a:spLocks noGrp="1"/>
          </p:cNvSpPr>
          <p:nvPr/>
        </p:nvSpPr>
        <p:spPr>
          <a:xfrm>
            <a:off x="609600" y="4438650"/>
            <a:ext cx="5191125" cy="2952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  <a:defRPr sz="1875" b="0" i="0">
                <a:solidFill>
                  <a:srgbClr val="21647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875" b="0" i="0">
                <a:solidFill>
                  <a:srgbClr val="216476"/>
                </a:solidFill>
                <a:latin typeface="Liberation Sans"/>
                <a:ea typeface="Liberation Sans"/>
                <a:cs typeface="Liberation Sans"/>
                <a:hlinkClick r:id="rId7"/>
              </a:rPr>
              <a:t>Muse</a:t>
            </a:r>
          </a:p>
        </p:txBody>
      </p:sp>
      <p:sp>
        <p:nvSpPr>
          <p:cNvPr id="8" name="Grok Bot">
            <a:extLst>
              <a:ext uri="{FF2B5EF4-FFF2-40B4-BE49-F238E27FC236}">
                <a16:creationId xmlns:a16="http://schemas.microsoft.com/office/drawing/2014/main" id="{2D2C8A0D-DBF1-4E8C-BDA5-B54A214A6808}"/>
              </a:ext>
            </a:extLst>
          </p:cNvPr>
          <p:cNvSpPr>
            <a:spLocks noGrp="1"/>
          </p:cNvSpPr>
          <p:nvPr/>
        </p:nvSpPr>
        <p:spPr>
          <a:xfrm>
            <a:off x="609600" y="5029200"/>
            <a:ext cx="5191125" cy="2952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  <a:defRPr sz="1875" b="0" i="0">
                <a:solidFill>
                  <a:srgbClr val="21647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875" b="0" i="0">
                <a:solidFill>
                  <a:srgbClr val="216476"/>
                </a:solidFill>
                <a:latin typeface="Liberation Sans"/>
                <a:ea typeface="Liberation Sans"/>
                <a:cs typeface="Liberation Sans"/>
                <a:hlinkClick r:id="rId8"/>
              </a:rPr>
              <a:t>Grok Bot</a:t>
            </a:r>
          </a:p>
        </p:txBody>
      </p:sp>
      <p:sp>
        <p:nvSpPr>
          <p:cNvPr id="9" name="Recursos extras para explorar">
            <a:extLst>
              <a:ext uri="{FF2B5EF4-FFF2-40B4-BE49-F238E27FC236}">
                <a16:creationId xmlns:a16="http://schemas.microsoft.com/office/drawing/2014/main" id="{7F7E46A1-2242-4C30-A8F4-F4AF485DB785}"/>
              </a:ext>
            </a:extLst>
          </p:cNvPr>
          <p:cNvSpPr>
            <a:spLocks noGrp="1"/>
          </p:cNvSpPr>
          <p:nvPr/>
        </p:nvSpPr>
        <p:spPr>
          <a:xfrm>
            <a:off x="6419850" y="1543050"/>
            <a:ext cx="5162550" cy="361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  <a:defRPr sz="2025" b="1" i="0">
                <a:solidFill>
                  <a:srgbClr val="D6482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2025" b="1" i="0">
                <a:solidFill>
                  <a:srgbClr val="D64826"/>
                </a:solidFill>
                <a:latin typeface="Liberation Sans"/>
                <a:ea typeface="Liberation Sans"/>
                <a:cs typeface="Liberation Sans"/>
              </a:rPr>
              <a:t>Recursos extras para explorar</a:t>
            </a:r>
          </a:p>
        </p:txBody>
      </p:sp>
      <p:sp>
        <p:nvSpPr>
          <p:cNvPr id="10" name="Gemini Notebook">
            <a:extLst>
              <a:ext uri="{FF2B5EF4-FFF2-40B4-BE49-F238E27FC236}">
                <a16:creationId xmlns:a16="http://schemas.microsoft.com/office/drawing/2014/main" id="{B6BDB5E0-BCCC-43F3-97B3-35A4E1CAD063}"/>
              </a:ext>
            </a:extLst>
          </p:cNvPr>
          <p:cNvSpPr>
            <a:spLocks noGrp="1"/>
          </p:cNvSpPr>
          <p:nvPr/>
        </p:nvSpPr>
        <p:spPr>
          <a:xfrm>
            <a:off x="6419850" y="2076450"/>
            <a:ext cx="5162550" cy="2952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  <a:defRPr sz="1725" b="0" i="0">
                <a:solidFill>
                  <a:srgbClr val="21647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725" b="0" i="0">
                <a:solidFill>
                  <a:srgbClr val="216476"/>
                </a:solidFill>
                <a:latin typeface="Liberation Sans"/>
                <a:ea typeface="Liberation Sans"/>
                <a:cs typeface="Liberation Sans"/>
                <a:hlinkClick r:id="rId9"/>
              </a:rPr>
              <a:t>Gemini Notebook</a:t>
            </a:r>
          </a:p>
        </p:txBody>
      </p:sp>
      <p:sp>
        <p:nvSpPr>
          <p:cNvPr id="11" name="Pesquisa e síntese com fontes">
            <a:extLst>
              <a:ext uri="{FF2B5EF4-FFF2-40B4-BE49-F238E27FC236}">
                <a16:creationId xmlns:a16="http://schemas.microsoft.com/office/drawing/2014/main" id="{70375CA5-5BD1-4349-9855-F6E23ADBAFE2}"/>
              </a:ext>
            </a:extLst>
          </p:cNvPr>
          <p:cNvSpPr>
            <a:spLocks noGrp="1"/>
          </p:cNvSpPr>
          <p:nvPr/>
        </p:nvSpPr>
        <p:spPr>
          <a:xfrm>
            <a:off x="6419850" y="2381250"/>
            <a:ext cx="5162550" cy="2190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  <a:defRPr sz="1125" b="0" i="0">
                <a:solidFill>
                  <a:srgbClr val="666660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125" b="0" i="0">
                <a:solidFill>
                  <a:srgbClr val="666660"/>
                </a:solidFill>
                <a:latin typeface="Liberation Sans"/>
                <a:ea typeface="Liberation Sans"/>
                <a:cs typeface="Liberation Sans"/>
              </a:rPr>
              <a:t>Pesquisa e síntese com fontes</a:t>
            </a:r>
          </a:p>
        </p:txBody>
      </p:sp>
      <p:sp>
        <p:nvSpPr>
          <p:cNvPr id="12" name="Microsoft Copilot">
            <a:extLst>
              <a:ext uri="{FF2B5EF4-FFF2-40B4-BE49-F238E27FC236}">
                <a16:creationId xmlns:a16="http://schemas.microsoft.com/office/drawing/2014/main" id="{628DA233-D97A-450D-942D-50FA81EA7B4D}"/>
              </a:ext>
            </a:extLst>
          </p:cNvPr>
          <p:cNvSpPr>
            <a:spLocks noGrp="1"/>
          </p:cNvSpPr>
          <p:nvPr/>
        </p:nvSpPr>
        <p:spPr>
          <a:xfrm>
            <a:off x="6419850" y="2714625"/>
            <a:ext cx="5162550" cy="2952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  <a:defRPr sz="1725" b="0" i="0">
                <a:solidFill>
                  <a:srgbClr val="21647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725" b="0" i="0">
                <a:solidFill>
                  <a:srgbClr val="216476"/>
                </a:solidFill>
                <a:latin typeface="Liberation Sans"/>
                <a:ea typeface="Liberation Sans"/>
                <a:cs typeface="Liberation Sans"/>
                <a:hlinkClick r:id="rId10"/>
              </a:rPr>
              <a:t>Microsoft Copilot</a:t>
            </a:r>
          </a:p>
        </p:txBody>
      </p:sp>
      <p:sp>
        <p:nvSpPr>
          <p:cNvPr id="13" name="Assistência no ecossistema Microsoft">
            <a:extLst>
              <a:ext uri="{FF2B5EF4-FFF2-40B4-BE49-F238E27FC236}">
                <a16:creationId xmlns:a16="http://schemas.microsoft.com/office/drawing/2014/main" id="{9FF82FE6-7D0F-4950-AC53-C0CEABE22EDA}"/>
              </a:ext>
            </a:extLst>
          </p:cNvPr>
          <p:cNvSpPr>
            <a:spLocks noGrp="1"/>
          </p:cNvSpPr>
          <p:nvPr/>
        </p:nvSpPr>
        <p:spPr>
          <a:xfrm>
            <a:off x="6419850" y="3019425"/>
            <a:ext cx="5162550" cy="2190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  <a:defRPr sz="1125" b="0" i="0">
                <a:solidFill>
                  <a:srgbClr val="666660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125" b="0" i="0">
                <a:solidFill>
                  <a:srgbClr val="666660"/>
                </a:solidFill>
                <a:latin typeface="Liberation Sans"/>
                <a:ea typeface="Liberation Sans"/>
                <a:cs typeface="Liberation Sans"/>
              </a:rPr>
              <a:t>Assistência no ecossistema Microsoft</a:t>
            </a:r>
          </a:p>
        </p:txBody>
      </p:sp>
      <p:sp>
        <p:nvSpPr>
          <p:cNvPr id="14" name="Fireflies">
            <a:extLst>
              <a:ext uri="{FF2B5EF4-FFF2-40B4-BE49-F238E27FC236}">
                <a16:creationId xmlns:a16="http://schemas.microsoft.com/office/drawing/2014/main" id="{2887E2DE-3EA9-49E6-856A-1D4EEE767575}"/>
              </a:ext>
            </a:extLst>
          </p:cNvPr>
          <p:cNvSpPr>
            <a:spLocks noGrp="1"/>
          </p:cNvSpPr>
          <p:nvPr/>
        </p:nvSpPr>
        <p:spPr>
          <a:xfrm>
            <a:off x="6419850" y="3352800"/>
            <a:ext cx="5162550" cy="2952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  <a:defRPr sz="1725" b="0" i="0">
                <a:solidFill>
                  <a:srgbClr val="21647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725" b="0" i="0">
                <a:solidFill>
                  <a:srgbClr val="216476"/>
                </a:solidFill>
                <a:latin typeface="Liberation Sans"/>
                <a:ea typeface="Liberation Sans"/>
                <a:cs typeface="Liberation Sans"/>
                <a:hlinkClick r:id="rId11"/>
              </a:rPr>
              <a:t>Fireflies</a:t>
            </a:r>
          </a:p>
        </p:txBody>
      </p:sp>
      <p:sp>
        <p:nvSpPr>
          <p:cNvPr id="15" name="Registros e acompanhamento de reuniões">
            <a:extLst>
              <a:ext uri="{FF2B5EF4-FFF2-40B4-BE49-F238E27FC236}">
                <a16:creationId xmlns:a16="http://schemas.microsoft.com/office/drawing/2014/main" id="{8A269E7D-2A6C-4B5D-86B0-6C44B04B9C33}"/>
              </a:ext>
            </a:extLst>
          </p:cNvPr>
          <p:cNvSpPr>
            <a:spLocks noGrp="1"/>
          </p:cNvSpPr>
          <p:nvPr/>
        </p:nvSpPr>
        <p:spPr>
          <a:xfrm>
            <a:off x="6419850" y="3657600"/>
            <a:ext cx="5162550" cy="2190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  <a:defRPr sz="1125" b="0" i="0">
                <a:solidFill>
                  <a:srgbClr val="666660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125" b="0" i="0">
                <a:solidFill>
                  <a:srgbClr val="666660"/>
                </a:solidFill>
                <a:latin typeface="Liberation Sans"/>
                <a:ea typeface="Liberation Sans"/>
                <a:cs typeface="Liberation Sans"/>
              </a:rPr>
              <a:t>Registros e acompanhamento de reuniões</a:t>
            </a:r>
          </a:p>
        </p:txBody>
      </p:sp>
      <p:sp>
        <p:nvSpPr>
          <p:cNvPr id="16" name="Gamma">
            <a:extLst>
              <a:ext uri="{FF2B5EF4-FFF2-40B4-BE49-F238E27FC236}">
                <a16:creationId xmlns:a16="http://schemas.microsoft.com/office/drawing/2014/main" id="{1BB247E2-D9DF-4666-875A-3F9069FE175A}"/>
              </a:ext>
            </a:extLst>
          </p:cNvPr>
          <p:cNvSpPr>
            <a:spLocks noGrp="1"/>
          </p:cNvSpPr>
          <p:nvPr/>
        </p:nvSpPr>
        <p:spPr>
          <a:xfrm>
            <a:off x="6419850" y="3990975"/>
            <a:ext cx="5162550" cy="2952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  <a:defRPr sz="1725" b="0" i="0">
                <a:solidFill>
                  <a:srgbClr val="21647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725" b="0" i="0">
                <a:solidFill>
                  <a:srgbClr val="216476"/>
                </a:solidFill>
                <a:latin typeface="Liberation Sans"/>
                <a:ea typeface="Liberation Sans"/>
                <a:cs typeface="Liberation Sans"/>
                <a:hlinkClick r:id="rId12"/>
              </a:rPr>
              <a:t>Gamma</a:t>
            </a:r>
          </a:p>
        </p:txBody>
      </p:sp>
      <p:sp>
        <p:nvSpPr>
          <p:cNvPr id="17" name="Apoio à criação de apresentações">
            <a:extLst>
              <a:ext uri="{FF2B5EF4-FFF2-40B4-BE49-F238E27FC236}">
                <a16:creationId xmlns:a16="http://schemas.microsoft.com/office/drawing/2014/main" id="{3D39EB5F-49CB-452F-8581-CCB992925ADB}"/>
              </a:ext>
            </a:extLst>
          </p:cNvPr>
          <p:cNvSpPr>
            <a:spLocks noGrp="1"/>
          </p:cNvSpPr>
          <p:nvPr/>
        </p:nvSpPr>
        <p:spPr>
          <a:xfrm>
            <a:off x="6419850" y="4295775"/>
            <a:ext cx="5162550" cy="2190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  <a:defRPr sz="1125" b="0" i="0">
                <a:solidFill>
                  <a:srgbClr val="666660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125" b="0" i="0">
                <a:solidFill>
                  <a:srgbClr val="666660"/>
                </a:solidFill>
                <a:latin typeface="Liberation Sans"/>
                <a:ea typeface="Liberation Sans"/>
                <a:cs typeface="Liberation Sans"/>
              </a:rPr>
              <a:t>Apoio à criação de apresentações</a:t>
            </a:r>
          </a:p>
        </p:txBody>
      </p:sp>
      <p:sp>
        <p:nvSpPr>
          <p:cNvPr id="18" name="Zapier Agents">
            <a:extLst>
              <a:ext uri="{FF2B5EF4-FFF2-40B4-BE49-F238E27FC236}">
                <a16:creationId xmlns:a16="http://schemas.microsoft.com/office/drawing/2014/main" id="{5696C49E-8850-470C-B75C-9C771A3D6CDF}"/>
              </a:ext>
            </a:extLst>
          </p:cNvPr>
          <p:cNvSpPr>
            <a:spLocks noGrp="1"/>
          </p:cNvSpPr>
          <p:nvPr/>
        </p:nvSpPr>
        <p:spPr>
          <a:xfrm>
            <a:off x="6419850" y="4629150"/>
            <a:ext cx="5162550" cy="2952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  <a:defRPr sz="1725" b="0" i="0">
                <a:solidFill>
                  <a:srgbClr val="21647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725" b="0" i="0">
                <a:solidFill>
                  <a:srgbClr val="216476"/>
                </a:solidFill>
                <a:latin typeface="Liberation Sans"/>
                <a:ea typeface="Liberation Sans"/>
                <a:cs typeface="Liberation Sans"/>
                <a:hlinkClick r:id="rId13"/>
              </a:rPr>
              <a:t>Zapier Agents</a:t>
            </a:r>
          </a:p>
        </p:txBody>
      </p:sp>
      <p:sp>
        <p:nvSpPr>
          <p:cNvPr id="19" name="Automação com apps conectados">
            <a:extLst>
              <a:ext uri="{FF2B5EF4-FFF2-40B4-BE49-F238E27FC236}">
                <a16:creationId xmlns:a16="http://schemas.microsoft.com/office/drawing/2014/main" id="{8262C533-E006-482B-A072-1AF302A67359}"/>
              </a:ext>
            </a:extLst>
          </p:cNvPr>
          <p:cNvSpPr>
            <a:spLocks noGrp="1"/>
          </p:cNvSpPr>
          <p:nvPr/>
        </p:nvSpPr>
        <p:spPr>
          <a:xfrm>
            <a:off x="6419850" y="4933950"/>
            <a:ext cx="5162550" cy="2190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  <a:defRPr sz="1125" b="0" i="0">
                <a:solidFill>
                  <a:srgbClr val="666660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125" b="0" i="0">
                <a:solidFill>
                  <a:srgbClr val="666660"/>
                </a:solidFill>
                <a:latin typeface="Liberation Sans"/>
                <a:ea typeface="Liberation Sans"/>
                <a:cs typeface="Liberation Sans"/>
              </a:rPr>
              <a:t>Automação com apps conectados</a:t>
            </a:r>
          </a:p>
        </p:txBody>
      </p:sp>
      <p:sp>
        <p:nvSpPr>
          <p:cNvPr id="22" name="Links clicáveis. Exemplos para consulta, sem recomendaç">
            <a:extLst>
              <a:ext uri="{FF2B5EF4-FFF2-40B4-BE49-F238E27FC236}">
                <a16:creationId xmlns:a16="http://schemas.microsoft.com/office/drawing/2014/main" id="{DFA6CA72-76F9-4779-8AE7-FBBC115F9C59}"/>
              </a:ext>
            </a:extLst>
          </p:cNvPr>
          <p:cNvSpPr>
            <a:spLocks noGrp="1"/>
          </p:cNvSpPr>
          <p:nvPr/>
        </p:nvSpPr>
        <p:spPr>
          <a:xfrm>
            <a:off x="609600" y="6276975"/>
            <a:ext cx="10572750" cy="3333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  <a:defRPr sz="1013" b="0" i="0">
                <a:solidFill>
                  <a:srgbClr val="666660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013" b="0" i="0">
                <a:solidFill>
                  <a:srgbClr val="666660"/>
                </a:solidFill>
                <a:latin typeface="Liberation Sans"/>
                <a:ea typeface="Liberation Sans"/>
                <a:cs typeface="Liberation Sans"/>
              </a:rPr>
              <a:t>Links clicáveis. Exemplos para consulta, sem recomendação de compra. Use ferramentas aprovadas pela organização.</a:t>
            </a:r>
          </a:p>
        </p:txBody>
      </p:sp>
      <p:sp>
        <p:nvSpPr>
          <p:cNvPr id="23" name="18">
            <a:extLst>
              <a:ext uri="{FF2B5EF4-FFF2-40B4-BE49-F238E27FC236}">
                <a16:creationId xmlns:a16="http://schemas.microsoft.com/office/drawing/2014/main" id="{CD36FB25-192F-491F-A003-25AEC68FEBAF}"/>
              </a:ext>
            </a:extLst>
          </p:cNvPr>
          <p:cNvSpPr>
            <a:spLocks noGrp="1"/>
          </p:cNvSpPr>
          <p:nvPr/>
        </p:nvSpPr>
        <p:spPr>
          <a:xfrm>
            <a:off x="11258550" y="6515100"/>
            <a:ext cx="333375" cy="1905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r">
              <a:buNone/>
              <a:defRPr sz="1050" b="0" i="0">
                <a:solidFill>
                  <a:srgbClr val="8A8882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050" b="0" i="0">
                <a:solidFill>
                  <a:srgbClr val="8A8882"/>
                </a:solidFill>
                <a:latin typeface="Liberation Sans"/>
                <a:ea typeface="Liberation Sans"/>
                <a:cs typeface="Liberation Sans"/>
              </a:rPr>
              <a:t>18</a:t>
            </a:r>
          </a:p>
        </p:txBody>
      </p:sp>
    </p:spTree>
    <p:extLst>
      <p:ext uri="{BB962C8B-B14F-4D97-AF65-F5344CB8AC3E}">
        <p14:creationId xmlns:p14="http://schemas.microsoft.com/office/powerpoint/2010/main" val="35970962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ara aprender e acompanhar">
            <a:extLst>
              <a:ext uri="{FF2B5EF4-FFF2-40B4-BE49-F238E27FC236}">
                <a16:creationId xmlns:a16="http://schemas.microsoft.com/office/drawing/2014/main" id="{80253C1A-2EAF-413B-8EE6-13727C08AE0D}"/>
              </a:ext>
            </a:extLst>
          </p:cNvPr>
          <p:cNvSpPr>
            <a:spLocks noGrp="1"/>
          </p:cNvSpPr>
          <p:nvPr/>
        </p:nvSpPr>
        <p:spPr>
          <a:xfrm>
            <a:off x="609600" y="419100"/>
            <a:ext cx="10972800" cy="685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  <a:defRPr sz="3450" b="1" i="0">
                <a:solidFill>
                  <a:srgbClr val="232322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3450" b="1" i="0">
                <a:solidFill>
                  <a:srgbClr val="232322"/>
                </a:solidFill>
                <a:latin typeface="Liberation Sans"/>
                <a:ea typeface="Liberation Sans"/>
                <a:cs typeface="Liberation Sans"/>
              </a:rPr>
              <a:t>Para aprender e acompanhar</a:t>
            </a:r>
          </a:p>
        </p:txBody>
      </p:sp>
      <p:sp>
        <p:nvSpPr>
          <p:cNvPr id="2" name="Aprender a usar">
            <a:extLst>
              <a:ext uri="{FF2B5EF4-FFF2-40B4-BE49-F238E27FC236}">
                <a16:creationId xmlns:a16="http://schemas.microsoft.com/office/drawing/2014/main" id="{DBF91395-EE0F-4106-8586-F32E68CE404A}"/>
              </a:ext>
            </a:extLst>
          </p:cNvPr>
          <p:cNvSpPr>
            <a:spLocks noGrp="1"/>
          </p:cNvSpPr>
          <p:nvPr/>
        </p:nvSpPr>
        <p:spPr>
          <a:xfrm>
            <a:off x="609600" y="1552575"/>
            <a:ext cx="5143500" cy="361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  <a:defRPr sz="2100" b="1" i="0">
                <a:solidFill>
                  <a:srgbClr val="D6482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2100" b="1" i="0">
                <a:solidFill>
                  <a:srgbClr val="D64826"/>
                </a:solidFill>
                <a:latin typeface="Liberation Sans"/>
                <a:ea typeface="Liberation Sans"/>
                <a:cs typeface="Liberation Sans"/>
              </a:rPr>
              <a:t>Aprender a usar</a:t>
            </a:r>
          </a:p>
        </p:txBody>
      </p:sp>
      <p:sp>
        <p:nvSpPr>
          <p:cNvPr id="3" name="Ajuda do ChatGPT">
            <a:extLst>
              <a:ext uri="{FF2B5EF4-FFF2-40B4-BE49-F238E27FC236}">
                <a16:creationId xmlns:a16="http://schemas.microsoft.com/office/drawing/2014/main" id="{16D59DBD-BE00-470A-BEC0-DE4C2D98AC16}"/>
              </a:ext>
            </a:extLst>
          </p:cNvPr>
          <p:cNvSpPr>
            <a:spLocks noGrp="1"/>
          </p:cNvSpPr>
          <p:nvPr/>
        </p:nvSpPr>
        <p:spPr>
          <a:xfrm>
            <a:off x="609600" y="2095500"/>
            <a:ext cx="5181600" cy="2952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  <a:defRPr sz="1800" b="0" i="0">
                <a:solidFill>
                  <a:srgbClr val="21647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800" b="0" i="0">
                <a:solidFill>
                  <a:srgbClr val="216476"/>
                </a:solidFill>
                <a:latin typeface="Liberation Sans"/>
                <a:ea typeface="Liberation Sans"/>
                <a:cs typeface="Liberation Sans"/>
                <a:hlinkClick r:id="rId3"/>
              </a:rPr>
              <a:t>Ajuda do ChatGPT</a:t>
            </a:r>
          </a:p>
        </p:txBody>
      </p:sp>
      <p:sp>
        <p:nvSpPr>
          <p:cNvPr id="4" name="Ajuda do Claude">
            <a:extLst>
              <a:ext uri="{FF2B5EF4-FFF2-40B4-BE49-F238E27FC236}">
                <a16:creationId xmlns:a16="http://schemas.microsoft.com/office/drawing/2014/main" id="{4D29B0A5-C0B7-4249-81BE-E0B729921131}"/>
              </a:ext>
            </a:extLst>
          </p:cNvPr>
          <p:cNvSpPr>
            <a:spLocks noGrp="1"/>
          </p:cNvSpPr>
          <p:nvPr/>
        </p:nvSpPr>
        <p:spPr>
          <a:xfrm>
            <a:off x="609600" y="2714625"/>
            <a:ext cx="5181600" cy="2952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  <a:defRPr sz="1800" b="0" i="0">
                <a:solidFill>
                  <a:srgbClr val="21647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800" b="0" i="0">
                <a:solidFill>
                  <a:srgbClr val="216476"/>
                </a:solidFill>
                <a:latin typeface="Liberation Sans"/>
                <a:ea typeface="Liberation Sans"/>
                <a:cs typeface="Liberation Sans"/>
                <a:hlinkClick r:id="rId4"/>
              </a:rPr>
              <a:t>Ajuda do Claude</a:t>
            </a:r>
          </a:p>
        </p:txBody>
      </p:sp>
      <p:sp>
        <p:nvSpPr>
          <p:cNvPr id="5" name="Novidades do Gemini">
            <a:extLst>
              <a:ext uri="{FF2B5EF4-FFF2-40B4-BE49-F238E27FC236}">
                <a16:creationId xmlns:a16="http://schemas.microsoft.com/office/drawing/2014/main" id="{D0C0C58F-6C1B-4B4A-BC71-79D281833923}"/>
              </a:ext>
            </a:extLst>
          </p:cNvPr>
          <p:cNvSpPr>
            <a:spLocks noGrp="1"/>
          </p:cNvSpPr>
          <p:nvPr/>
        </p:nvSpPr>
        <p:spPr>
          <a:xfrm>
            <a:off x="609600" y="3333750"/>
            <a:ext cx="5181600" cy="2952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  <a:defRPr sz="1800" b="0" i="0">
                <a:solidFill>
                  <a:srgbClr val="21647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800" b="0" i="0">
                <a:solidFill>
                  <a:srgbClr val="216476"/>
                </a:solidFill>
                <a:latin typeface="Liberation Sans"/>
                <a:ea typeface="Liberation Sans"/>
                <a:cs typeface="Liberation Sans"/>
                <a:hlinkClick r:id="rId5"/>
              </a:rPr>
              <a:t>Novidades do Gemini</a:t>
            </a:r>
          </a:p>
        </p:txBody>
      </p:sp>
      <p:sp>
        <p:nvSpPr>
          <p:cNvPr id="6" name="Agent Skills: padrão aberto">
            <a:extLst>
              <a:ext uri="{FF2B5EF4-FFF2-40B4-BE49-F238E27FC236}">
                <a16:creationId xmlns:a16="http://schemas.microsoft.com/office/drawing/2014/main" id="{8F1F8925-D7D6-4096-9785-7EC3BB827140}"/>
              </a:ext>
            </a:extLst>
          </p:cNvPr>
          <p:cNvSpPr>
            <a:spLocks noGrp="1"/>
          </p:cNvSpPr>
          <p:nvPr/>
        </p:nvSpPr>
        <p:spPr>
          <a:xfrm>
            <a:off x="609600" y="3952875"/>
            <a:ext cx="5181600" cy="2952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  <a:defRPr sz="1800" b="0" i="0">
                <a:solidFill>
                  <a:srgbClr val="21647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800" b="0" i="0">
                <a:solidFill>
                  <a:srgbClr val="216476"/>
                </a:solidFill>
                <a:latin typeface="Liberation Sans"/>
                <a:ea typeface="Liberation Sans"/>
                <a:cs typeface="Liberation Sans"/>
                <a:hlinkClick r:id="rId6"/>
              </a:rPr>
              <a:t>Agent Skills: padrão aberto</a:t>
            </a:r>
          </a:p>
        </p:txBody>
      </p:sp>
      <p:sp>
        <p:nvSpPr>
          <p:cNvPr id="7" name="Model Context Protocol (MCP)">
            <a:extLst>
              <a:ext uri="{FF2B5EF4-FFF2-40B4-BE49-F238E27FC236}">
                <a16:creationId xmlns:a16="http://schemas.microsoft.com/office/drawing/2014/main" id="{47C54F2F-DDCE-483B-9D35-4090407F8934}"/>
              </a:ext>
            </a:extLst>
          </p:cNvPr>
          <p:cNvSpPr>
            <a:spLocks noGrp="1"/>
          </p:cNvSpPr>
          <p:nvPr/>
        </p:nvSpPr>
        <p:spPr>
          <a:xfrm>
            <a:off x="609600" y="4572000"/>
            <a:ext cx="5181600" cy="2952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  <a:defRPr sz="1800" b="0" i="0">
                <a:solidFill>
                  <a:srgbClr val="21647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800" b="0" i="0">
                <a:solidFill>
                  <a:srgbClr val="216476"/>
                </a:solidFill>
                <a:latin typeface="Liberation Sans"/>
                <a:ea typeface="Liberation Sans"/>
                <a:cs typeface="Liberation Sans"/>
                <a:hlinkClick r:id="rId7"/>
              </a:rPr>
              <a:t>Model Context Protocol (MCP)</a:t>
            </a:r>
          </a:p>
        </p:txBody>
      </p:sp>
      <p:sp>
        <p:nvSpPr>
          <p:cNvPr id="8" name="Acompanhar dados e riscos">
            <a:extLst>
              <a:ext uri="{FF2B5EF4-FFF2-40B4-BE49-F238E27FC236}">
                <a16:creationId xmlns:a16="http://schemas.microsoft.com/office/drawing/2014/main" id="{66250F72-F764-4A43-BB13-4B89D54FA474}"/>
              </a:ext>
            </a:extLst>
          </p:cNvPr>
          <p:cNvSpPr>
            <a:spLocks noGrp="1"/>
          </p:cNvSpPr>
          <p:nvPr/>
        </p:nvSpPr>
        <p:spPr>
          <a:xfrm>
            <a:off x="6419850" y="1552575"/>
            <a:ext cx="5162550" cy="361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  <a:defRPr sz="2100" b="1" i="0">
                <a:solidFill>
                  <a:srgbClr val="D6482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2100" b="1" i="0">
                <a:solidFill>
                  <a:srgbClr val="D64826"/>
                </a:solidFill>
                <a:latin typeface="Liberation Sans"/>
                <a:ea typeface="Liberation Sans"/>
                <a:cs typeface="Liberation Sans"/>
              </a:rPr>
              <a:t>Acompanhar dados e riscos</a:t>
            </a:r>
          </a:p>
        </p:txBody>
      </p:sp>
      <p:sp>
        <p:nvSpPr>
          <p:cNvPr id="9" name="Anthropic Economic Index">
            <a:extLst>
              <a:ext uri="{FF2B5EF4-FFF2-40B4-BE49-F238E27FC236}">
                <a16:creationId xmlns:a16="http://schemas.microsoft.com/office/drawing/2014/main" id="{4C91CEE8-7569-4077-8872-169C44820F3C}"/>
              </a:ext>
            </a:extLst>
          </p:cNvPr>
          <p:cNvSpPr>
            <a:spLocks noGrp="1"/>
          </p:cNvSpPr>
          <p:nvPr/>
        </p:nvSpPr>
        <p:spPr>
          <a:xfrm>
            <a:off x="6419850" y="2095500"/>
            <a:ext cx="5162550" cy="2952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  <a:defRPr sz="1800" b="0" i="0">
                <a:solidFill>
                  <a:srgbClr val="21647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800" b="0" i="0">
                <a:solidFill>
                  <a:srgbClr val="216476"/>
                </a:solidFill>
                <a:latin typeface="Liberation Sans"/>
                <a:ea typeface="Liberation Sans"/>
                <a:cs typeface="Liberation Sans"/>
                <a:hlinkClick r:id="rId8"/>
              </a:rPr>
              <a:t>Anthropic Economic Index</a:t>
            </a:r>
          </a:p>
        </p:txBody>
      </p:sp>
      <p:sp>
        <p:nvSpPr>
          <p:cNvPr id="10" name="METR: capacidade dos agentes">
            <a:extLst>
              <a:ext uri="{FF2B5EF4-FFF2-40B4-BE49-F238E27FC236}">
                <a16:creationId xmlns:a16="http://schemas.microsoft.com/office/drawing/2014/main" id="{6128A181-461E-4F52-83D1-8B29AEC3566F}"/>
              </a:ext>
            </a:extLst>
          </p:cNvPr>
          <p:cNvSpPr>
            <a:spLocks noGrp="1"/>
          </p:cNvSpPr>
          <p:nvPr/>
        </p:nvSpPr>
        <p:spPr>
          <a:xfrm>
            <a:off x="6419850" y="2714625"/>
            <a:ext cx="5162550" cy="2952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  <a:defRPr sz="1800" b="0" i="0">
                <a:solidFill>
                  <a:srgbClr val="21647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800" b="0" i="0">
                <a:solidFill>
                  <a:srgbClr val="216476"/>
                </a:solidFill>
                <a:latin typeface="Liberation Sans"/>
                <a:ea typeface="Liberation Sans"/>
                <a:cs typeface="Liberation Sans"/>
                <a:hlinkClick r:id="rId9"/>
              </a:rPr>
              <a:t>METR: capacidade dos agentes</a:t>
            </a:r>
          </a:p>
        </p:txBody>
      </p:sp>
      <p:sp>
        <p:nvSpPr>
          <p:cNvPr id="11" name="Cetic.br: dados do Brasil">
            <a:extLst>
              <a:ext uri="{FF2B5EF4-FFF2-40B4-BE49-F238E27FC236}">
                <a16:creationId xmlns:a16="http://schemas.microsoft.com/office/drawing/2014/main" id="{A713C5F4-2E14-4EB7-9EE2-25E72CE45424}"/>
              </a:ext>
            </a:extLst>
          </p:cNvPr>
          <p:cNvSpPr>
            <a:spLocks noGrp="1"/>
          </p:cNvSpPr>
          <p:nvPr/>
        </p:nvSpPr>
        <p:spPr>
          <a:xfrm>
            <a:off x="6419850" y="3333750"/>
            <a:ext cx="5162550" cy="2952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  <a:defRPr sz="1800" b="0" i="0">
                <a:solidFill>
                  <a:srgbClr val="21647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800" b="0" i="0">
                <a:solidFill>
                  <a:srgbClr val="216476"/>
                </a:solidFill>
                <a:latin typeface="Liberation Sans"/>
                <a:ea typeface="Liberation Sans"/>
                <a:cs typeface="Liberation Sans"/>
                <a:hlinkClick r:id="rId10"/>
              </a:rPr>
              <a:t>Cetic.br: dados do Brasil</a:t>
            </a:r>
          </a:p>
        </p:txBody>
      </p:sp>
      <p:sp>
        <p:nvSpPr>
          <p:cNvPr id="12" name="WEF: Future of Jobs 2025">
            <a:extLst>
              <a:ext uri="{FF2B5EF4-FFF2-40B4-BE49-F238E27FC236}">
                <a16:creationId xmlns:a16="http://schemas.microsoft.com/office/drawing/2014/main" id="{D319450C-0A4A-409A-8C37-4FE867004618}"/>
              </a:ext>
            </a:extLst>
          </p:cNvPr>
          <p:cNvSpPr>
            <a:spLocks noGrp="1"/>
          </p:cNvSpPr>
          <p:nvPr/>
        </p:nvSpPr>
        <p:spPr>
          <a:xfrm>
            <a:off x="6419850" y="3952875"/>
            <a:ext cx="5162550" cy="2952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  <a:defRPr sz="1800" b="0" i="0">
                <a:solidFill>
                  <a:srgbClr val="21647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800" b="0" i="0">
                <a:solidFill>
                  <a:srgbClr val="216476"/>
                </a:solidFill>
                <a:latin typeface="Liberation Sans"/>
                <a:ea typeface="Liberation Sans"/>
                <a:cs typeface="Liberation Sans"/>
                <a:hlinkClick r:id="rId11"/>
              </a:rPr>
              <a:t>WEF: Future of Jobs 2025</a:t>
            </a:r>
          </a:p>
        </p:txBody>
      </p:sp>
      <p:sp>
        <p:nvSpPr>
          <p:cNvPr id="13" name="OWASP: segurança de agentes">
            <a:extLst>
              <a:ext uri="{FF2B5EF4-FFF2-40B4-BE49-F238E27FC236}">
                <a16:creationId xmlns:a16="http://schemas.microsoft.com/office/drawing/2014/main" id="{A90ECC97-B5FB-43F7-B193-6B616146342D}"/>
              </a:ext>
            </a:extLst>
          </p:cNvPr>
          <p:cNvSpPr>
            <a:spLocks noGrp="1"/>
          </p:cNvSpPr>
          <p:nvPr/>
        </p:nvSpPr>
        <p:spPr>
          <a:xfrm>
            <a:off x="6419850" y="4572000"/>
            <a:ext cx="5162550" cy="2952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  <a:defRPr sz="1800" b="0" i="0">
                <a:solidFill>
                  <a:srgbClr val="21647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800" b="0" i="0">
                <a:solidFill>
                  <a:srgbClr val="216476"/>
                </a:solidFill>
                <a:latin typeface="Liberation Sans"/>
                <a:ea typeface="Liberation Sans"/>
                <a:cs typeface="Liberation Sans"/>
                <a:hlinkClick r:id="rId12"/>
              </a:rPr>
              <a:t>OWASP: segurança de agentes</a:t>
            </a:r>
          </a:p>
        </p:txBody>
      </p:sp>
      <p:sp>
        <p:nvSpPr>
          <p:cNvPr id="14" name="Mais conteúdos de Lawrence">
            <a:extLst>
              <a:ext uri="{FF2B5EF4-FFF2-40B4-BE49-F238E27FC236}">
                <a16:creationId xmlns:a16="http://schemas.microsoft.com/office/drawing/2014/main" id="{302F219E-A68B-495F-9A69-2E2A59FABFAA}"/>
              </a:ext>
            </a:extLst>
          </p:cNvPr>
          <p:cNvSpPr>
            <a:spLocks noGrp="1"/>
          </p:cNvSpPr>
          <p:nvPr/>
        </p:nvSpPr>
        <p:spPr>
          <a:xfrm>
            <a:off x="609600" y="5562600"/>
            <a:ext cx="5181600" cy="304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  <a:defRPr sz="1800" b="1" i="0">
                <a:solidFill>
                  <a:srgbClr val="232322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800" b="1" i="0">
                <a:solidFill>
                  <a:srgbClr val="232322"/>
                </a:solidFill>
                <a:latin typeface="Liberation Sans"/>
                <a:ea typeface="Liberation Sans"/>
                <a:cs typeface="Liberation Sans"/>
              </a:rPr>
              <a:t>Mais conteúdos de Lawrence</a:t>
            </a:r>
          </a:p>
        </p:txBody>
      </p:sp>
      <p:sp>
        <p:nvSpPr>
          <p:cNvPr id="15" name="lawrence.eti.br">
            <a:extLst>
              <a:ext uri="{FF2B5EF4-FFF2-40B4-BE49-F238E27FC236}">
                <a16:creationId xmlns:a16="http://schemas.microsoft.com/office/drawing/2014/main" id="{9D818FC1-2F4E-4DD9-B9E7-7B0DD7471618}"/>
              </a:ext>
            </a:extLst>
          </p:cNvPr>
          <p:cNvSpPr>
            <a:spLocks noGrp="1"/>
          </p:cNvSpPr>
          <p:nvPr/>
        </p:nvSpPr>
        <p:spPr>
          <a:xfrm>
            <a:off x="609600" y="5905500"/>
            <a:ext cx="5181600" cy="3143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  <a:defRPr sz="1800" b="0" i="0">
                <a:solidFill>
                  <a:srgbClr val="21647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800" b="0" i="0">
                <a:solidFill>
                  <a:srgbClr val="216476"/>
                </a:solidFill>
                <a:latin typeface="Liberation Sans"/>
                <a:ea typeface="Liberation Sans"/>
                <a:cs typeface="Liberation Sans"/>
                <a:hlinkClick r:id="rId13"/>
              </a:rPr>
              <a:t>lawrence.eti.br</a:t>
            </a:r>
          </a:p>
        </p:txBody>
      </p:sp>
      <p:sp>
        <p:nvSpPr>
          <p:cNvPr id="16" name="Recursos extras para consulta e atualização. As fontes ">
            <a:extLst>
              <a:ext uri="{FF2B5EF4-FFF2-40B4-BE49-F238E27FC236}">
                <a16:creationId xmlns:a16="http://schemas.microsoft.com/office/drawing/2014/main" id="{8883D61E-616A-40E1-93D7-AA446E0D6BA3}"/>
              </a:ext>
            </a:extLst>
          </p:cNvPr>
          <p:cNvSpPr>
            <a:spLocks noGrp="1"/>
          </p:cNvSpPr>
          <p:nvPr/>
        </p:nvSpPr>
        <p:spPr>
          <a:xfrm>
            <a:off x="609600" y="6276975"/>
            <a:ext cx="10572750" cy="3333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  <a:defRPr sz="1013" b="0" i="0">
                <a:solidFill>
                  <a:srgbClr val="666660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013" b="0" i="0">
                <a:solidFill>
                  <a:srgbClr val="666660"/>
                </a:solidFill>
                <a:latin typeface="Liberation Sans"/>
                <a:ea typeface="Liberation Sans"/>
                <a:cs typeface="Liberation Sans"/>
              </a:rPr>
              <a:t>Recursos extras para consulta e atualização. As fontes que sustentam os dados da palestra estão nas próximas páginas.</a:t>
            </a:r>
          </a:p>
        </p:txBody>
      </p:sp>
      <p:sp>
        <p:nvSpPr>
          <p:cNvPr id="17" name="19">
            <a:extLst>
              <a:ext uri="{FF2B5EF4-FFF2-40B4-BE49-F238E27FC236}">
                <a16:creationId xmlns:a16="http://schemas.microsoft.com/office/drawing/2014/main" id="{55889367-19AA-474E-B66D-EE3E27CCD6D4}"/>
              </a:ext>
            </a:extLst>
          </p:cNvPr>
          <p:cNvSpPr>
            <a:spLocks noGrp="1"/>
          </p:cNvSpPr>
          <p:nvPr/>
        </p:nvSpPr>
        <p:spPr>
          <a:xfrm>
            <a:off x="11258550" y="6515100"/>
            <a:ext cx="333375" cy="1905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r">
              <a:buNone/>
              <a:defRPr sz="1050" b="0" i="0">
                <a:solidFill>
                  <a:srgbClr val="8A8882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050" b="0" i="0">
                <a:solidFill>
                  <a:srgbClr val="8A8882"/>
                </a:solidFill>
                <a:latin typeface="Liberation Sans"/>
                <a:ea typeface="Liberation Sans"/>
                <a:cs typeface="Liberation Sans"/>
              </a:rPr>
              <a:t>19</a:t>
            </a:r>
          </a:p>
        </p:txBody>
      </p:sp>
    </p:spTree>
    <p:extLst>
      <p:ext uri="{BB962C8B-B14F-4D97-AF65-F5344CB8AC3E}">
        <p14:creationId xmlns:p14="http://schemas.microsoft.com/office/powerpoint/2010/main" val="141466163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Fontes: mercado, Brasil e trabalho">
            <a:extLst>
              <a:ext uri="{FF2B5EF4-FFF2-40B4-BE49-F238E27FC236}">
                <a16:creationId xmlns:a16="http://schemas.microsoft.com/office/drawing/2014/main" id="{654E26BA-423B-4E02-A5B7-BBD9A0EFD607}"/>
              </a:ext>
            </a:extLst>
          </p:cNvPr>
          <p:cNvSpPr>
            <a:spLocks noGrp="1"/>
          </p:cNvSpPr>
          <p:nvPr/>
        </p:nvSpPr>
        <p:spPr>
          <a:xfrm>
            <a:off x="609600" y="419100"/>
            <a:ext cx="10972800" cy="685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  <a:defRPr sz="3450" b="1" i="0">
                <a:solidFill>
                  <a:srgbClr val="232322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3450" b="1" i="0">
                <a:solidFill>
                  <a:srgbClr val="232322"/>
                </a:solidFill>
                <a:latin typeface="Liberation Sans"/>
                <a:ea typeface="Liberation Sans"/>
                <a:cs typeface="Liberation Sans"/>
              </a:rPr>
              <a:t>Fontes: mercado, Brasil e trabalho</a:t>
            </a:r>
          </a:p>
        </p:txBody>
      </p:sp>
      <p:sp>
        <p:nvSpPr>
          <p:cNvPr id="2" name="Mercado e adoção">
            <a:extLst>
              <a:ext uri="{FF2B5EF4-FFF2-40B4-BE49-F238E27FC236}">
                <a16:creationId xmlns:a16="http://schemas.microsoft.com/office/drawing/2014/main" id="{3D105C38-DE1C-48C6-8C06-BACFDF82EDD2}"/>
              </a:ext>
            </a:extLst>
          </p:cNvPr>
          <p:cNvSpPr>
            <a:spLocks noGrp="1"/>
          </p:cNvSpPr>
          <p:nvPr/>
        </p:nvSpPr>
        <p:spPr>
          <a:xfrm>
            <a:off x="609600" y="1533525"/>
            <a:ext cx="5172075" cy="590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  <a:defRPr sz="1875" b="1" i="0">
                <a:solidFill>
                  <a:srgbClr val="D6482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875" b="1" i="0">
                <a:solidFill>
                  <a:srgbClr val="D64826"/>
                </a:solidFill>
                <a:latin typeface="Liberation Sans"/>
                <a:ea typeface="Liberation Sans"/>
                <a:cs typeface="Liberation Sans"/>
              </a:rPr>
              <a:t>Mercado e adoção</a:t>
            </a:r>
          </a:p>
        </p:txBody>
      </p:sp>
      <p:sp>
        <p:nvSpPr>
          <p:cNvPr id="3" name="Gartner: gasto mundial com IA em 2026">
            <a:extLst>
              <a:ext uri="{FF2B5EF4-FFF2-40B4-BE49-F238E27FC236}">
                <a16:creationId xmlns:a16="http://schemas.microsoft.com/office/drawing/2014/main" id="{D7CE3AA2-C703-4382-9D0E-93DDAF21CD51}"/>
              </a:ext>
            </a:extLst>
          </p:cNvPr>
          <p:cNvSpPr>
            <a:spLocks noGrp="1"/>
          </p:cNvSpPr>
          <p:nvPr/>
        </p:nvSpPr>
        <p:spPr>
          <a:xfrm>
            <a:off x="609600" y="2238375"/>
            <a:ext cx="5172075" cy="2952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  <a:defRPr sz="1500" b="0" i="0">
                <a:solidFill>
                  <a:srgbClr val="21647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500" b="0" i="0">
                <a:solidFill>
                  <a:srgbClr val="216476"/>
                </a:solidFill>
                <a:latin typeface="Liberation Sans"/>
                <a:ea typeface="Liberation Sans"/>
                <a:cs typeface="Liberation Sans"/>
                <a:hlinkClick r:id="rId3"/>
              </a:rPr>
              <a:t>Gartner: gasto mundial com IA em 2026</a:t>
            </a:r>
          </a:p>
        </p:txBody>
      </p:sp>
      <p:sp>
        <p:nvSpPr>
          <p:cNvPr id="4" name="Gartner: agentes nos apps e habilidades">
            <a:extLst>
              <a:ext uri="{FF2B5EF4-FFF2-40B4-BE49-F238E27FC236}">
                <a16:creationId xmlns:a16="http://schemas.microsoft.com/office/drawing/2014/main" id="{44A85EB5-D994-465D-819E-13A6929770AF}"/>
              </a:ext>
            </a:extLst>
          </p:cNvPr>
          <p:cNvSpPr>
            <a:spLocks noGrp="1"/>
          </p:cNvSpPr>
          <p:nvPr/>
        </p:nvSpPr>
        <p:spPr>
          <a:xfrm>
            <a:off x="609600" y="2705100"/>
            <a:ext cx="5172075" cy="2952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  <a:defRPr sz="1500" b="0" i="0">
                <a:solidFill>
                  <a:srgbClr val="21647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500" b="0" i="0">
                <a:solidFill>
                  <a:srgbClr val="216476"/>
                </a:solidFill>
                <a:latin typeface="Liberation Sans"/>
                <a:ea typeface="Liberation Sans"/>
                <a:cs typeface="Liberation Sans"/>
                <a:hlinkClick r:id="rId4"/>
              </a:rPr>
              <a:t>Gartner: agentes nos apps e habilidades</a:t>
            </a:r>
          </a:p>
        </p:txBody>
      </p:sp>
      <p:sp>
        <p:nvSpPr>
          <p:cNvPr id="5" name="MarketsandMarkets: mercado de agentes">
            <a:extLst>
              <a:ext uri="{FF2B5EF4-FFF2-40B4-BE49-F238E27FC236}">
                <a16:creationId xmlns:a16="http://schemas.microsoft.com/office/drawing/2014/main" id="{9FE5B21A-2FDD-498A-A2B0-75CFFB05F0F1}"/>
              </a:ext>
            </a:extLst>
          </p:cNvPr>
          <p:cNvSpPr>
            <a:spLocks noGrp="1"/>
          </p:cNvSpPr>
          <p:nvPr/>
        </p:nvSpPr>
        <p:spPr>
          <a:xfrm>
            <a:off x="609600" y="3171825"/>
            <a:ext cx="5172075" cy="2952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  <a:defRPr sz="1500" b="0" i="0">
                <a:solidFill>
                  <a:srgbClr val="21647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500" b="0" i="0">
                <a:solidFill>
                  <a:srgbClr val="216476"/>
                </a:solidFill>
                <a:latin typeface="Liberation Sans"/>
                <a:ea typeface="Liberation Sans"/>
                <a:cs typeface="Liberation Sans"/>
                <a:hlinkClick r:id="rId5"/>
              </a:rPr>
              <a:t>MarketsandMarkets: mercado de agentes</a:t>
            </a:r>
          </a:p>
        </p:txBody>
      </p:sp>
      <p:sp>
        <p:nvSpPr>
          <p:cNvPr id="6" name="OpenAI: 900 milhões por semana">
            <a:extLst>
              <a:ext uri="{FF2B5EF4-FFF2-40B4-BE49-F238E27FC236}">
                <a16:creationId xmlns:a16="http://schemas.microsoft.com/office/drawing/2014/main" id="{ED9322B0-EE30-4B27-AF59-24584E76E894}"/>
              </a:ext>
            </a:extLst>
          </p:cNvPr>
          <p:cNvSpPr>
            <a:spLocks noGrp="1"/>
          </p:cNvSpPr>
          <p:nvPr/>
        </p:nvSpPr>
        <p:spPr>
          <a:xfrm>
            <a:off x="609600" y="3638550"/>
            <a:ext cx="5172075" cy="2952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  <a:defRPr sz="1500" b="0" i="0">
                <a:solidFill>
                  <a:srgbClr val="21647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500" b="0" i="0">
                <a:solidFill>
                  <a:srgbClr val="216476"/>
                </a:solidFill>
                <a:latin typeface="Liberation Sans"/>
                <a:ea typeface="Liberation Sans"/>
                <a:cs typeface="Liberation Sans"/>
                <a:hlinkClick r:id="rId6"/>
              </a:rPr>
              <a:t>OpenAI: 900 milhões por semana</a:t>
            </a:r>
          </a:p>
        </p:txBody>
      </p:sp>
      <p:sp>
        <p:nvSpPr>
          <p:cNvPr id="7" name="Google: Gemini, 1 bilhão por mês">
            <a:extLst>
              <a:ext uri="{FF2B5EF4-FFF2-40B4-BE49-F238E27FC236}">
                <a16:creationId xmlns:a16="http://schemas.microsoft.com/office/drawing/2014/main" id="{F4DABCF7-B162-413A-A171-1773910040A3}"/>
              </a:ext>
            </a:extLst>
          </p:cNvPr>
          <p:cNvSpPr>
            <a:spLocks noGrp="1"/>
          </p:cNvSpPr>
          <p:nvPr/>
        </p:nvSpPr>
        <p:spPr>
          <a:xfrm>
            <a:off x="609600" y="4105275"/>
            <a:ext cx="5172075" cy="2952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  <a:defRPr sz="1500" b="0" i="0">
                <a:solidFill>
                  <a:srgbClr val="21647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500" b="0" i="0">
                <a:solidFill>
                  <a:srgbClr val="216476"/>
                </a:solidFill>
                <a:latin typeface="Liberation Sans"/>
                <a:ea typeface="Liberation Sans"/>
                <a:cs typeface="Liberation Sans"/>
                <a:hlinkClick r:id="rId7"/>
              </a:rPr>
              <a:t>Google: Gemini, 1 bilhão por mês</a:t>
            </a:r>
          </a:p>
        </p:txBody>
      </p:sp>
      <p:sp>
        <p:nvSpPr>
          <p:cNvPr id="8" name="Sam Altman: 1 milhão no lançamento">
            <a:extLst>
              <a:ext uri="{FF2B5EF4-FFF2-40B4-BE49-F238E27FC236}">
                <a16:creationId xmlns:a16="http://schemas.microsoft.com/office/drawing/2014/main" id="{160BFC59-8C87-49FB-A1CB-71F727D046CE}"/>
              </a:ext>
            </a:extLst>
          </p:cNvPr>
          <p:cNvSpPr>
            <a:spLocks noGrp="1"/>
          </p:cNvSpPr>
          <p:nvPr/>
        </p:nvSpPr>
        <p:spPr>
          <a:xfrm>
            <a:off x="609600" y="4572000"/>
            <a:ext cx="5172075" cy="2952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  <a:defRPr sz="1500" b="0" i="0">
                <a:solidFill>
                  <a:srgbClr val="21647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500" b="0" i="0">
                <a:solidFill>
                  <a:srgbClr val="216476"/>
                </a:solidFill>
                <a:latin typeface="Liberation Sans"/>
                <a:ea typeface="Liberation Sans"/>
                <a:cs typeface="Liberation Sans"/>
                <a:hlinkClick r:id="rId8"/>
              </a:rPr>
              <a:t>Sam Altman: 1 milhão no lançamento</a:t>
            </a:r>
          </a:p>
        </p:txBody>
      </p:sp>
      <p:sp>
        <p:nvSpPr>
          <p:cNvPr id="9" name="CNBC: 400 milhões por semana">
            <a:extLst>
              <a:ext uri="{FF2B5EF4-FFF2-40B4-BE49-F238E27FC236}">
                <a16:creationId xmlns:a16="http://schemas.microsoft.com/office/drawing/2014/main" id="{ACC2BE34-C047-4661-B623-9E01F2199538}"/>
              </a:ext>
            </a:extLst>
          </p:cNvPr>
          <p:cNvSpPr>
            <a:spLocks noGrp="1"/>
          </p:cNvSpPr>
          <p:nvPr/>
        </p:nvSpPr>
        <p:spPr>
          <a:xfrm>
            <a:off x="609600" y="5038725"/>
            <a:ext cx="5172075" cy="2952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  <a:defRPr sz="1500" b="0" i="0">
                <a:solidFill>
                  <a:srgbClr val="21647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500" b="0" i="0">
                <a:solidFill>
                  <a:srgbClr val="216476"/>
                </a:solidFill>
                <a:latin typeface="Liberation Sans"/>
                <a:ea typeface="Liberation Sans"/>
                <a:cs typeface="Liberation Sans"/>
                <a:hlinkClick r:id="rId9"/>
              </a:rPr>
              <a:t>CNBC: 400 milhões por semana</a:t>
            </a:r>
          </a:p>
        </p:txBody>
      </p:sp>
      <p:sp>
        <p:nvSpPr>
          <p:cNvPr id="10" name="OpenAI DevDay: 800 milhões (cobertura)">
            <a:extLst>
              <a:ext uri="{FF2B5EF4-FFF2-40B4-BE49-F238E27FC236}">
                <a16:creationId xmlns:a16="http://schemas.microsoft.com/office/drawing/2014/main" id="{202CF686-8331-4049-AD3A-4497E79175CB}"/>
              </a:ext>
            </a:extLst>
          </p:cNvPr>
          <p:cNvSpPr>
            <a:spLocks noGrp="1"/>
          </p:cNvSpPr>
          <p:nvPr/>
        </p:nvSpPr>
        <p:spPr>
          <a:xfrm>
            <a:off x="609600" y="5505450"/>
            <a:ext cx="5172075" cy="2952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  <a:defRPr sz="1500" b="0" i="0">
                <a:solidFill>
                  <a:srgbClr val="21647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500" b="0" i="0">
                <a:solidFill>
                  <a:srgbClr val="216476"/>
                </a:solidFill>
                <a:latin typeface="Liberation Sans"/>
                <a:ea typeface="Liberation Sans"/>
                <a:cs typeface="Liberation Sans"/>
                <a:hlinkClick r:id="rId10"/>
              </a:rPr>
              <a:t>OpenAI DevDay: 800 milhões (cobertura)</a:t>
            </a:r>
          </a:p>
        </p:txBody>
      </p:sp>
      <p:sp>
        <p:nvSpPr>
          <p:cNvPr id="11" name="Brasil e trabalho">
            <a:extLst>
              <a:ext uri="{FF2B5EF4-FFF2-40B4-BE49-F238E27FC236}">
                <a16:creationId xmlns:a16="http://schemas.microsoft.com/office/drawing/2014/main" id="{7C40C02A-9245-4158-9376-A06B3E55F2DF}"/>
              </a:ext>
            </a:extLst>
          </p:cNvPr>
          <p:cNvSpPr>
            <a:spLocks noGrp="1"/>
          </p:cNvSpPr>
          <p:nvPr/>
        </p:nvSpPr>
        <p:spPr>
          <a:xfrm>
            <a:off x="6419850" y="1533525"/>
            <a:ext cx="5172075" cy="590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  <a:defRPr sz="1875" b="1" i="0">
                <a:solidFill>
                  <a:srgbClr val="D6482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875" b="1" i="0">
                <a:solidFill>
                  <a:srgbClr val="D64826"/>
                </a:solidFill>
                <a:latin typeface="Liberation Sans"/>
                <a:ea typeface="Liberation Sans"/>
                <a:cs typeface="Liberation Sans"/>
              </a:rPr>
              <a:t>Brasil e trabalho</a:t>
            </a:r>
          </a:p>
        </p:txBody>
      </p:sp>
      <p:sp>
        <p:nvSpPr>
          <p:cNvPr id="12" name="OpenAI: presença e uso no Brasil">
            <a:extLst>
              <a:ext uri="{FF2B5EF4-FFF2-40B4-BE49-F238E27FC236}">
                <a16:creationId xmlns:a16="http://schemas.microsoft.com/office/drawing/2014/main" id="{4B089DD4-B1B8-46FA-8F1C-89DEE3BB0E52}"/>
              </a:ext>
            </a:extLst>
          </p:cNvPr>
          <p:cNvSpPr>
            <a:spLocks noGrp="1"/>
          </p:cNvSpPr>
          <p:nvPr/>
        </p:nvSpPr>
        <p:spPr>
          <a:xfrm>
            <a:off x="6419850" y="2238375"/>
            <a:ext cx="5172075" cy="2952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  <a:defRPr sz="1500" b="0" i="0">
                <a:solidFill>
                  <a:srgbClr val="21647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500" b="0" i="0">
                <a:solidFill>
                  <a:srgbClr val="216476"/>
                </a:solidFill>
                <a:latin typeface="Liberation Sans"/>
                <a:ea typeface="Liberation Sans"/>
                <a:cs typeface="Liberation Sans"/>
                <a:hlinkClick r:id="rId11"/>
              </a:rPr>
              <a:t>OpenAI: presença e uso no Brasil</a:t>
            </a:r>
          </a:p>
        </p:txBody>
      </p:sp>
      <p:sp>
        <p:nvSpPr>
          <p:cNvPr id="13" name="OpenAI: uso no Brasil em 2025">
            <a:extLst>
              <a:ext uri="{FF2B5EF4-FFF2-40B4-BE49-F238E27FC236}">
                <a16:creationId xmlns:a16="http://schemas.microsoft.com/office/drawing/2014/main" id="{36D8E14E-E476-4F34-A02D-D08B313B24D4}"/>
              </a:ext>
            </a:extLst>
          </p:cNvPr>
          <p:cNvSpPr>
            <a:spLocks noGrp="1"/>
          </p:cNvSpPr>
          <p:nvPr/>
        </p:nvSpPr>
        <p:spPr>
          <a:xfrm>
            <a:off x="6419850" y="2705100"/>
            <a:ext cx="5172075" cy="2952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  <a:defRPr sz="1500" b="0" i="0">
                <a:solidFill>
                  <a:srgbClr val="21647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500" b="0" i="0">
                <a:solidFill>
                  <a:srgbClr val="216476"/>
                </a:solidFill>
                <a:latin typeface="Liberation Sans"/>
                <a:ea typeface="Liberation Sans"/>
                <a:cs typeface="Liberation Sans"/>
                <a:hlinkClick r:id="rId12"/>
              </a:rPr>
              <a:t>OpenAI: uso no Brasil em 2025</a:t>
            </a:r>
          </a:p>
        </p:txBody>
      </p:sp>
      <p:sp>
        <p:nvSpPr>
          <p:cNvPr id="14" name="Cetic.br: TIC Domicílios 2025">
            <a:extLst>
              <a:ext uri="{FF2B5EF4-FFF2-40B4-BE49-F238E27FC236}">
                <a16:creationId xmlns:a16="http://schemas.microsoft.com/office/drawing/2014/main" id="{A3A24CED-488B-4DD5-87B9-E9114E2AC05E}"/>
              </a:ext>
            </a:extLst>
          </p:cNvPr>
          <p:cNvSpPr>
            <a:spLocks noGrp="1"/>
          </p:cNvSpPr>
          <p:nvPr/>
        </p:nvSpPr>
        <p:spPr>
          <a:xfrm>
            <a:off x="6419850" y="3171825"/>
            <a:ext cx="5172075" cy="2952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  <a:defRPr sz="1500" b="0" i="0">
                <a:solidFill>
                  <a:srgbClr val="21647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500" b="0" i="0">
                <a:solidFill>
                  <a:srgbClr val="216476"/>
                </a:solidFill>
                <a:latin typeface="Liberation Sans"/>
                <a:ea typeface="Liberation Sans"/>
                <a:cs typeface="Liberation Sans"/>
                <a:hlinkClick r:id="rId13"/>
              </a:rPr>
              <a:t>Cetic.br: TIC Domicílios 2025</a:t>
            </a:r>
          </a:p>
        </p:txBody>
      </p:sp>
      <p:sp>
        <p:nvSpPr>
          <p:cNvPr id="15" name="Cetic.br: TIC Empresas 2025">
            <a:extLst>
              <a:ext uri="{FF2B5EF4-FFF2-40B4-BE49-F238E27FC236}">
                <a16:creationId xmlns:a16="http://schemas.microsoft.com/office/drawing/2014/main" id="{37CCF66F-2426-4F27-B30A-22A60C017E48}"/>
              </a:ext>
            </a:extLst>
          </p:cNvPr>
          <p:cNvSpPr>
            <a:spLocks noGrp="1"/>
          </p:cNvSpPr>
          <p:nvPr/>
        </p:nvSpPr>
        <p:spPr>
          <a:xfrm>
            <a:off x="6419850" y="3638550"/>
            <a:ext cx="5172075" cy="2952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  <a:defRPr sz="1500" b="0" i="0">
                <a:solidFill>
                  <a:srgbClr val="21647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500" b="0" i="0">
                <a:solidFill>
                  <a:srgbClr val="216476"/>
                </a:solidFill>
                <a:latin typeface="Liberation Sans"/>
                <a:ea typeface="Liberation Sans"/>
                <a:cs typeface="Liberation Sans"/>
                <a:hlinkClick r:id="rId14"/>
              </a:rPr>
              <a:t>Cetic.br: TIC Empresas 2025</a:t>
            </a:r>
          </a:p>
        </p:txBody>
      </p:sp>
      <p:sp>
        <p:nvSpPr>
          <p:cNvPr id="16" name="Cetic.br: TIC Governo 2025">
            <a:extLst>
              <a:ext uri="{FF2B5EF4-FFF2-40B4-BE49-F238E27FC236}">
                <a16:creationId xmlns:a16="http://schemas.microsoft.com/office/drawing/2014/main" id="{E6CA26D8-6B8E-4E2F-8109-45D58EB2BC8D}"/>
              </a:ext>
            </a:extLst>
          </p:cNvPr>
          <p:cNvSpPr>
            <a:spLocks noGrp="1"/>
          </p:cNvSpPr>
          <p:nvPr/>
        </p:nvSpPr>
        <p:spPr>
          <a:xfrm>
            <a:off x="6419850" y="4105275"/>
            <a:ext cx="5172075" cy="2952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  <a:defRPr sz="1500" b="0" i="0">
                <a:solidFill>
                  <a:srgbClr val="21647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500" b="0" i="0">
                <a:solidFill>
                  <a:srgbClr val="216476"/>
                </a:solidFill>
                <a:latin typeface="Liberation Sans"/>
                <a:ea typeface="Liberation Sans"/>
                <a:cs typeface="Liberation Sans"/>
                <a:hlinkClick r:id="rId15"/>
              </a:rPr>
              <a:t>Cetic.br: TIC Governo 2025</a:t>
            </a:r>
          </a:p>
        </p:txBody>
      </p:sp>
      <p:sp>
        <p:nvSpPr>
          <p:cNvPr id="17" name="WEF: Future of Jobs 2025, cap. 2">
            <a:extLst>
              <a:ext uri="{FF2B5EF4-FFF2-40B4-BE49-F238E27FC236}">
                <a16:creationId xmlns:a16="http://schemas.microsoft.com/office/drawing/2014/main" id="{228D2FD8-5577-4A6D-ADD2-DC30AE80E66D}"/>
              </a:ext>
            </a:extLst>
          </p:cNvPr>
          <p:cNvSpPr>
            <a:spLocks noGrp="1"/>
          </p:cNvSpPr>
          <p:nvPr/>
        </p:nvSpPr>
        <p:spPr>
          <a:xfrm>
            <a:off x="6419850" y="4572000"/>
            <a:ext cx="5172075" cy="2952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  <a:defRPr sz="1500" b="0" i="0">
                <a:solidFill>
                  <a:srgbClr val="21647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500" b="0" i="0">
                <a:solidFill>
                  <a:srgbClr val="216476"/>
                </a:solidFill>
                <a:latin typeface="Liberation Sans"/>
                <a:ea typeface="Liberation Sans"/>
                <a:cs typeface="Liberation Sans"/>
                <a:hlinkClick r:id="rId16"/>
              </a:rPr>
              <a:t>WEF: Future of Jobs 2025, cap. 2</a:t>
            </a:r>
          </a:p>
        </p:txBody>
      </p:sp>
      <p:sp>
        <p:nvSpPr>
          <p:cNvPr id="18" name="Anthropic: Economic Index, junho/2026">
            <a:extLst>
              <a:ext uri="{FF2B5EF4-FFF2-40B4-BE49-F238E27FC236}">
                <a16:creationId xmlns:a16="http://schemas.microsoft.com/office/drawing/2014/main" id="{C3C97086-DF2E-4DAB-8E5B-7937E824CFA9}"/>
              </a:ext>
            </a:extLst>
          </p:cNvPr>
          <p:cNvSpPr>
            <a:spLocks noGrp="1"/>
          </p:cNvSpPr>
          <p:nvPr/>
        </p:nvSpPr>
        <p:spPr>
          <a:xfrm>
            <a:off x="6419850" y="5038725"/>
            <a:ext cx="5172075" cy="2952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  <a:defRPr sz="1500" b="0" i="0">
                <a:solidFill>
                  <a:srgbClr val="21647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500" b="0" i="0">
                <a:solidFill>
                  <a:srgbClr val="216476"/>
                </a:solidFill>
                <a:latin typeface="Liberation Sans"/>
                <a:ea typeface="Liberation Sans"/>
                <a:cs typeface="Liberation Sans"/>
                <a:hlinkClick r:id="rId17"/>
              </a:rPr>
              <a:t>Anthropic: Economic Index, junho/2026</a:t>
            </a:r>
          </a:p>
        </p:txBody>
      </p:sp>
      <p:sp>
        <p:nvSpPr>
          <p:cNvPr id="19" name="Anthropic: dados por país, maio/2026">
            <a:extLst>
              <a:ext uri="{FF2B5EF4-FFF2-40B4-BE49-F238E27FC236}">
                <a16:creationId xmlns:a16="http://schemas.microsoft.com/office/drawing/2014/main" id="{C17517A6-BED2-4BBD-946A-D6E2BE30A7F5}"/>
              </a:ext>
            </a:extLst>
          </p:cNvPr>
          <p:cNvSpPr>
            <a:spLocks noGrp="1"/>
          </p:cNvSpPr>
          <p:nvPr/>
        </p:nvSpPr>
        <p:spPr>
          <a:xfrm>
            <a:off x="6419850" y="5505450"/>
            <a:ext cx="5172075" cy="2952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  <a:defRPr sz="1500" b="0" i="0">
                <a:solidFill>
                  <a:srgbClr val="21647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500" b="0" i="0">
                <a:solidFill>
                  <a:srgbClr val="216476"/>
                </a:solidFill>
                <a:latin typeface="Liberation Sans"/>
                <a:ea typeface="Liberation Sans"/>
                <a:cs typeface="Liberation Sans"/>
                <a:hlinkClick r:id="rId18"/>
              </a:rPr>
              <a:t>Anthropic: dados por país, maio/2026</a:t>
            </a:r>
          </a:p>
        </p:txBody>
      </p:sp>
      <p:sp>
        <p:nvSpPr>
          <p:cNvPr id="20" name="Fontes usadas no conteúdo principal e nas notas. Título">
            <a:extLst>
              <a:ext uri="{FF2B5EF4-FFF2-40B4-BE49-F238E27FC236}">
                <a16:creationId xmlns:a16="http://schemas.microsoft.com/office/drawing/2014/main" id="{8F6B04DE-1F5C-47AB-BD60-052A8D6A9D39}"/>
              </a:ext>
            </a:extLst>
          </p:cNvPr>
          <p:cNvSpPr>
            <a:spLocks noGrp="1"/>
          </p:cNvSpPr>
          <p:nvPr/>
        </p:nvSpPr>
        <p:spPr>
          <a:xfrm>
            <a:off x="609600" y="6276975"/>
            <a:ext cx="10572750" cy="3333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  <a:defRPr sz="1013" b="0" i="0">
                <a:solidFill>
                  <a:srgbClr val="666660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013" b="0" i="0">
                <a:solidFill>
                  <a:srgbClr val="666660"/>
                </a:solidFill>
                <a:latin typeface="Liberation Sans"/>
                <a:ea typeface="Liberation Sans"/>
                <a:cs typeface="Liberation Sans"/>
              </a:rPr>
              <a:t>Fontes usadas no conteúdo principal e nas notas. Títulos clicáveis levam diretamente às publicações.</a:t>
            </a:r>
          </a:p>
        </p:txBody>
      </p:sp>
      <p:sp>
        <p:nvSpPr>
          <p:cNvPr id="21" name="20">
            <a:extLst>
              <a:ext uri="{FF2B5EF4-FFF2-40B4-BE49-F238E27FC236}">
                <a16:creationId xmlns:a16="http://schemas.microsoft.com/office/drawing/2014/main" id="{09E9FF97-A90B-44AD-B755-7608B6C281A5}"/>
              </a:ext>
            </a:extLst>
          </p:cNvPr>
          <p:cNvSpPr>
            <a:spLocks noGrp="1"/>
          </p:cNvSpPr>
          <p:nvPr/>
        </p:nvSpPr>
        <p:spPr>
          <a:xfrm>
            <a:off x="11258550" y="6515100"/>
            <a:ext cx="333375" cy="1905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r">
              <a:buNone/>
              <a:defRPr sz="1050" b="0" i="0">
                <a:solidFill>
                  <a:srgbClr val="8A8882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050" b="0" i="0">
                <a:solidFill>
                  <a:srgbClr val="8A8882"/>
                </a:solidFill>
                <a:latin typeface="Liberation Sans"/>
                <a:ea typeface="Liberation Sans"/>
                <a:cs typeface="Liberation Sans"/>
              </a:rPr>
              <a:t>20</a:t>
            </a:r>
          </a:p>
        </p:txBody>
      </p:sp>
    </p:spTree>
    <p:extLst>
      <p:ext uri="{BB962C8B-B14F-4D97-AF65-F5344CB8AC3E}">
        <p14:creationId xmlns:p14="http://schemas.microsoft.com/office/powerpoint/2010/main" val="143804855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Fontes: evolução da IA generativa">
            <a:extLst>
              <a:ext uri="{FF2B5EF4-FFF2-40B4-BE49-F238E27FC236}">
                <a16:creationId xmlns:a16="http://schemas.microsoft.com/office/drawing/2014/main" id="{51CF31D0-4F97-479A-8832-971A8C0DEA6D}"/>
              </a:ext>
            </a:extLst>
          </p:cNvPr>
          <p:cNvSpPr>
            <a:spLocks noGrp="1"/>
          </p:cNvSpPr>
          <p:nvPr/>
        </p:nvSpPr>
        <p:spPr>
          <a:xfrm>
            <a:off x="609600" y="419100"/>
            <a:ext cx="10972800" cy="685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  <a:defRPr sz="3450" b="1" i="0">
                <a:solidFill>
                  <a:srgbClr val="232322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3450" b="1" i="0">
                <a:solidFill>
                  <a:srgbClr val="232322"/>
                </a:solidFill>
                <a:latin typeface="Liberation Sans"/>
                <a:ea typeface="Liberation Sans"/>
                <a:cs typeface="Liberation Sans"/>
              </a:rPr>
              <a:t>Fontes: evolução da IA generativa</a:t>
            </a:r>
          </a:p>
        </p:txBody>
      </p:sp>
      <p:sp>
        <p:nvSpPr>
          <p:cNvPr id="2" name="Fundamentos e primeiros modelos">
            <a:extLst>
              <a:ext uri="{FF2B5EF4-FFF2-40B4-BE49-F238E27FC236}">
                <a16:creationId xmlns:a16="http://schemas.microsoft.com/office/drawing/2014/main" id="{81B77470-FDD4-4FDD-9CFF-F3B6761DF808}"/>
              </a:ext>
            </a:extLst>
          </p:cNvPr>
          <p:cNvSpPr>
            <a:spLocks noGrp="1"/>
          </p:cNvSpPr>
          <p:nvPr/>
        </p:nvSpPr>
        <p:spPr>
          <a:xfrm>
            <a:off x="609600" y="1533525"/>
            <a:ext cx="5172075" cy="590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  <a:defRPr sz="1875" b="1" i="0">
                <a:solidFill>
                  <a:srgbClr val="D6482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875" b="1" i="0">
                <a:solidFill>
                  <a:srgbClr val="D64826"/>
                </a:solidFill>
                <a:latin typeface="Liberation Sans"/>
                <a:ea typeface="Liberation Sans"/>
                <a:cs typeface="Liberation Sans"/>
              </a:rPr>
              <a:t>Fundamentos e primeiros modelos</a:t>
            </a:r>
          </a:p>
        </p:txBody>
      </p:sp>
      <p:sp>
        <p:nvSpPr>
          <p:cNvPr id="3" name="Transformer: Attention Is All You Need">
            <a:extLst>
              <a:ext uri="{FF2B5EF4-FFF2-40B4-BE49-F238E27FC236}">
                <a16:creationId xmlns:a16="http://schemas.microsoft.com/office/drawing/2014/main" id="{ABBB34F0-3A30-4EED-B043-03BFD0574AC6}"/>
              </a:ext>
            </a:extLst>
          </p:cNvPr>
          <p:cNvSpPr>
            <a:spLocks noGrp="1"/>
          </p:cNvSpPr>
          <p:nvPr/>
        </p:nvSpPr>
        <p:spPr>
          <a:xfrm>
            <a:off x="609600" y="2238375"/>
            <a:ext cx="5172075" cy="2952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  <a:defRPr sz="1500" b="0" i="0">
                <a:solidFill>
                  <a:srgbClr val="21647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500" b="0" i="0">
                <a:solidFill>
                  <a:srgbClr val="216476"/>
                </a:solidFill>
                <a:latin typeface="Liberation Sans"/>
                <a:ea typeface="Liberation Sans"/>
                <a:cs typeface="Liberation Sans"/>
                <a:hlinkClick r:id="rId3"/>
              </a:rPr>
              <a:t>Transformer: Attention Is All You Need</a:t>
            </a:r>
          </a:p>
        </p:txBody>
      </p:sp>
      <p:sp>
        <p:nvSpPr>
          <p:cNvPr id="4" name="GPT-3: Language Models are Few-Shot Learners">
            <a:extLst>
              <a:ext uri="{FF2B5EF4-FFF2-40B4-BE49-F238E27FC236}">
                <a16:creationId xmlns:a16="http://schemas.microsoft.com/office/drawing/2014/main" id="{E171CFA0-2A64-4C7C-868F-7C667FD4C77B}"/>
              </a:ext>
            </a:extLst>
          </p:cNvPr>
          <p:cNvSpPr>
            <a:spLocks noGrp="1"/>
          </p:cNvSpPr>
          <p:nvPr/>
        </p:nvSpPr>
        <p:spPr>
          <a:xfrm>
            <a:off x="609600" y="2705100"/>
            <a:ext cx="5172075" cy="2952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  <a:defRPr sz="1500" b="0" i="0">
                <a:solidFill>
                  <a:srgbClr val="21647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500" b="0" i="0">
                <a:solidFill>
                  <a:srgbClr val="216476"/>
                </a:solidFill>
                <a:latin typeface="Liberation Sans"/>
                <a:ea typeface="Liberation Sans"/>
                <a:cs typeface="Liberation Sans"/>
                <a:hlinkClick r:id="rId4"/>
              </a:rPr>
              <a:t>GPT-3: Language Models are Few-Shot Learners</a:t>
            </a:r>
          </a:p>
        </p:txBody>
      </p:sp>
      <p:sp>
        <p:nvSpPr>
          <p:cNvPr id="5" name="OpenAI: lançamento do ChatGPT">
            <a:extLst>
              <a:ext uri="{FF2B5EF4-FFF2-40B4-BE49-F238E27FC236}">
                <a16:creationId xmlns:a16="http://schemas.microsoft.com/office/drawing/2014/main" id="{501EC4DE-E37E-4DC3-9CE7-4F3E26C68C83}"/>
              </a:ext>
            </a:extLst>
          </p:cNvPr>
          <p:cNvSpPr>
            <a:spLocks noGrp="1"/>
          </p:cNvSpPr>
          <p:nvPr/>
        </p:nvSpPr>
        <p:spPr>
          <a:xfrm>
            <a:off x="609600" y="3171825"/>
            <a:ext cx="5172075" cy="2952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  <a:defRPr sz="1500" b="0" i="0">
                <a:solidFill>
                  <a:srgbClr val="21647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500" b="0" i="0">
                <a:solidFill>
                  <a:srgbClr val="216476"/>
                </a:solidFill>
                <a:latin typeface="Liberation Sans"/>
                <a:ea typeface="Liberation Sans"/>
                <a:cs typeface="Liberation Sans"/>
                <a:hlinkClick r:id="rId5"/>
              </a:rPr>
              <a:t>OpenAI: lançamento do ChatGPT</a:t>
            </a:r>
          </a:p>
        </p:txBody>
      </p:sp>
      <p:sp>
        <p:nvSpPr>
          <p:cNvPr id="6" name="OpenAI: GPT-4">
            <a:extLst>
              <a:ext uri="{FF2B5EF4-FFF2-40B4-BE49-F238E27FC236}">
                <a16:creationId xmlns:a16="http://schemas.microsoft.com/office/drawing/2014/main" id="{46910F25-5B3B-470D-9386-FB0D91BFCC28}"/>
              </a:ext>
            </a:extLst>
          </p:cNvPr>
          <p:cNvSpPr>
            <a:spLocks noGrp="1"/>
          </p:cNvSpPr>
          <p:nvPr/>
        </p:nvSpPr>
        <p:spPr>
          <a:xfrm>
            <a:off x="609600" y="3638550"/>
            <a:ext cx="5172075" cy="2952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  <a:defRPr sz="1500" b="0" i="0">
                <a:solidFill>
                  <a:srgbClr val="21647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500" b="0" i="0">
                <a:solidFill>
                  <a:srgbClr val="216476"/>
                </a:solidFill>
                <a:latin typeface="Liberation Sans"/>
                <a:ea typeface="Liberation Sans"/>
                <a:cs typeface="Liberation Sans"/>
                <a:hlinkClick r:id="rId6"/>
              </a:rPr>
              <a:t>OpenAI: GPT-4</a:t>
            </a:r>
          </a:p>
        </p:txBody>
      </p:sp>
      <p:sp>
        <p:nvSpPr>
          <p:cNvPr id="7" name="Anthropic: lançamento do Claude">
            <a:extLst>
              <a:ext uri="{FF2B5EF4-FFF2-40B4-BE49-F238E27FC236}">
                <a16:creationId xmlns:a16="http://schemas.microsoft.com/office/drawing/2014/main" id="{E396D704-F1D6-45C1-824F-A42C3258D3F3}"/>
              </a:ext>
            </a:extLst>
          </p:cNvPr>
          <p:cNvSpPr>
            <a:spLocks noGrp="1"/>
          </p:cNvSpPr>
          <p:nvPr/>
        </p:nvSpPr>
        <p:spPr>
          <a:xfrm>
            <a:off x="609600" y="4105275"/>
            <a:ext cx="5172075" cy="2952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  <a:defRPr sz="1500" b="0" i="0">
                <a:solidFill>
                  <a:srgbClr val="21647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500" b="0" i="0">
                <a:solidFill>
                  <a:srgbClr val="216476"/>
                </a:solidFill>
                <a:latin typeface="Liberation Sans"/>
                <a:ea typeface="Liberation Sans"/>
                <a:cs typeface="Liberation Sans"/>
                <a:hlinkClick r:id="rId7"/>
              </a:rPr>
              <a:t>Anthropic: lançamento do Claude</a:t>
            </a:r>
          </a:p>
        </p:txBody>
      </p:sp>
      <p:sp>
        <p:nvSpPr>
          <p:cNvPr id="8" name="Google: lançamento do Gemini">
            <a:extLst>
              <a:ext uri="{FF2B5EF4-FFF2-40B4-BE49-F238E27FC236}">
                <a16:creationId xmlns:a16="http://schemas.microsoft.com/office/drawing/2014/main" id="{E675A6AD-C995-40E3-A61E-15168EA6C5F0}"/>
              </a:ext>
            </a:extLst>
          </p:cNvPr>
          <p:cNvSpPr>
            <a:spLocks noGrp="1"/>
          </p:cNvSpPr>
          <p:nvPr/>
        </p:nvSpPr>
        <p:spPr>
          <a:xfrm>
            <a:off x="609600" y="4572000"/>
            <a:ext cx="5172075" cy="2952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  <a:defRPr sz="1500" b="0" i="0">
                <a:solidFill>
                  <a:srgbClr val="21647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500" b="0" i="0">
                <a:solidFill>
                  <a:srgbClr val="216476"/>
                </a:solidFill>
                <a:latin typeface="Liberation Sans"/>
                <a:ea typeface="Liberation Sans"/>
                <a:cs typeface="Liberation Sans"/>
                <a:hlinkClick r:id="rId8"/>
              </a:rPr>
              <a:t>Google: lançamento do Gemini</a:t>
            </a:r>
          </a:p>
        </p:txBody>
      </p:sp>
      <p:sp>
        <p:nvSpPr>
          <p:cNvPr id="9" name="Parlamento Europeu: acordo do AI Act">
            <a:extLst>
              <a:ext uri="{FF2B5EF4-FFF2-40B4-BE49-F238E27FC236}">
                <a16:creationId xmlns:a16="http://schemas.microsoft.com/office/drawing/2014/main" id="{652E0790-8AAC-4897-A5BC-B4E1B51672E1}"/>
              </a:ext>
            </a:extLst>
          </p:cNvPr>
          <p:cNvSpPr>
            <a:spLocks noGrp="1"/>
          </p:cNvSpPr>
          <p:nvPr/>
        </p:nvSpPr>
        <p:spPr>
          <a:xfrm>
            <a:off x="609600" y="5038725"/>
            <a:ext cx="5172075" cy="2952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  <a:defRPr sz="1500" b="0" i="0">
                <a:solidFill>
                  <a:srgbClr val="21647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500" b="0" i="0">
                <a:solidFill>
                  <a:srgbClr val="216476"/>
                </a:solidFill>
                <a:latin typeface="Liberation Sans"/>
                <a:ea typeface="Liberation Sans"/>
                <a:cs typeface="Liberation Sans"/>
                <a:hlinkClick r:id="rId9"/>
              </a:rPr>
              <a:t>Parlamento Europeu: acordo do AI Act</a:t>
            </a:r>
          </a:p>
        </p:txBody>
      </p:sp>
      <p:sp>
        <p:nvSpPr>
          <p:cNvPr id="10" name="Multimodalidade, agentes e segurança">
            <a:extLst>
              <a:ext uri="{FF2B5EF4-FFF2-40B4-BE49-F238E27FC236}">
                <a16:creationId xmlns:a16="http://schemas.microsoft.com/office/drawing/2014/main" id="{DE7D892A-3462-4B36-AFD4-A87A16306648}"/>
              </a:ext>
            </a:extLst>
          </p:cNvPr>
          <p:cNvSpPr>
            <a:spLocks noGrp="1"/>
          </p:cNvSpPr>
          <p:nvPr/>
        </p:nvSpPr>
        <p:spPr>
          <a:xfrm>
            <a:off x="6419850" y="1533525"/>
            <a:ext cx="5172075" cy="590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  <a:defRPr sz="1875" b="1" i="0">
                <a:solidFill>
                  <a:srgbClr val="D6482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875" b="1" i="0">
                <a:solidFill>
                  <a:srgbClr val="D64826"/>
                </a:solidFill>
                <a:latin typeface="Liberation Sans"/>
                <a:ea typeface="Liberation Sans"/>
                <a:cs typeface="Liberation Sans"/>
              </a:rPr>
              <a:t>Multimodalidade, agentes e segurança</a:t>
            </a:r>
          </a:p>
        </p:txBody>
      </p:sp>
      <p:sp>
        <p:nvSpPr>
          <p:cNvPr id="11" name="OpenAI: GPT-4o">
            <a:extLst>
              <a:ext uri="{FF2B5EF4-FFF2-40B4-BE49-F238E27FC236}">
                <a16:creationId xmlns:a16="http://schemas.microsoft.com/office/drawing/2014/main" id="{A1F3B12F-78E5-407D-849E-49027A48B4BF}"/>
              </a:ext>
            </a:extLst>
          </p:cNvPr>
          <p:cNvSpPr>
            <a:spLocks noGrp="1"/>
          </p:cNvSpPr>
          <p:nvPr/>
        </p:nvSpPr>
        <p:spPr>
          <a:xfrm>
            <a:off x="6419850" y="2238375"/>
            <a:ext cx="5172075" cy="2952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  <a:defRPr sz="1500" b="0" i="0">
                <a:solidFill>
                  <a:srgbClr val="21647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500" b="0" i="0">
                <a:solidFill>
                  <a:srgbClr val="216476"/>
                </a:solidFill>
                <a:latin typeface="Liberation Sans"/>
                <a:ea typeface="Liberation Sans"/>
                <a:cs typeface="Liberation Sans"/>
                <a:hlinkClick r:id="rId10"/>
              </a:rPr>
              <a:t>OpenAI: GPT-4o</a:t>
            </a:r>
          </a:p>
        </p:txBody>
      </p:sp>
      <p:sp>
        <p:nvSpPr>
          <p:cNvPr id="12" name="Anthropic: computer use">
            <a:extLst>
              <a:ext uri="{FF2B5EF4-FFF2-40B4-BE49-F238E27FC236}">
                <a16:creationId xmlns:a16="http://schemas.microsoft.com/office/drawing/2014/main" id="{DB6F858A-1F1D-4484-B60C-4B48E66A360E}"/>
              </a:ext>
            </a:extLst>
          </p:cNvPr>
          <p:cNvSpPr>
            <a:spLocks noGrp="1"/>
          </p:cNvSpPr>
          <p:nvPr/>
        </p:nvSpPr>
        <p:spPr>
          <a:xfrm>
            <a:off x="6419850" y="2705100"/>
            <a:ext cx="5172075" cy="2952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  <a:defRPr sz="1500" b="0" i="0">
                <a:solidFill>
                  <a:srgbClr val="21647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500" b="0" i="0">
                <a:solidFill>
                  <a:srgbClr val="216476"/>
                </a:solidFill>
                <a:latin typeface="Liberation Sans"/>
                <a:ea typeface="Liberation Sans"/>
                <a:cs typeface="Liberation Sans"/>
                <a:hlinkClick r:id="rId11"/>
              </a:rPr>
              <a:t>Anthropic: computer use</a:t>
            </a:r>
          </a:p>
        </p:txBody>
      </p:sp>
      <p:sp>
        <p:nvSpPr>
          <p:cNvPr id="13" name="Anthropic: Model Context Protocol">
            <a:extLst>
              <a:ext uri="{FF2B5EF4-FFF2-40B4-BE49-F238E27FC236}">
                <a16:creationId xmlns:a16="http://schemas.microsoft.com/office/drawing/2014/main" id="{CDA7F3AC-98D9-4FFD-8F2D-968D9E78E802}"/>
              </a:ext>
            </a:extLst>
          </p:cNvPr>
          <p:cNvSpPr>
            <a:spLocks noGrp="1"/>
          </p:cNvSpPr>
          <p:nvPr/>
        </p:nvSpPr>
        <p:spPr>
          <a:xfrm>
            <a:off x="6419850" y="3171825"/>
            <a:ext cx="5172075" cy="2952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  <a:defRPr sz="1500" b="0" i="0">
                <a:solidFill>
                  <a:srgbClr val="21647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500" b="0" i="0">
                <a:solidFill>
                  <a:srgbClr val="216476"/>
                </a:solidFill>
                <a:latin typeface="Liberation Sans"/>
                <a:ea typeface="Liberation Sans"/>
                <a:cs typeface="Liberation Sans"/>
                <a:hlinkClick r:id="rId12"/>
              </a:rPr>
              <a:t>Anthropic: Model Context Protocol</a:t>
            </a:r>
          </a:p>
        </p:txBody>
      </p:sp>
      <p:sp>
        <p:nvSpPr>
          <p:cNvPr id="14" name="Anthropic: Claude Code">
            <a:extLst>
              <a:ext uri="{FF2B5EF4-FFF2-40B4-BE49-F238E27FC236}">
                <a16:creationId xmlns:a16="http://schemas.microsoft.com/office/drawing/2014/main" id="{AABF0733-FBFC-4E58-A157-8E0F67B10EC8}"/>
              </a:ext>
            </a:extLst>
          </p:cNvPr>
          <p:cNvSpPr>
            <a:spLocks noGrp="1"/>
          </p:cNvSpPr>
          <p:nvPr/>
        </p:nvSpPr>
        <p:spPr>
          <a:xfrm>
            <a:off x="6419850" y="3638550"/>
            <a:ext cx="5172075" cy="2952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  <a:defRPr sz="1500" b="0" i="0">
                <a:solidFill>
                  <a:srgbClr val="21647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500" b="0" i="0">
                <a:solidFill>
                  <a:srgbClr val="216476"/>
                </a:solidFill>
                <a:latin typeface="Liberation Sans"/>
                <a:ea typeface="Liberation Sans"/>
                <a:cs typeface="Liberation Sans"/>
                <a:hlinkClick r:id="rId13"/>
              </a:rPr>
              <a:t>Anthropic: Claude Code</a:t>
            </a:r>
          </a:p>
        </p:txBody>
      </p:sp>
      <p:sp>
        <p:nvSpPr>
          <p:cNvPr id="15" name="OpenAI: ChatGPT agent, lançamento">
            <a:extLst>
              <a:ext uri="{FF2B5EF4-FFF2-40B4-BE49-F238E27FC236}">
                <a16:creationId xmlns:a16="http://schemas.microsoft.com/office/drawing/2014/main" id="{59BDD8F0-7C49-4115-AF37-4C02A0FCED28}"/>
              </a:ext>
            </a:extLst>
          </p:cNvPr>
          <p:cNvSpPr>
            <a:spLocks noGrp="1"/>
          </p:cNvSpPr>
          <p:nvPr/>
        </p:nvSpPr>
        <p:spPr>
          <a:xfrm>
            <a:off x="6419850" y="4105275"/>
            <a:ext cx="5172075" cy="2952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  <a:defRPr sz="1500" b="0" i="0">
                <a:solidFill>
                  <a:srgbClr val="21647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500" b="0" i="0">
                <a:solidFill>
                  <a:srgbClr val="216476"/>
                </a:solidFill>
                <a:latin typeface="Liberation Sans"/>
                <a:ea typeface="Liberation Sans"/>
                <a:cs typeface="Liberation Sans"/>
                <a:hlinkClick r:id="rId14"/>
              </a:rPr>
              <a:t>OpenAI: ChatGPT agent, lançamento</a:t>
            </a:r>
          </a:p>
        </p:txBody>
      </p:sp>
      <p:sp>
        <p:nvSpPr>
          <p:cNvPr id="16" name="OpenAI: GPT-5">
            <a:extLst>
              <a:ext uri="{FF2B5EF4-FFF2-40B4-BE49-F238E27FC236}">
                <a16:creationId xmlns:a16="http://schemas.microsoft.com/office/drawing/2014/main" id="{F4B2AF05-B713-4977-AA28-A153E704A8F3}"/>
              </a:ext>
            </a:extLst>
          </p:cNvPr>
          <p:cNvSpPr>
            <a:spLocks noGrp="1"/>
          </p:cNvSpPr>
          <p:nvPr/>
        </p:nvSpPr>
        <p:spPr>
          <a:xfrm>
            <a:off x="6419850" y="4572000"/>
            <a:ext cx="5172075" cy="2952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  <a:defRPr sz="1500" b="0" i="0">
                <a:solidFill>
                  <a:srgbClr val="21647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500" b="0" i="0">
                <a:solidFill>
                  <a:srgbClr val="216476"/>
                </a:solidFill>
                <a:latin typeface="Liberation Sans"/>
                <a:ea typeface="Liberation Sans"/>
                <a:cs typeface="Liberation Sans"/>
                <a:hlinkClick r:id="rId15"/>
              </a:rPr>
              <a:t>OpenAI: GPT-5</a:t>
            </a:r>
          </a:p>
        </p:txBody>
      </p:sp>
      <p:sp>
        <p:nvSpPr>
          <p:cNvPr id="17" name="OpenAI: incidente em avaliação de modelos">
            <a:extLst>
              <a:ext uri="{FF2B5EF4-FFF2-40B4-BE49-F238E27FC236}">
                <a16:creationId xmlns:a16="http://schemas.microsoft.com/office/drawing/2014/main" id="{A7095AF6-3997-4ECB-AB8E-4D9272713921}"/>
              </a:ext>
            </a:extLst>
          </p:cNvPr>
          <p:cNvSpPr>
            <a:spLocks noGrp="1"/>
          </p:cNvSpPr>
          <p:nvPr/>
        </p:nvSpPr>
        <p:spPr>
          <a:xfrm>
            <a:off x="6419850" y="5038725"/>
            <a:ext cx="5172075" cy="2952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  <a:defRPr sz="1500" b="0" i="0">
                <a:solidFill>
                  <a:srgbClr val="21647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500" b="0" i="0">
                <a:solidFill>
                  <a:srgbClr val="216476"/>
                </a:solidFill>
                <a:latin typeface="Liberation Sans"/>
                <a:ea typeface="Liberation Sans"/>
                <a:cs typeface="Liberation Sans"/>
                <a:hlinkClick r:id="rId16"/>
              </a:rPr>
              <a:t>OpenAI: incidente em avaliação de modelos</a:t>
            </a:r>
          </a:p>
        </p:txBody>
      </p:sp>
      <p:sp>
        <p:nvSpPr>
          <p:cNvPr id="18" name="Dario Amodei: We Must Pace the Frontier">
            <a:extLst>
              <a:ext uri="{FF2B5EF4-FFF2-40B4-BE49-F238E27FC236}">
                <a16:creationId xmlns:a16="http://schemas.microsoft.com/office/drawing/2014/main" id="{F0932CAD-1EF6-4B77-A012-8C158C472CFB}"/>
              </a:ext>
            </a:extLst>
          </p:cNvPr>
          <p:cNvSpPr>
            <a:spLocks noGrp="1"/>
          </p:cNvSpPr>
          <p:nvPr/>
        </p:nvSpPr>
        <p:spPr>
          <a:xfrm>
            <a:off x="6419850" y="5505450"/>
            <a:ext cx="5172075" cy="2952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  <a:defRPr sz="1500" b="0" i="0">
                <a:solidFill>
                  <a:srgbClr val="21647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500" b="0" i="0">
                <a:solidFill>
                  <a:srgbClr val="216476"/>
                </a:solidFill>
                <a:latin typeface="Liberation Sans"/>
                <a:ea typeface="Liberation Sans"/>
                <a:cs typeface="Liberation Sans"/>
                <a:hlinkClick r:id="rId17"/>
              </a:rPr>
              <a:t>Dario Amodei: We Must Pace the Frontier</a:t>
            </a:r>
          </a:p>
        </p:txBody>
      </p:sp>
      <p:sp>
        <p:nvSpPr>
          <p:cNvPr id="19" name="Fontes usadas no conteúdo principal e nas notas. Título">
            <a:extLst>
              <a:ext uri="{FF2B5EF4-FFF2-40B4-BE49-F238E27FC236}">
                <a16:creationId xmlns:a16="http://schemas.microsoft.com/office/drawing/2014/main" id="{F6BDEBEF-2C34-49D3-9C32-1001DE818ED2}"/>
              </a:ext>
            </a:extLst>
          </p:cNvPr>
          <p:cNvSpPr>
            <a:spLocks noGrp="1"/>
          </p:cNvSpPr>
          <p:nvPr/>
        </p:nvSpPr>
        <p:spPr>
          <a:xfrm>
            <a:off x="609600" y="6276975"/>
            <a:ext cx="10572750" cy="3333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  <a:defRPr sz="1013" b="0" i="0">
                <a:solidFill>
                  <a:srgbClr val="666660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013" b="0" i="0">
                <a:solidFill>
                  <a:srgbClr val="666660"/>
                </a:solidFill>
                <a:latin typeface="Liberation Sans"/>
                <a:ea typeface="Liberation Sans"/>
                <a:cs typeface="Liberation Sans"/>
              </a:rPr>
              <a:t>Fontes usadas no conteúdo principal e nas notas. Títulos clicáveis levam diretamente às publicações.</a:t>
            </a:r>
          </a:p>
        </p:txBody>
      </p:sp>
      <p:sp>
        <p:nvSpPr>
          <p:cNvPr id="20" name="21">
            <a:extLst>
              <a:ext uri="{FF2B5EF4-FFF2-40B4-BE49-F238E27FC236}">
                <a16:creationId xmlns:a16="http://schemas.microsoft.com/office/drawing/2014/main" id="{57F24521-40B4-4243-AF94-7F3106E1A484}"/>
              </a:ext>
            </a:extLst>
          </p:cNvPr>
          <p:cNvSpPr>
            <a:spLocks noGrp="1"/>
          </p:cNvSpPr>
          <p:nvPr/>
        </p:nvSpPr>
        <p:spPr>
          <a:xfrm>
            <a:off x="11258550" y="6515100"/>
            <a:ext cx="333375" cy="1905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r">
              <a:buNone/>
              <a:defRPr sz="1050" b="0" i="0">
                <a:solidFill>
                  <a:srgbClr val="8A8882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050" b="0" i="0">
                <a:solidFill>
                  <a:srgbClr val="8A8882"/>
                </a:solidFill>
                <a:latin typeface="Liberation Sans"/>
                <a:ea typeface="Liberation Sans"/>
                <a:cs typeface="Liberation Sans"/>
              </a:rPr>
              <a:t>21</a:t>
            </a:r>
          </a:p>
        </p:txBody>
      </p:sp>
    </p:spTree>
    <p:extLst>
      <p:ext uri="{BB962C8B-B14F-4D97-AF65-F5344CB8AC3E}">
        <p14:creationId xmlns:p14="http://schemas.microsoft.com/office/powerpoint/2010/main" val="173779937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Fontes: produtos e uso responsável">
            <a:extLst>
              <a:ext uri="{FF2B5EF4-FFF2-40B4-BE49-F238E27FC236}">
                <a16:creationId xmlns:a16="http://schemas.microsoft.com/office/drawing/2014/main" id="{5C45FF32-5787-4AB1-B2BF-94537F22E466}"/>
              </a:ext>
            </a:extLst>
          </p:cNvPr>
          <p:cNvSpPr>
            <a:spLocks noGrp="1"/>
          </p:cNvSpPr>
          <p:nvPr/>
        </p:nvSpPr>
        <p:spPr>
          <a:xfrm>
            <a:off x="609600" y="419100"/>
            <a:ext cx="10972800" cy="685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  <a:defRPr sz="3450" b="1" i="0">
                <a:solidFill>
                  <a:srgbClr val="232322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3450" b="1" i="0">
                <a:solidFill>
                  <a:srgbClr val="232322"/>
                </a:solidFill>
                <a:latin typeface="Liberation Sans"/>
                <a:ea typeface="Liberation Sans"/>
                <a:cs typeface="Liberation Sans"/>
              </a:rPr>
              <a:t>Fontes: produtos e uso responsável</a:t>
            </a:r>
          </a:p>
        </p:txBody>
      </p:sp>
      <p:sp>
        <p:nvSpPr>
          <p:cNvPr id="2" name="Produtos, skills e conexões">
            <a:extLst>
              <a:ext uri="{FF2B5EF4-FFF2-40B4-BE49-F238E27FC236}">
                <a16:creationId xmlns:a16="http://schemas.microsoft.com/office/drawing/2014/main" id="{5DD177FF-2674-48D4-B501-8FCB4B205F1C}"/>
              </a:ext>
            </a:extLst>
          </p:cNvPr>
          <p:cNvSpPr>
            <a:spLocks noGrp="1"/>
          </p:cNvSpPr>
          <p:nvPr/>
        </p:nvSpPr>
        <p:spPr>
          <a:xfrm>
            <a:off x="609600" y="1533525"/>
            <a:ext cx="5172075" cy="590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  <a:defRPr sz="1875" b="1" i="0">
                <a:solidFill>
                  <a:srgbClr val="D6482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875" b="1" i="0">
                <a:solidFill>
                  <a:srgbClr val="D64826"/>
                </a:solidFill>
                <a:latin typeface="Liberation Sans"/>
                <a:ea typeface="Liberation Sans"/>
                <a:cs typeface="Liberation Sans"/>
              </a:rPr>
              <a:t>Produtos, skills e conexões</a:t>
            </a:r>
          </a:p>
        </p:txBody>
      </p:sp>
      <p:sp>
        <p:nvSpPr>
          <p:cNvPr id="3" name="ChatGPT: Work">
            <a:extLst>
              <a:ext uri="{FF2B5EF4-FFF2-40B4-BE49-F238E27FC236}">
                <a16:creationId xmlns:a16="http://schemas.microsoft.com/office/drawing/2014/main" id="{1F585408-E4E0-4CC4-934A-F0AD5E05828D}"/>
              </a:ext>
            </a:extLst>
          </p:cNvPr>
          <p:cNvSpPr>
            <a:spLocks noGrp="1"/>
          </p:cNvSpPr>
          <p:nvPr/>
        </p:nvSpPr>
        <p:spPr>
          <a:xfrm>
            <a:off x="609600" y="2238375"/>
            <a:ext cx="5172075" cy="2952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  <a:defRPr sz="1500" b="0" i="0">
                <a:solidFill>
                  <a:srgbClr val="21647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500" b="0" i="0">
                <a:solidFill>
                  <a:srgbClr val="216476"/>
                </a:solidFill>
                <a:latin typeface="Liberation Sans"/>
                <a:ea typeface="Liberation Sans"/>
                <a:cs typeface="Liberation Sans"/>
                <a:hlinkClick r:id="rId3"/>
              </a:rPr>
              <a:t>ChatGPT: Work</a:t>
            </a:r>
          </a:p>
        </p:txBody>
      </p:sp>
      <p:sp>
        <p:nvSpPr>
          <p:cNvPr id="4" name="ChatGPT: apps e permissões">
            <a:extLst>
              <a:ext uri="{FF2B5EF4-FFF2-40B4-BE49-F238E27FC236}">
                <a16:creationId xmlns:a16="http://schemas.microsoft.com/office/drawing/2014/main" id="{48CB1CD9-2C22-472E-AB93-2646A95BE210}"/>
              </a:ext>
            </a:extLst>
          </p:cNvPr>
          <p:cNvSpPr>
            <a:spLocks noGrp="1"/>
          </p:cNvSpPr>
          <p:nvPr/>
        </p:nvSpPr>
        <p:spPr>
          <a:xfrm>
            <a:off x="609600" y="2646615"/>
            <a:ext cx="5172075" cy="2952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  <a:defRPr sz="1500" b="0" i="0">
                <a:solidFill>
                  <a:srgbClr val="21647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500" b="0" i="0">
                <a:solidFill>
                  <a:srgbClr val="216476"/>
                </a:solidFill>
                <a:latin typeface="Liberation Sans"/>
                <a:ea typeface="Liberation Sans"/>
                <a:cs typeface="Liberation Sans"/>
                <a:hlinkClick r:id="rId4"/>
              </a:rPr>
              <a:t>ChatGPT: apps e permissões</a:t>
            </a:r>
          </a:p>
        </p:txBody>
      </p:sp>
      <p:sp>
        <p:nvSpPr>
          <p:cNvPr id="5" name="ChatGPT: plugins e skills">
            <a:extLst>
              <a:ext uri="{FF2B5EF4-FFF2-40B4-BE49-F238E27FC236}">
                <a16:creationId xmlns:a16="http://schemas.microsoft.com/office/drawing/2014/main" id="{FFE0B643-15DD-421E-A38E-3C063789ECE2}"/>
              </a:ext>
            </a:extLst>
          </p:cNvPr>
          <p:cNvSpPr>
            <a:spLocks noGrp="1"/>
          </p:cNvSpPr>
          <p:nvPr/>
        </p:nvSpPr>
        <p:spPr>
          <a:xfrm>
            <a:off x="609600" y="3054855"/>
            <a:ext cx="5172075" cy="2952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  <a:defRPr sz="1500" b="0" i="0">
                <a:solidFill>
                  <a:srgbClr val="21647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500" b="0" i="0">
                <a:solidFill>
                  <a:srgbClr val="216476"/>
                </a:solidFill>
                <a:latin typeface="Liberation Sans"/>
                <a:ea typeface="Liberation Sans"/>
                <a:cs typeface="Liberation Sans"/>
                <a:hlinkClick r:id="rId5"/>
              </a:rPr>
              <a:t>ChatGPT: plugins e skills</a:t>
            </a:r>
          </a:p>
        </p:txBody>
      </p:sp>
      <p:sp>
        <p:nvSpPr>
          <p:cNvPr id="6" name="ChatGPT: controles de skills">
            <a:extLst>
              <a:ext uri="{FF2B5EF4-FFF2-40B4-BE49-F238E27FC236}">
                <a16:creationId xmlns:a16="http://schemas.microsoft.com/office/drawing/2014/main" id="{67F65B9E-1683-4FE3-9C05-7E163D63F723}"/>
              </a:ext>
            </a:extLst>
          </p:cNvPr>
          <p:cNvSpPr>
            <a:spLocks noGrp="1"/>
          </p:cNvSpPr>
          <p:nvPr/>
        </p:nvSpPr>
        <p:spPr>
          <a:xfrm>
            <a:off x="609600" y="3463095"/>
            <a:ext cx="5172075" cy="2952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  <a:defRPr sz="1500" b="0" i="0">
                <a:solidFill>
                  <a:srgbClr val="21647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500" b="0" i="0">
                <a:solidFill>
                  <a:srgbClr val="216476"/>
                </a:solidFill>
                <a:latin typeface="Liberation Sans"/>
                <a:ea typeface="Liberation Sans"/>
                <a:cs typeface="Liberation Sans"/>
                <a:hlinkClick r:id="rId6"/>
              </a:rPr>
              <a:t>ChatGPT: controles de skills</a:t>
            </a:r>
          </a:p>
        </p:txBody>
      </p:sp>
      <p:sp>
        <p:nvSpPr>
          <p:cNvPr id="7" name="Claude: unificação de Chat e Cowork">
            <a:extLst>
              <a:ext uri="{FF2B5EF4-FFF2-40B4-BE49-F238E27FC236}">
                <a16:creationId xmlns:a16="http://schemas.microsoft.com/office/drawing/2014/main" id="{249264F9-C375-4F7F-A479-9592B81799BE}"/>
              </a:ext>
            </a:extLst>
          </p:cNvPr>
          <p:cNvSpPr>
            <a:spLocks noGrp="1"/>
          </p:cNvSpPr>
          <p:nvPr/>
        </p:nvSpPr>
        <p:spPr>
          <a:xfrm>
            <a:off x="609600" y="3871335"/>
            <a:ext cx="5172075" cy="2952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  <a:defRPr sz="1500" b="0" i="0">
                <a:solidFill>
                  <a:srgbClr val="21647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500" b="0" i="0">
                <a:solidFill>
                  <a:srgbClr val="216476"/>
                </a:solidFill>
                <a:latin typeface="Liberation Sans"/>
                <a:ea typeface="Liberation Sans"/>
                <a:cs typeface="Liberation Sans"/>
                <a:hlinkClick r:id="rId7"/>
              </a:rPr>
              <a:t>Claude: unificação de Chat e Cowork</a:t>
            </a:r>
          </a:p>
        </p:txBody>
      </p:sp>
      <p:sp>
        <p:nvSpPr>
          <p:cNvPr id="8" name="Claude: plugins">
            <a:extLst>
              <a:ext uri="{FF2B5EF4-FFF2-40B4-BE49-F238E27FC236}">
                <a16:creationId xmlns:a16="http://schemas.microsoft.com/office/drawing/2014/main" id="{F09E0ED2-3307-40AA-AA1A-6E158D05805B}"/>
              </a:ext>
            </a:extLst>
          </p:cNvPr>
          <p:cNvSpPr>
            <a:spLocks noGrp="1"/>
          </p:cNvSpPr>
          <p:nvPr/>
        </p:nvSpPr>
        <p:spPr>
          <a:xfrm>
            <a:off x="609600" y="4279575"/>
            <a:ext cx="5172075" cy="2952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  <a:defRPr sz="1500" b="0" i="0">
                <a:solidFill>
                  <a:srgbClr val="21647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500" b="0" i="0">
                <a:solidFill>
                  <a:srgbClr val="216476"/>
                </a:solidFill>
                <a:latin typeface="Liberation Sans"/>
                <a:ea typeface="Liberation Sans"/>
                <a:cs typeface="Liberation Sans"/>
                <a:hlinkClick r:id="rId8"/>
              </a:rPr>
              <a:t>Claude: plugins</a:t>
            </a:r>
          </a:p>
        </p:txBody>
      </p:sp>
      <p:sp>
        <p:nvSpPr>
          <p:cNvPr id="9" name="Google: requisitos do Gemini Spark">
            <a:extLst>
              <a:ext uri="{FF2B5EF4-FFF2-40B4-BE49-F238E27FC236}">
                <a16:creationId xmlns:a16="http://schemas.microsoft.com/office/drawing/2014/main" id="{12E3B265-D671-4BFF-8346-05C3B55BFBC2}"/>
              </a:ext>
            </a:extLst>
          </p:cNvPr>
          <p:cNvSpPr>
            <a:spLocks noGrp="1"/>
          </p:cNvSpPr>
          <p:nvPr/>
        </p:nvSpPr>
        <p:spPr>
          <a:xfrm>
            <a:off x="609600" y="4687815"/>
            <a:ext cx="5172075" cy="2952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  <a:defRPr sz="1500" b="0" i="0">
                <a:solidFill>
                  <a:srgbClr val="21647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500" b="0" i="0">
                <a:solidFill>
                  <a:srgbClr val="216476"/>
                </a:solidFill>
                <a:latin typeface="Liberation Sans"/>
                <a:ea typeface="Liberation Sans"/>
                <a:cs typeface="Liberation Sans"/>
                <a:hlinkClick r:id="rId9"/>
              </a:rPr>
              <a:t>Google: requisitos do Gemini Spark</a:t>
            </a:r>
          </a:p>
        </p:txBody>
      </p:sp>
      <p:sp>
        <p:nvSpPr>
          <p:cNvPr id="10" name="OpenAI: primeiros passos com dot">
            <a:extLst>
              <a:ext uri="{FF2B5EF4-FFF2-40B4-BE49-F238E27FC236}">
                <a16:creationId xmlns:a16="http://schemas.microsoft.com/office/drawing/2014/main" id="{5F692FFB-97C8-410D-B830-9AE0C7C98104}"/>
              </a:ext>
            </a:extLst>
          </p:cNvPr>
          <p:cNvSpPr>
            <a:spLocks noGrp="1"/>
          </p:cNvSpPr>
          <p:nvPr/>
        </p:nvSpPr>
        <p:spPr>
          <a:xfrm>
            <a:off x="609600" y="5096055"/>
            <a:ext cx="5172075" cy="2952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  <a:defRPr sz="1500" b="0" i="0">
                <a:solidFill>
                  <a:srgbClr val="21647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500" b="0" i="0">
                <a:solidFill>
                  <a:srgbClr val="216476"/>
                </a:solidFill>
                <a:latin typeface="Liberation Sans"/>
                <a:ea typeface="Liberation Sans"/>
                <a:cs typeface="Liberation Sans"/>
                <a:hlinkClick r:id="rId10"/>
              </a:rPr>
              <a:t>OpenAI: primeiros passos com dot</a:t>
            </a:r>
          </a:p>
        </p:txBody>
      </p:sp>
      <p:sp>
        <p:nvSpPr>
          <p:cNvPr id="11" name="Execução, contexto e segurança">
            <a:extLst>
              <a:ext uri="{FF2B5EF4-FFF2-40B4-BE49-F238E27FC236}">
                <a16:creationId xmlns:a16="http://schemas.microsoft.com/office/drawing/2014/main" id="{61DB313E-2102-4EF3-A710-C8E934EC2A9F}"/>
              </a:ext>
            </a:extLst>
          </p:cNvPr>
          <p:cNvSpPr>
            <a:spLocks noGrp="1"/>
          </p:cNvSpPr>
          <p:nvPr/>
        </p:nvSpPr>
        <p:spPr>
          <a:xfrm>
            <a:off x="6419850" y="1533525"/>
            <a:ext cx="5172075" cy="590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  <a:defRPr sz="1875" b="1" i="0">
                <a:solidFill>
                  <a:srgbClr val="D6482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875" b="1" i="0">
                <a:solidFill>
                  <a:srgbClr val="D64826"/>
                </a:solidFill>
                <a:latin typeface="Liberation Sans"/>
                <a:ea typeface="Liberation Sans"/>
                <a:cs typeface="Liberation Sans"/>
              </a:rPr>
              <a:t>Execução, contexto e segurança</a:t>
            </a:r>
          </a:p>
        </p:txBody>
      </p:sp>
      <p:sp>
        <p:nvSpPr>
          <p:cNvPr id="12" name="Meta: apresentação do Muse">
            <a:extLst>
              <a:ext uri="{FF2B5EF4-FFF2-40B4-BE49-F238E27FC236}">
                <a16:creationId xmlns:a16="http://schemas.microsoft.com/office/drawing/2014/main" id="{F612FC6B-4604-4686-A804-57FAA779A277}"/>
              </a:ext>
            </a:extLst>
          </p:cNvPr>
          <p:cNvSpPr>
            <a:spLocks noGrp="1"/>
          </p:cNvSpPr>
          <p:nvPr/>
        </p:nvSpPr>
        <p:spPr>
          <a:xfrm>
            <a:off x="6419850" y="2238375"/>
            <a:ext cx="5172075" cy="2952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  <a:defRPr sz="1500" b="0" i="0">
                <a:solidFill>
                  <a:srgbClr val="21647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500" b="0" i="0">
                <a:solidFill>
                  <a:srgbClr val="216476"/>
                </a:solidFill>
                <a:latin typeface="Liberation Sans"/>
                <a:ea typeface="Liberation Sans"/>
                <a:cs typeface="Liberation Sans"/>
                <a:hlinkClick r:id="rId11"/>
              </a:rPr>
              <a:t>Meta: apresentação do Muse</a:t>
            </a:r>
          </a:p>
        </p:txBody>
      </p:sp>
      <p:sp>
        <p:nvSpPr>
          <p:cNvPr id="13" name="xAI: Grok Bot">
            <a:extLst>
              <a:ext uri="{FF2B5EF4-FFF2-40B4-BE49-F238E27FC236}">
                <a16:creationId xmlns:a16="http://schemas.microsoft.com/office/drawing/2014/main" id="{B1BC3107-C806-4BC2-AF90-C4AC6909FA48}"/>
              </a:ext>
            </a:extLst>
          </p:cNvPr>
          <p:cNvSpPr>
            <a:spLocks noGrp="1"/>
          </p:cNvSpPr>
          <p:nvPr/>
        </p:nvSpPr>
        <p:spPr>
          <a:xfrm>
            <a:off x="6419850" y="2646615"/>
            <a:ext cx="5172075" cy="2952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  <a:defRPr sz="1500" b="0" i="0">
                <a:solidFill>
                  <a:srgbClr val="21647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500" b="0" i="0">
                <a:solidFill>
                  <a:srgbClr val="216476"/>
                </a:solidFill>
                <a:latin typeface="Liberation Sans"/>
                <a:ea typeface="Liberation Sans"/>
                <a:cs typeface="Liberation Sans"/>
                <a:hlinkClick r:id="rId12"/>
              </a:rPr>
              <a:t>xAI: Grok Bot</a:t>
            </a:r>
          </a:p>
        </p:txBody>
      </p:sp>
      <p:sp>
        <p:nvSpPr>
          <p:cNvPr id="14" name="Anthropic: Building effective agents">
            <a:extLst>
              <a:ext uri="{FF2B5EF4-FFF2-40B4-BE49-F238E27FC236}">
                <a16:creationId xmlns:a16="http://schemas.microsoft.com/office/drawing/2014/main" id="{4A9237D4-449F-48BB-A790-8AE9CCEEEC6A}"/>
              </a:ext>
            </a:extLst>
          </p:cNvPr>
          <p:cNvSpPr>
            <a:spLocks noGrp="1"/>
          </p:cNvSpPr>
          <p:nvPr/>
        </p:nvSpPr>
        <p:spPr>
          <a:xfrm>
            <a:off x="6419850" y="3054855"/>
            <a:ext cx="5172075" cy="2952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  <a:defRPr sz="1500" b="0" i="0">
                <a:solidFill>
                  <a:srgbClr val="21647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500" b="0" i="0">
                <a:solidFill>
                  <a:srgbClr val="216476"/>
                </a:solidFill>
                <a:latin typeface="Liberation Sans"/>
                <a:ea typeface="Liberation Sans"/>
                <a:cs typeface="Liberation Sans"/>
                <a:hlinkClick r:id="rId13"/>
              </a:rPr>
              <a:t>Anthropic: Building effective agents</a:t>
            </a:r>
          </a:p>
        </p:txBody>
      </p:sp>
      <p:sp>
        <p:nvSpPr>
          <p:cNvPr id="15" name="Anthropic: context engineering">
            <a:extLst>
              <a:ext uri="{FF2B5EF4-FFF2-40B4-BE49-F238E27FC236}">
                <a16:creationId xmlns:a16="http://schemas.microsoft.com/office/drawing/2014/main" id="{E2F4E228-B941-4BC3-8E43-F084362802F7}"/>
              </a:ext>
            </a:extLst>
          </p:cNvPr>
          <p:cNvSpPr>
            <a:spLocks noGrp="1"/>
          </p:cNvSpPr>
          <p:nvPr/>
        </p:nvSpPr>
        <p:spPr>
          <a:xfrm>
            <a:off x="6419850" y="3463095"/>
            <a:ext cx="5172075" cy="2952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  <a:defRPr sz="1500" b="0" i="0">
                <a:solidFill>
                  <a:srgbClr val="21647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500" b="0" i="0">
                <a:solidFill>
                  <a:srgbClr val="216476"/>
                </a:solidFill>
                <a:latin typeface="Liberation Sans"/>
                <a:ea typeface="Liberation Sans"/>
                <a:cs typeface="Liberation Sans"/>
                <a:hlinkClick r:id="rId14"/>
              </a:rPr>
              <a:t>Anthropic: context engineering</a:t>
            </a:r>
          </a:p>
        </p:txBody>
      </p:sp>
      <p:sp>
        <p:nvSpPr>
          <p:cNvPr id="16" name="METR: capacidade em tarefas longas">
            <a:extLst>
              <a:ext uri="{FF2B5EF4-FFF2-40B4-BE49-F238E27FC236}">
                <a16:creationId xmlns:a16="http://schemas.microsoft.com/office/drawing/2014/main" id="{A2BDF29E-3E34-46F4-9073-BA6AD0AD5DC6}"/>
              </a:ext>
            </a:extLst>
          </p:cNvPr>
          <p:cNvSpPr>
            <a:spLocks noGrp="1"/>
          </p:cNvSpPr>
          <p:nvPr/>
        </p:nvSpPr>
        <p:spPr>
          <a:xfrm>
            <a:off x="6419850" y="3871335"/>
            <a:ext cx="5172075" cy="2952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  <a:defRPr sz="1500" b="0" i="0">
                <a:solidFill>
                  <a:srgbClr val="21647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500" b="0" i="0">
                <a:solidFill>
                  <a:srgbClr val="216476"/>
                </a:solidFill>
                <a:latin typeface="Liberation Sans"/>
                <a:ea typeface="Liberation Sans"/>
                <a:cs typeface="Liberation Sans"/>
                <a:hlinkClick r:id="rId15"/>
              </a:rPr>
              <a:t>METR: capacidade em tarefas longas</a:t>
            </a:r>
          </a:p>
        </p:txBody>
      </p:sp>
      <p:sp>
        <p:nvSpPr>
          <p:cNvPr id="17" name="OWASP: segurança de agentes">
            <a:extLst>
              <a:ext uri="{FF2B5EF4-FFF2-40B4-BE49-F238E27FC236}">
                <a16:creationId xmlns:a16="http://schemas.microsoft.com/office/drawing/2014/main" id="{DD23AD0F-73C5-49F9-A205-2862B5109057}"/>
              </a:ext>
            </a:extLst>
          </p:cNvPr>
          <p:cNvSpPr>
            <a:spLocks noGrp="1"/>
          </p:cNvSpPr>
          <p:nvPr/>
        </p:nvSpPr>
        <p:spPr>
          <a:xfrm>
            <a:off x="6419850" y="4279575"/>
            <a:ext cx="5172075" cy="2952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  <a:defRPr sz="1500" b="0" i="0">
                <a:solidFill>
                  <a:srgbClr val="21647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500" b="0" i="0">
                <a:solidFill>
                  <a:srgbClr val="216476"/>
                </a:solidFill>
                <a:latin typeface="Liberation Sans"/>
                <a:ea typeface="Liberation Sans"/>
                <a:cs typeface="Liberation Sans"/>
                <a:hlinkClick r:id="rId16"/>
              </a:rPr>
              <a:t>OWASP: segurança de agentes</a:t>
            </a:r>
          </a:p>
        </p:txBody>
      </p:sp>
      <p:sp>
        <p:nvSpPr>
          <p:cNvPr id="18" name="OpenAI: segurança de agentes">
            <a:extLst>
              <a:ext uri="{FF2B5EF4-FFF2-40B4-BE49-F238E27FC236}">
                <a16:creationId xmlns:a16="http://schemas.microsoft.com/office/drawing/2014/main" id="{87261802-A02D-44BD-81E1-F558F15209C8}"/>
              </a:ext>
            </a:extLst>
          </p:cNvPr>
          <p:cNvSpPr>
            <a:spLocks noGrp="1"/>
          </p:cNvSpPr>
          <p:nvPr/>
        </p:nvSpPr>
        <p:spPr>
          <a:xfrm>
            <a:off x="6419850" y="4687815"/>
            <a:ext cx="5172075" cy="2952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  <a:defRPr sz="1500" b="0" i="0">
                <a:solidFill>
                  <a:srgbClr val="21647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500" b="0" i="0">
                <a:solidFill>
                  <a:srgbClr val="216476"/>
                </a:solidFill>
                <a:latin typeface="Liberation Sans"/>
                <a:ea typeface="Liberation Sans"/>
                <a:cs typeface="Liberation Sans"/>
                <a:hlinkClick r:id="rId17"/>
              </a:rPr>
              <a:t>OpenAI: segurança de agentes</a:t>
            </a:r>
          </a:p>
        </p:txBody>
      </p:sp>
      <p:sp>
        <p:nvSpPr>
          <p:cNvPr id="19" name="NIST: AI Risk Management Framework">
            <a:extLst>
              <a:ext uri="{FF2B5EF4-FFF2-40B4-BE49-F238E27FC236}">
                <a16:creationId xmlns:a16="http://schemas.microsoft.com/office/drawing/2014/main" id="{0F1699FE-AFBF-4541-A23C-5C61D8C73C49}"/>
              </a:ext>
            </a:extLst>
          </p:cNvPr>
          <p:cNvSpPr>
            <a:spLocks noGrp="1"/>
          </p:cNvSpPr>
          <p:nvPr/>
        </p:nvSpPr>
        <p:spPr>
          <a:xfrm>
            <a:off x="6419850" y="5096055"/>
            <a:ext cx="5172075" cy="2952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  <a:defRPr sz="1500" b="0" i="0">
                <a:solidFill>
                  <a:srgbClr val="21647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500" b="0" i="0">
                <a:solidFill>
                  <a:srgbClr val="216476"/>
                </a:solidFill>
                <a:latin typeface="Liberation Sans"/>
                <a:ea typeface="Liberation Sans"/>
                <a:cs typeface="Liberation Sans"/>
                <a:hlinkClick r:id="rId18"/>
              </a:rPr>
              <a:t>NIST: AI Risk Management Framework</a:t>
            </a:r>
          </a:p>
        </p:txBody>
      </p:sp>
      <p:sp>
        <p:nvSpPr>
          <p:cNvPr id="20" name="Fontes usadas no conteúdo principal e nas notas. Título">
            <a:extLst>
              <a:ext uri="{FF2B5EF4-FFF2-40B4-BE49-F238E27FC236}">
                <a16:creationId xmlns:a16="http://schemas.microsoft.com/office/drawing/2014/main" id="{4A6A5AD7-9EBB-401A-AD23-94E853FEFE74}"/>
              </a:ext>
            </a:extLst>
          </p:cNvPr>
          <p:cNvSpPr>
            <a:spLocks noGrp="1"/>
          </p:cNvSpPr>
          <p:nvPr/>
        </p:nvSpPr>
        <p:spPr>
          <a:xfrm>
            <a:off x="609600" y="6276975"/>
            <a:ext cx="10572750" cy="3333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  <a:defRPr sz="1013" b="0" i="0">
                <a:solidFill>
                  <a:srgbClr val="666660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013" b="0" i="0">
                <a:solidFill>
                  <a:srgbClr val="666660"/>
                </a:solidFill>
                <a:latin typeface="Liberation Sans"/>
                <a:ea typeface="Liberation Sans"/>
                <a:cs typeface="Liberation Sans"/>
              </a:rPr>
              <a:t>Fontes usadas no conteúdo principal e nas notas. Títulos clicáveis levam diretamente às publicações.</a:t>
            </a:r>
          </a:p>
        </p:txBody>
      </p:sp>
      <p:sp>
        <p:nvSpPr>
          <p:cNvPr id="21" name="22">
            <a:extLst>
              <a:ext uri="{FF2B5EF4-FFF2-40B4-BE49-F238E27FC236}">
                <a16:creationId xmlns:a16="http://schemas.microsoft.com/office/drawing/2014/main" id="{6FAF634E-90FA-4B61-9BAE-7B3DD9EC5CB2}"/>
              </a:ext>
            </a:extLst>
          </p:cNvPr>
          <p:cNvSpPr>
            <a:spLocks noGrp="1"/>
          </p:cNvSpPr>
          <p:nvPr/>
        </p:nvSpPr>
        <p:spPr>
          <a:xfrm>
            <a:off x="11258550" y="6515100"/>
            <a:ext cx="333375" cy="1905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r">
              <a:buNone/>
              <a:defRPr sz="1050" b="0" i="0">
                <a:solidFill>
                  <a:srgbClr val="8A8882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050" b="0" i="0">
                <a:solidFill>
                  <a:srgbClr val="8A8882"/>
                </a:solidFill>
                <a:latin typeface="Liberation Sans"/>
                <a:ea typeface="Liberation Sans"/>
                <a:cs typeface="Liberation Sans"/>
              </a:rPr>
              <a:t>22</a:t>
            </a:r>
          </a:p>
        </p:txBody>
      </p:sp>
      <p:sp>
        <p:nvSpPr>
          <p:cNvPr id="23" name="Microsoft: Copilot Cowork"/>
          <p:cNvSpPr>
            <a:spLocks noGrp="1"/>
          </p:cNvSpPr>
          <p:nvPr/>
        </p:nvSpPr>
        <p:spPr>
          <a:xfrm>
            <a:off x="609600" y="5504295"/>
            <a:ext cx="5172075" cy="2952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  <a:defRPr sz="1500" b="0" i="0">
                <a:solidFill>
                  <a:srgbClr val="21647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500" b="0" i="0">
                <a:solidFill>
                  <a:srgbClr val="216476"/>
                </a:solidFill>
                <a:latin typeface="Liberation Sans"/>
                <a:ea typeface="Liberation Sans"/>
                <a:cs typeface="Liberation Sans"/>
                <a:hlinkClick r:id="rId19"/>
              </a:rPr>
              <a:t>Microsoft: Copilot Cowork</a:t>
            </a:r>
          </a:p>
        </p:txBody>
      </p:sp>
    </p:spTree>
    <p:extLst>
      <p:ext uri="{BB962C8B-B14F-4D97-AF65-F5344CB8AC3E}">
        <p14:creationId xmlns:p14="http://schemas.microsoft.com/office/powerpoint/2010/main" val="4550204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"/>
          <p:cNvSpPr>
            <a:spLocks noGrp="1"/>
          </p:cNvSpPr>
          <p:nvPr>
            <p:ph type="title"/>
          </p:nvPr>
        </p:nvSpPr>
        <p:spPr>
          <a:xfrm>
            <a:off x="609630" y="472470"/>
            <a:ext cx="10972800" cy="685800"/>
          </a:xfrm>
          <a:prstGeom prst="rect">
            <a:avLst/>
          </a:prstGeom>
        </p:spPr>
        <p:txBody>
          <a:bodyPr vert="horz" wrap="square" lIns="0" tIns="0" rIns="0" bIns="0" anchor="t">
            <a:noAutofit/>
          </a:bodyPr>
          <a:lstStyle/>
          <a:p>
            <a:pPr marL="0" indent="0" algn="l">
              <a:buNone/>
            </a:pPr>
            <a:r>
              <a:rPr lang="pt-BR" sz="3450" b="1" i="0" dirty="0">
                <a:solidFill>
                  <a:srgbClr val="232322"/>
                </a:solidFill>
                <a:latin typeface="Liberation Sans"/>
                <a:ea typeface="Liberation Sans"/>
                <a:cs typeface="Liberation Sans"/>
              </a:rPr>
              <a:t>Fontes: superinteligência e trabalho</a:t>
            </a:r>
          </a:p>
        </p:txBody>
      </p:sp>
      <p:sp>
        <p:nvSpPr>
          <p:cNvPr id="3" name="Superinteligência (slide 8)"/>
          <p:cNvSpPr txBox="1"/>
          <p:nvPr/>
        </p:nvSpPr>
        <p:spPr>
          <a:xfrm>
            <a:off x="609630" y="1533540"/>
            <a:ext cx="5172121" cy="365760"/>
          </a:xfrm>
          <a:prstGeom prst="rect">
            <a:avLst/>
          </a:prstGeom>
          <a:noFill/>
        </p:spPr>
        <p:txBody>
          <a:bodyPr vert="horz" wrap="square" lIns="0" tIns="0" rIns="0" bIns="0" anchor="t">
            <a:noAutofit/>
          </a:bodyPr>
          <a:lstStyle/>
          <a:p>
            <a:pPr marL="0" indent="0" algn="l">
              <a:buNone/>
            </a:pPr>
            <a:r>
              <a:rPr lang="pt-BR" sz="1875" b="1" i="0" dirty="0">
                <a:solidFill>
                  <a:srgbClr val="D64826"/>
                </a:solidFill>
                <a:latin typeface="Liberation Sans"/>
                <a:ea typeface="Liberation Sans"/>
                <a:cs typeface="Liberation Sans"/>
              </a:rPr>
              <a:t>Superinteligência (slide 9)</a:t>
            </a:r>
          </a:p>
        </p:txBody>
      </p:sp>
      <p:sp>
        <p:nvSpPr>
          <p:cNvPr id="4" name="Casa Branca: Ordem Executiva 14434"/>
          <p:cNvSpPr txBox="1"/>
          <p:nvPr/>
        </p:nvSpPr>
        <p:spPr>
          <a:xfrm>
            <a:off x="609630" y="2238360"/>
            <a:ext cx="5172121" cy="295260"/>
          </a:xfrm>
          <a:prstGeom prst="rect">
            <a:avLst/>
          </a:prstGeom>
          <a:noFill/>
        </p:spPr>
        <p:txBody>
          <a:bodyPr vert="horz" wrap="square" lIns="0" tIns="0" rIns="0" bIns="0" anchor="t">
            <a:noAutofit/>
          </a:bodyPr>
          <a:lstStyle/>
          <a:p>
            <a:pPr marL="0" indent="0" algn="l">
              <a:buNone/>
            </a:pPr>
            <a:r>
              <a:rPr lang="pt-BR" sz="1500" b="0" i="0" dirty="0">
                <a:solidFill>
                  <a:srgbClr val="216476"/>
                </a:solidFill>
                <a:latin typeface="Liberation Sans"/>
                <a:ea typeface="Liberation Sans"/>
                <a:cs typeface="Liberation Sans"/>
                <a:hlinkClick r:id="rId3"/>
              </a:rPr>
              <a:t>Casa Branca: Ordem Executiva 14434</a:t>
            </a:r>
          </a:p>
        </p:txBody>
      </p:sp>
      <p:sp>
        <p:nvSpPr>
          <p:cNvPr id="5" name="Casa Branca: fact sheet da ordem"/>
          <p:cNvSpPr txBox="1"/>
          <p:nvPr/>
        </p:nvSpPr>
        <p:spPr>
          <a:xfrm>
            <a:off x="609630" y="2705070"/>
            <a:ext cx="5172121" cy="295260"/>
          </a:xfrm>
          <a:prstGeom prst="rect">
            <a:avLst/>
          </a:prstGeom>
          <a:noFill/>
        </p:spPr>
        <p:txBody>
          <a:bodyPr vert="horz" wrap="square" lIns="0" tIns="0" rIns="0" bIns="0" anchor="t">
            <a:noAutofit/>
          </a:bodyPr>
          <a:lstStyle/>
          <a:p>
            <a:pPr marL="0" indent="0" algn="l">
              <a:buNone/>
            </a:pPr>
            <a:r>
              <a:rPr lang="pt-BR" sz="1500" b="0" i="0" dirty="0">
                <a:solidFill>
                  <a:srgbClr val="216476"/>
                </a:solidFill>
                <a:latin typeface="Liberation Sans"/>
                <a:ea typeface="Liberation Sans"/>
                <a:cs typeface="Liberation Sans"/>
                <a:hlinkClick r:id="rId4"/>
              </a:rPr>
              <a:t>Casa Branca: fact sheet da ordem</a:t>
            </a:r>
          </a:p>
        </p:txBody>
      </p:sp>
      <p:sp>
        <p:nvSpPr>
          <p:cNvPr id="6" name="Federal Register: publicação oficial (PDF)"/>
          <p:cNvSpPr txBox="1"/>
          <p:nvPr/>
        </p:nvSpPr>
        <p:spPr>
          <a:xfrm>
            <a:off x="609630" y="3171779"/>
            <a:ext cx="5172121" cy="295260"/>
          </a:xfrm>
          <a:prstGeom prst="rect">
            <a:avLst/>
          </a:prstGeom>
          <a:noFill/>
        </p:spPr>
        <p:txBody>
          <a:bodyPr vert="horz" wrap="square" lIns="0" tIns="0" rIns="0" bIns="0" anchor="t">
            <a:noAutofit/>
          </a:bodyPr>
          <a:lstStyle/>
          <a:p>
            <a:pPr marL="0" indent="0" algn="l">
              <a:buNone/>
            </a:pPr>
            <a:r>
              <a:rPr lang="pt-BR" sz="1500" b="0" i="0" dirty="0">
                <a:solidFill>
                  <a:srgbClr val="216476"/>
                </a:solidFill>
                <a:latin typeface="Liberation Sans"/>
                <a:ea typeface="Liberation Sans"/>
                <a:cs typeface="Liberation Sans"/>
                <a:hlinkClick r:id="rId5"/>
              </a:rPr>
              <a:t>Federal Register: publicação oficial (PDF)</a:t>
            </a:r>
          </a:p>
        </p:txBody>
      </p:sp>
      <p:sp>
        <p:nvSpPr>
          <p:cNvPr id="7" name="ONU: discurso de Trump, 22/09/2026"/>
          <p:cNvSpPr txBox="1"/>
          <p:nvPr/>
        </p:nvSpPr>
        <p:spPr>
          <a:xfrm>
            <a:off x="609630" y="3638489"/>
            <a:ext cx="5172121" cy="295260"/>
          </a:xfrm>
          <a:prstGeom prst="rect">
            <a:avLst/>
          </a:prstGeom>
          <a:noFill/>
        </p:spPr>
        <p:txBody>
          <a:bodyPr vert="horz" wrap="square" lIns="0" tIns="0" rIns="0" bIns="0" anchor="t">
            <a:noAutofit/>
          </a:bodyPr>
          <a:lstStyle/>
          <a:p>
            <a:pPr marL="0" indent="0" algn="l">
              <a:buNone/>
            </a:pPr>
            <a:r>
              <a:rPr lang="pt-BR" sz="1500" b="0" i="0" dirty="0">
                <a:solidFill>
                  <a:srgbClr val="216476"/>
                </a:solidFill>
                <a:latin typeface="Liberation Sans"/>
                <a:ea typeface="Liberation Sans"/>
                <a:cs typeface="Liberation Sans"/>
                <a:hlinkClick r:id="rId6"/>
              </a:rPr>
              <a:t>ONU: discurso de Trump, 22/09/2026</a:t>
            </a:r>
          </a:p>
        </p:txBody>
      </p:sp>
      <p:sp>
        <p:nvSpPr>
          <p:cNvPr id="8" name="AP: diplomatas e o novo termo"/>
          <p:cNvSpPr txBox="1"/>
          <p:nvPr/>
        </p:nvSpPr>
        <p:spPr>
          <a:xfrm>
            <a:off x="609630" y="4105199"/>
            <a:ext cx="5172121" cy="295260"/>
          </a:xfrm>
          <a:prstGeom prst="rect">
            <a:avLst/>
          </a:prstGeom>
          <a:noFill/>
        </p:spPr>
        <p:txBody>
          <a:bodyPr vert="horz" wrap="square" lIns="0" tIns="0" rIns="0" bIns="0" anchor="t">
            <a:noAutofit/>
          </a:bodyPr>
          <a:lstStyle/>
          <a:p>
            <a:pPr marL="0" indent="0" algn="l">
              <a:buNone/>
            </a:pPr>
            <a:r>
              <a:rPr lang="pt-BR" sz="1500" b="0" i="0" dirty="0">
                <a:solidFill>
                  <a:srgbClr val="216476"/>
                </a:solidFill>
                <a:latin typeface="Liberation Sans"/>
                <a:ea typeface="Liberation Sans"/>
                <a:cs typeface="Liberation Sans"/>
                <a:hlinkClick r:id="rId7"/>
              </a:rPr>
              <a:t>AP: diplomatas e o novo termo</a:t>
            </a:r>
          </a:p>
        </p:txBody>
      </p:sp>
      <p:sp>
        <p:nvSpPr>
          <p:cNvPr id="9" name="CNN Brasil: o discurso na ONU, em português"/>
          <p:cNvSpPr txBox="1"/>
          <p:nvPr/>
        </p:nvSpPr>
        <p:spPr>
          <a:xfrm>
            <a:off x="609630" y="4571909"/>
            <a:ext cx="5172121" cy="295260"/>
          </a:xfrm>
          <a:prstGeom prst="rect">
            <a:avLst/>
          </a:prstGeom>
          <a:noFill/>
        </p:spPr>
        <p:txBody>
          <a:bodyPr vert="horz" wrap="square" lIns="0" tIns="0" rIns="0" bIns="0" anchor="t">
            <a:noAutofit/>
          </a:bodyPr>
          <a:lstStyle/>
          <a:p>
            <a:pPr marL="0" indent="0" algn="l">
              <a:buNone/>
            </a:pPr>
            <a:r>
              <a:rPr lang="pt-BR" sz="1500" b="0" i="0" dirty="0">
                <a:solidFill>
                  <a:srgbClr val="216476"/>
                </a:solidFill>
                <a:latin typeface="Liberation Sans"/>
                <a:ea typeface="Liberation Sans"/>
                <a:cs typeface="Liberation Sans"/>
                <a:hlinkClick r:id="rId8"/>
              </a:rPr>
              <a:t>CNN Brasil: o discurso na ONU, em português</a:t>
            </a:r>
          </a:p>
        </p:txBody>
      </p:sp>
      <p:sp>
        <p:nvSpPr>
          <p:cNvPr id="10" name="IBM: o que é IA (e AGI)"/>
          <p:cNvSpPr txBox="1"/>
          <p:nvPr/>
        </p:nvSpPr>
        <p:spPr>
          <a:xfrm>
            <a:off x="609630" y="5038618"/>
            <a:ext cx="5172121" cy="295260"/>
          </a:xfrm>
          <a:prstGeom prst="rect">
            <a:avLst/>
          </a:prstGeom>
          <a:noFill/>
        </p:spPr>
        <p:txBody>
          <a:bodyPr vert="horz" wrap="square" lIns="0" tIns="0" rIns="0" bIns="0" anchor="t">
            <a:noAutofit/>
          </a:bodyPr>
          <a:lstStyle/>
          <a:p>
            <a:pPr marL="0" indent="0" algn="l">
              <a:buNone/>
            </a:pPr>
            <a:r>
              <a:rPr lang="pt-BR" sz="1500" b="0" i="0" dirty="0">
                <a:solidFill>
                  <a:srgbClr val="216476"/>
                </a:solidFill>
                <a:latin typeface="Liberation Sans"/>
                <a:ea typeface="Liberation Sans"/>
                <a:cs typeface="Liberation Sans"/>
                <a:hlinkClick r:id="rId9"/>
              </a:rPr>
              <a:t>IBM: o que é IA (e AGI)</a:t>
            </a:r>
          </a:p>
        </p:txBody>
      </p:sp>
      <p:sp>
        <p:nvSpPr>
          <p:cNvPr id="11" name="Google DeepMind: From AGI to ASI"/>
          <p:cNvSpPr txBox="1"/>
          <p:nvPr/>
        </p:nvSpPr>
        <p:spPr>
          <a:xfrm>
            <a:off x="609630" y="5505328"/>
            <a:ext cx="5172121" cy="295260"/>
          </a:xfrm>
          <a:prstGeom prst="rect">
            <a:avLst/>
          </a:prstGeom>
          <a:noFill/>
        </p:spPr>
        <p:txBody>
          <a:bodyPr vert="horz" wrap="square" lIns="0" tIns="0" rIns="0" bIns="0" anchor="t">
            <a:noAutofit/>
          </a:bodyPr>
          <a:lstStyle/>
          <a:p>
            <a:pPr marL="0" indent="0" algn="l">
              <a:buNone/>
            </a:pPr>
            <a:r>
              <a:rPr lang="pt-BR" sz="1500" b="0" i="0" dirty="0">
                <a:solidFill>
                  <a:srgbClr val="216476"/>
                </a:solidFill>
                <a:latin typeface="Liberation Sans"/>
                <a:ea typeface="Liberation Sans"/>
                <a:cs typeface="Liberation Sans"/>
                <a:hlinkClick r:id="rId10"/>
              </a:rPr>
              <a:t>Google DeepMind: From AGI to ASI</a:t>
            </a:r>
          </a:p>
        </p:txBody>
      </p:sp>
      <p:sp>
        <p:nvSpPr>
          <p:cNvPr id="12" name="Impacto no secretariado (slide 6)"/>
          <p:cNvSpPr txBox="1"/>
          <p:nvPr/>
        </p:nvSpPr>
        <p:spPr>
          <a:xfrm>
            <a:off x="6419820" y="1533540"/>
            <a:ext cx="5172121" cy="365760"/>
          </a:xfrm>
          <a:prstGeom prst="rect">
            <a:avLst/>
          </a:prstGeom>
          <a:noFill/>
        </p:spPr>
        <p:txBody>
          <a:bodyPr vert="horz" wrap="square" lIns="0" tIns="0" rIns="0" bIns="0" anchor="t">
            <a:noAutofit/>
          </a:bodyPr>
          <a:lstStyle/>
          <a:p>
            <a:pPr marL="0" indent="0" algn="l">
              <a:buNone/>
            </a:pPr>
            <a:r>
              <a:rPr lang="pt-BR" sz="1875" b="1" i="0" dirty="0">
                <a:solidFill>
                  <a:srgbClr val="D64826"/>
                </a:solidFill>
                <a:latin typeface="Liberation Sans"/>
                <a:ea typeface="Liberation Sans"/>
                <a:cs typeface="Liberation Sans"/>
              </a:rPr>
              <a:t>Impacto no secretariado (slide 7)</a:t>
            </a:r>
          </a:p>
        </p:txBody>
      </p:sp>
      <p:sp>
        <p:nvSpPr>
          <p:cNvPr id="13" name="OIT: IA generativa e empregos, 2025"/>
          <p:cNvSpPr txBox="1"/>
          <p:nvPr/>
        </p:nvSpPr>
        <p:spPr>
          <a:xfrm>
            <a:off x="6419820" y="2238360"/>
            <a:ext cx="5172121" cy="295260"/>
          </a:xfrm>
          <a:prstGeom prst="rect">
            <a:avLst/>
          </a:prstGeom>
          <a:noFill/>
        </p:spPr>
        <p:txBody>
          <a:bodyPr vert="horz" wrap="square" lIns="0" tIns="0" rIns="0" bIns="0" anchor="t">
            <a:noAutofit/>
          </a:bodyPr>
          <a:lstStyle/>
          <a:p>
            <a:pPr marL="0" indent="0" algn="l">
              <a:buNone/>
            </a:pPr>
            <a:r>
              <a:rPr lang="pt-BR" sz="1500" b="0" i="0" dirty="0">
                <a:solidFill>
                  <a:srgbClr val="216476"/>
                </a:solidFill>
                <a:latin typeface="Liberation Sans"/>
                <a:ea typeface="Liberation Sans"/>
                <a:cs typeface="Liberation Sans"/>
                <a:hlinkClick r:id="rId11"/>
              </a:rPr>
              <a:t>OIT: IA generativa e empregos, 2025</a:t>
            </a:r>
          </a:p>
        </p:txBody>
      </p:sp>
      <p:sp>
        <p:nvSpPr>
          <p:cNvPr id="14" name="ONU Brasil: resumo da OIT em português"/>
          <p:cNvSpPr txBox="1"/>
          <p:nvPr/>
        </p:nvSpPr>
        <p:spPr>
          <a:xfrm>
            <a:off x="6419820" y="2705070"/>
            <a:ext cx="5172121" cy="295260"/>
          </a:xfrm>
          <a:prstGeom prst="rect">
            <a:avLst/>
          </a:prstGeom>
          <a:noFill/>
        </p:spPr>
        <p:txBody>
          <a:bodyPr vert="horz" wrap="square" lIns="0" tIns="0" rIns="0" bIns="0" anchor="t">
            <a:noAutofit/>
          </a:bodyPr>
          <a:lstStyle/>
          <a:p>
            <a:pPr marL="0" indent="0" algn="l">
              <a:buNone/>
            </a:pPr>
            <a:r>
              <a:rPr lang="pt-BR" sz="1500" b="0" i="0" dirty="0">
                <a:solidFill>
                  <a:srgbClr val="216476"/>
                </a:solidFill>
                <a:latin typeface="Liberation Sans"/>
                <a:ea typeface="Liberation Sans"/>
                <a:cs typeface="Liberation Sans"/>
                <a:hlinkClick r:id="rId12"/>
              </a:rPr>
              <a:t>ONU Brasil: resumo da OIT em português</a:t>
            </a:r>
          </a:p>
        </p:txBody>
      </p:sp>
      <p:sp>
        <p:nvSpPr>
          <p:cNvPr id="15" name="FGV IBRE: IA e mercado de trabalho, 2026"/>
          <p:cNvSpPr txBox="1"/>
          <p:nvPr/>
        </p:nvSpPr>
        <p:spPr>
          <a:xfrm>
            <a:off x="6419820" y="3171779"/>
            <a:ext cx="5172121" cy="295260"/>
          </a:xfrm>
          <a:prstGeom prst="rect">
            <a:avLst/>
          </a:prstGeom>
          <a:noFill/>
        </p:spPr>
        <p:txBody>
          <a:bodyPr vert="horz" wrap="square" lIns="0" tIns="0" rIns="0" bIns="0" anchor="t">
            <a:noAutofit/>
          </a:bodyPr>
          <a:lstStyle/>
          <a:p>
            <a:pPr marL="0" indent="0" algn="l">
              <a:buNone/>
            </a:pPr>
            <a:r>
              <a:rPr lang="pt-BR" sz="1500" b="0" i="0" dirty="0">
                <a:solidFill>
                  <a:srgbClr val="216476"/>
                </a:solidFill>
                <a:latin typeface="Liberation Sans"/>
                <a:ea typeface="Liberation Sans"/>
                <a:cs typeface="Liberation Sans"/>
                <a:hlinkClick r:id="rId13"/>
              </a:rPr>
              <a:t>FGV IBRE: IA e mercado de trabalho, 2026</a:t>
            </a:r>
          </a:p>
        </p:txBody>
      </p:sp>
      <p:sp>
        <p:nvSpPr>
          <p:cNvPr id="16" name="BLS: projeções para secretárias, 2025–35"/>
          <p:cNvSpPr txBox="1"/>
          <p:nvPr/>
        </p:nvSpPr>
        <p:spPr>
          <a:xfrm>
            <a:off x="6419820" y="3638489"/>
            <a:ext cx="5172121" cy="295260"/>
          </a:xfrm>
          <a:prstGeom prst="rect">
            <a:avLst/>
          </a:prstGeom>
          <a:noFill/>
        </p:spPr>
        <p:txBody>
          <a:bodyPr vert="horz" wrap="square" lIns="0" tIns="0" rIns="0" bIns="0" anchor="t">
            <a:noAutofit/>
          </a:bodyPr>
          <a:lstStyle/>
          <a:p>
            <a:pPr marL="0" indent="0" algn="l">
              <a:buNone/>
            </a:pPr>
            <a:r>
              <a:rPr lang="pt-BR" sz="1500" b="0" i="0" dirty="0">
                <a:solidFill>
                  <a:srgbClr val="216476"/>
                </a:solidFill>
                <a:latin typeface="Liberation Sans"/>
                <a:ea typeface="Liberation Sans"/>
                <a:cs typeface="Liberation Sans"/>
                <a:hlinkClick r:id="rId14"/>
              </a:rPr>
              <a:t>BLS: projeções para secretárias, 2025–35</a:t>
            </a:r>
          </a:p>
        </p:txBody>
      </p:sp>
      <p:sp>
        <p:nvSpPr>
          <p:cNvPr id="17" name="Microsoft: Work Trend Index 2026"/>
          <p:cNvSpPr txBox="1"/>
          <p:nvPr/>
        </p:nvSpPr>
        <p:spPr>
          <a:xfrm>
            <a:off x="6419820" y="4105199"/>
            <a:ext cx="5172121" cy="295260"/>
          </a:xfrm>
          <a:prstGeom prst="rect">
            <a:avLst/>
          </a:prstGeom>
          <a:noFill/>
        </p:spPr>
        <p:txBody>
          <a:bodyPr vert="horz" wrap="square" lIns="0" tIns="0" rIns="0" bIns="0" anchor="t">
            <a:noAutofit/>
          </a:bodyPr>
          <a:lstStyle/>
          <a:p>
            <a:pPr marL="0" indent="0" algn="l">
              <a:buNone/>
            </a:pPr>
            <a:r>
              <a:rPr lang="pt-BR" sz="1500" b="0" i="0" dirty="0">
                <a:solidFill>
                  <a:srgbClr val="216476"/>
                </a:solidFill>
                <a:latin typeface="Liberation Sans"/>
                <a:ea typeface="Liberation Sans"/>
                <a:cs typeface="Liberation Sans"/>
                <a:hlinkClick r:id="rId15"/>
              </a:rPr>
              <a:t>Microsoft: Work Trend Index 2026</a:t>
            </a:r>
          </a:p>
        </p:txBody>
      </p:sp>
      <p:sp>
        <p:nvSpPr>
          <p:cNvPr id="18" name="Anthropic Economic Index: explorador de dados"/>
          <p:cNvSpPr txBox="1"/>
          <p:nvPr/>
        </p:nvSpPr>
        <p:spPr>
          <a:xfrm>
            <a:off x="6419820" y="4571909"/>
            <a:ext cx="5172121" cy="295260"/>
          </a:xfrm>
          <a:prstGeom prst="rect">
            <a:avLst/>
          </a:prstGeom>
          <a:noFill/>
        </p:spPr>
        <p:txBody>
          <a:bodyPr vert="horz" wrap="square" lIns="0" tIns="0" rIns="0" bIns="0" anchor="t">
            <a:noAutofit/>
          </a:bodyPr>
          <a:lstStyle/>
          <a:p>
            <a:pPr marL="0" indent="0" algn="l">
              <a:buNone/>
            </a:pPr>
            <a:r>
              <a:rPr lang="pt-BR" sz="1500" b="0" i="0" dirty="0">
                <a:solidFill>
                  <a:srgbClr val="216476"/>
                </a:solidFill>
                <a:latin typeface="Liberation Sans"/>
                <a:ea typeface="Liberation Sans"/>
                <a:cs typeface="Liberation Sans"/>
                <a:hlinkClick r:id="rId16"/>
              </a:rPr>
              <a:t>Anthropic Economic Index: explorador de dados</a:t>
            </a:r>
          </a:p>
        </p:txBody>
      </p:sp>
      <p:sp>
        <p:nvSpPr>
          <p:cNvPr id="19" name="WEF: Future of Jobs 2025, cap. 2"/>
          <p:cNvSpPr txBox="1"/>
          <p:nvPr/>
        </p:nvSpPr>
        <p:spPr>
          <a:xfrm>
            <a:off x="6419820" y="5038618"/>
            <a:ext cx="5172121" cy="295260"/>
          </a:xfrm>
          <a:prstGeom prst="rect">
            <a:avLst/>
          </a:prstGeom>
          <a:noFill/>
        </p:spPr>
        <p:txBody>
          <a:bodyPr vert="horz" wrap="square" lIns="0" tIns="0" rIns="0" bIns="0" anchor="t">
            <a:noAutofit/>
          </a:bodyPr>
          <a:lstStyle/>
          <a:p>
            <a:pPr marL="0" indent="0" algn="l">
              <a:buNone/>
            </a:pPr>
            <a:r>
              <a:rPr lang="pt-BR" sz="1500" b="0" i="0" dirty="0">
                <a:solidFill>
                  <a:srgbClr val="216476"/>
                </a:solidFill>
                <a:latin typeface="Liberation Sans"/>
                <a:ea typeface="Liberation Sans"/>
                <a:cs typeface="Liberation Sans"/>
                <a:hlinkClick r:id="rId17"/>
              </a:rPr>
              <a:t>WEF: Future of Jobs 2025, cap. 2</a:t>
            </a:r>
          </a:p>
        </p:txBody>
      </p:sp>
      <p:sp>
        <p:nvSpPr>
          <p:cNvPr id="20" name="Gartner: agentes nos apps e habilidades"/>
          <p:cNvSpPr txBox="1"/>
          <p:nvPr/>
        </p:nvSpPr>
        <p:spPr>
          <a:xfrm>
            <a:off x="6419820" y="5505328"/>
            <a:ext cx="5172121" cy="295260"/>
          </a:xfrm>
          <a:prstGeom prst="rect">
            <a:avLst/>
          </a:prstGeom>
          <a:noFill/>
        </p:spPr>
        <p:txBody>
          <a:bodyPr vert="horz" wrap="square" lIns="0" tIns="0" rIns="0" bIns="0" anchor="t">
            <a:noAutofit/>
          </a:bodyPr>
          <a:lstStyle/>
          <a:p>
            <a:pPr marL="0" indent="0" algn="l">
              <a:buNone/>
            </a:pPr>
            <a:r>
              <a:rPr lang="pt-BR" sz="1500" b="0" i="0" dirty="0">
                <a:solidFill>
                  <a:srgbClr val="216476"/>
                </a:solidFill>
                <a:latin typeface="Liberation Sans"/>
                <a:ea typeface="Liberation Sans"/>
                <a:cs typeface="Liberation Sans"/>
                <a:hlinkClick r:id="rId18"/>
              </a:rPr>
              <a:t>Gartner: agentes nos apps e habilidades</a:t>
            </a:r>
          </a:p>
        </p:txBody>
      </p:sp>
      <p:sp>
        <p:nvSpPr>
          <p:cNvPr id="21" name="Nota"/>
          <p:cNvSpPr txBox="1"/>
          <p:nvPr/>
        </p:nvSpPr>
        <p:spPr>
          <a:xfrm>
            <a:off x="609630" y="6334140"/>
            <a:ext cx="10572750" cy="285750"/>
          </a:xfrm>
          <a:prstGeom prst="rect">
            <a:avLst/>
          </a:prstGeom>
          <a:noFill/>
        </p:spPr>
        <p:txBody>
          <a:bodyPr vert="horz" wrap="square" lIns="0" tIns="0" rIns="0" bIns="0" anchor="t">
            <a:noAutofit/>
          </a:bodyPr>
          <a:lstStyle/>
          <a:p>
            <a:pPr marL="0" indent="0" algn="l">
              <a:buNone/>
            </a:pPr>
            <a:r>
              <a:rPr lang="pt-BR" sz="1013" b="0" i="0" dirty="0">
                <a:solidFill>
                  <a:srgbClr val="666660"/>
                </a:solidFill>
                <a:latin typeface="Liberation Sans"/>
                <a:ea typeface="Liberation Sans"/>
                <a:cs typeface="Liberation Sans"/>
              </a:rPr>
              <a:t>Fontes dos slides 7 e 9. Títulos clicáveis levam diretamente às publicações. Consulta em 11/10/2026.</a:t>
            </a:r>
          </a:p>
        </p:txBody>
      </p:sp>
      <p:sp>
        <p:nvSpPr>
          <p:cNvPr id="22" name="23"/>
          <p:cNvSpPr txBox="1"/>
          <p:nvPr/>
        </p:nvSpPr>
        <p:spPr>
          <a:xfrm>
            <a:off x="11258550" y="6515100"/>
            <a:ext cx="333375" cy="1905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r">
              <a:buNone/>
            </a:pPr>
            <a:r>
              <a:rPr lang="pt-BR" sz="1050" b="0" i="0" dirty="0">
                <a:solidFill>
                  <a:srgbClr val="8A8882"/>
                </a:solidFill>
                <a:latin typeface="Liberation Sans"/>
                <a:ea typeface="Liberation Sans"/>
                <a:cs typeface="Liberation Sans"/>
              </a:rPr>
              <a:t>23</a:t>
            </a:r>
          </a:p>
        </p:txBody>
      </p:sp>
    </p:spTree>
    <p:extLst>
      <p:ext uri="{BB962C8B-B14F-4D97-AF65-F5344CB8AC3E}">
        <p14:creationId xmlns:p14="http://schemas.microsoft.com/office/powerpoint/2010/main" val="1438048552"/>
      </p:ext>
    </p:extLst>
  </p:cSld>
  <p:clrMapOvr>
    <a:masterClrMapping/>
  </p:clrMapOvr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FAF9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agenda-title">
            <a:extLst xmlns:a="http://schemas.openxmlformats.org/drawingml/2006/main">
              <a:ext uri="{FF2B5EF4-FFF2-40B4-BE49-F238E27FC236}">
                <a16:creationId xmlns:a16="http://schemas.microsoft.com/office/drawing/2014/main" id="{3D9AA745-8CB1-4281-A1C8-A0DE37C01C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972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3450" b="1">
                <a:solidFill>
                  <a:srgbClr val="232322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>
              <a:defRPr sz="3450" b="1">
                <a:solidFill>
                  <a:srgbClr val="232322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3450" b="1">
                <a:solidFill>
                  <a:srgbClr val="232322"/>
                </a:solidFill>
                <a:latin typeface="Liberation Sans"/>
                <a:ea typeface="Liberation Sans"/>
                <a:cs typeface="Liberation Sans"/>
              </a:rPr>
              <a:t>Agenda</a:t>
            </a:r>
          </a:p>
        </p:txBody>
      </p:sp>
      <p:sp>
        <p:nvSpPr>
          <p:cNvPr id="2" name="agenda-number-1">
            <a:extLst xmlns:a="http://schemas.openxmlformats.org/drawingml/2006/main">
              <a:ext uri="{FF2B5EF4-FFF2-40B4-BE49-F238E27FC236}">
                <a16:creationId xmlns:a16="http://schemas.microsoft.com/office/drawing/2014/main" id="{1241295C-3FC3-45EC-B611-665F72AF6A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81125"/>
            <a:ext cx="400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875" b="1">
                <a:solidFill>
                  <a:srgbClr val="D64826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>
              <a:defRPr sz="1875" b="1">
                <a:solidFill>
                  <a:srgbClr val="D6482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875" b="1">
                <a:solidFill>
                  <a:srgbClr val="D64826"/>
                </a:solidFill>
                <a:latin typeface="Liberation Sans"/>
                <a:ea typeface="Liberation Sans"/>
                <a:cs typeface="Liberation Sans"/>
              </a:rPr>
              <a:t>01</a:t>
            </a:r>
          </a:p>
        </p:txBody>
      </p:sp>
      <p:sp>
        <p:nvSpPr>
          <p:cNvPr id="3" name="agenda-heading-1">
            <a:extLst xmlns:a="http://schemas.openxmlformats.org/drawingml/2006/main">
              <a:ext uri="{FF2B5EF4-FFF2-40B4-BE49-F238E27FC236}">
                <a16:creationId xmlns:a16="http://schemas.microsoft.com/office/drawing/2014/main" id="{268628E8-E69F-4117-BCC7-1BC01F6DE5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381125"/>
            <a:ext cx="4953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875" b="1">
                <a:solidFill>
                  <a:srgbClr val="D64826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>
              <a:defRPr sz="1875" b="1">
                <a:solidFill>
                  <a:srgbClr val="D6482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875" b="1">
                <a:solidFill>
                  <a:srgbClr val="D64826"/>
                </a:solidFill>
                <a:latin typeface="Liberation Sans"/>
                <a:ea typeface="Liberation Sans"/>
                <a:cs typeface="Liberation Sans"/>
              </a:rPr>
              <a:t>Mercado, adoção e Brasil</a:t>
            </a:r>
          </a:p>
        </p:txBody>
      </p:sp>
      <p:sp>
        <p:nvSpPr>
          <p:cNvPr id="4" name="agenda-body-1">
            <a:extLst xmlns:a="http://schemas.openxmlformats.org/drawingml/2006/main">
              <a:ext uri="{FF2B5EF4-FFF2-40B4-BE49-F238E27FC236}">
                <a16:creationId xmlns:a16="http://schemas.microsoft.com/office/drawing/2014/main" id="{094AE697-4ED4-40F6-9FD9-D2B5E21E09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752600"/>
            <a:ext cx="4953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232322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232322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650" b="0">
                <a:solidFill>
                  <a:srgbClr val="232322"/>
                </a:solidFill>
                <a:latin typeface="Liberation Sans"/>
                <a:ea typeface="Liberation Sans"/>
                <a:cs typeface="Liberation Sans"/>
              </a:rPr>
              <a:t>Crescimento da IA, velocidade da adoção</a:t>
            </a:r>
          </a:p>
          <a:p xmlns:a="http://schemas.openxmlformats.org/drawingml/2006/main">
            <a:pPr>
              <a:defRPr sz="1650" b="0">
                <a:solidFill>
                  <a:srgbClr val="232322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650" b="0">
                <a:solidFill>
                  <a:srgbClr val="232322"/>
                </a:solidFill>
                <a:latin typeface="Liberation Sans"/>
                <a:ea typeface="Liberation Sans"/>
                <a:cs typeface="Liberation Sans"/>
              </a:rPr>
              <a:t>e uso por pessoas e empresas.</a:t>
            </a:r>
          </a:p>
        </p:txBody>
      </p:sp>
      <p:sp>
        <p:nvSpPr>
          <p:cNvPr id="5" name="agenda-number-2">
            <a:extLst xmlns:a="http://schemas.openxmlformats.org/drawingml/2006/main">
              <a:ext uri="{FF2B5EF4-FFF2-40B4-BE49-F238E27FC236}">
                <a16:creationId xmlns:a16="http://schemas.microsoft.com/office/drawing/2014/main" id="{F650B3B8-BDEB-4058-928D-365F323AF4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14600"/>
            <a:ext cx="400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875" b="1">
                <a:solidFill>
                  <a:srgbClr val="D64826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>
              <a:defRPr sz="1875" b="1">
                <a:solidFill>
                  <a:srgbClr val="D6482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875" b="1">
                <a:solidFill>
                  <a:srgbClr val="D64826"/>
                </a:solidFill>
                <a:latin typeface="Liberation Sans"/>
                <a:ea typeface="Liberation Sans"/>
                <a:cs typeface="Liberation Sans"/>
              </a:rPr>
              <a:t>02</a:t>
            </a:r>
          </a:p>
        </p:txBody>
      </p:sp>
      <p:sp>
        <p:nvSpPr>
          <p:cNvPr id="6" name="agenda-heading-2">
            <a:extLst xmlns:a="http://schemas.openxmlformats.org/drawingml/2006/main">
              <a:ext uri="{FF2B5EF4-FFF2-40B4-BE49-F238E27FC236}">
                <a16:creationId xmlns:a16="http://schemas.microsoft.com/office/drawing/2014/main" id="{372CDA05-B53D-4558-A242-7EAEE15071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514600"/>
            <a:ext cx="4953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875" b="1">
                <a:solidFill>
                  <a:srgbClr val="D64826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>
              <a:defRPr sz="1875" b="1">
                <a:solidFill>
                  <a:srgbClr val="D6482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875" b="1">
                <a:solidFill>
                  <a:srgbClr val="D64826"/>
                </a:solidFill>
                <a:latin typeface="Liberation Sans"/>
                <a:ea typeface="Liberation Sans"/>
                <a:cs typeface="Liberation Sans"/>
              </a:rPr>
              <a:t>Impacto no secretariado</a:t>
            </a:r>
          </a:p>
        </p:txBody>
      </p:sp>
      <p:sp>
        <p:nvSpPr>
          <p:cNvPr id="7" name="agenda-body-2">
            <a:extLst xmlns:a="http://schemas.openxmlformats.org/drawingml/2006/main">
              <a:ext uri="{FF2B5EF4-FFF2-40B4-BE49-F238E27FC236}">
                <a16:creationId xmlns:a16="http://schemas.microsoft.com/office/drawing/2014/main" id="{229E2AE5-A74F-41D4-A3ED-3EE418FEE2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886075"/>
            <a:ext cx="4953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232322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232322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650" b="0">
                <a:solidFill>
                  <a:srgbClr val="232322"/>
                </a:solidFill>
                <a:latin typeface="Liberation Sans"/>
                <a:ea typeface="Liberation Sans"/>
                <a:cs typeface="Liberation Sans"/>
              </a:rPr>
              <a:t>Empregos, exposição à IA e habilidades</a:t>
            </a:r>
          </a:p>
          <a:p xmlns:a="http://schemas.openxmlformats.org/drawingml/2006/main">
            <a:pPr>
              <a:defRPr sz="1650" b="0">
                <a:solidFill>
                  <a:srgbClr val="232322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650" b="0">
                <a:solidFill>
                  <a:srgbClr val="232322"/>
                </a:solidFill>
                <a:latin typeface="Liberation Sans"/>
                <a:ea typeface="Liberation Sans"/>
                <a:cs typeface="Liberation Sans"/>
              </a:rPr>
              <a:t>para trabalhar com agentes.</a:t>
            </a:r>
          </a:p>
        </p:txBody>
      </p:sp>
      <p:sp>
        <p:nvSpPr>
          <p:cNvPr id="8" name="agenda-number-3">
            <a:extLst xmlns:a="http://schemas.openxmlformats.org/drawingml/2006/main">
              <a:ext uri="{FF2B5EF4-FFF2-40B4-BE49-F238E27FC236}">
                <a16:creationId xmlns:a16="http://schemas.microsoft.com/office/drawing/2014/main" id="{BD4BBEAB-71EE-47F7-8070-2ED45ECFF8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48075"/>
            <a:ext cx="400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875" b="1">
                <a:solidFill>
                  <a:srgbClr val="D64826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>
              <a:defRPr sz="1875" b="1">
                <a:solidFill>
                  <a:srgbClr val="D6482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875" b="1">
                <a:solidFill>
                  <a:srgbClr val="D64826"/>
                </a:solidFill>
                <a:latin typeface="Liberation Sans"/>
                <a:ea typeface="Liberation Sans"/>
                <a:cs typeface="Liberation Sans"/>
              </a:rPr>
              <a:t>03</a:t>
            </a:r>
          </a:p>
        </p:txBody>
      </p:sp>
      <p:sp>
        <p:nvSpPr>
          <p:cNvPr id="9" name="agenda-heading-3">
            <a:extLst xmlns:a="http://schemas.openxmlformats.org/drawingml/2006/main">
              <a:ext uri="{FF2B5EF4-FFF2-40B4-BE49-F238E27FC236}">
                <a16:creationId xmlns:a16="http://schemas.microsoft.com/office/drawing/2014/main" id="{884FC5A6-B662-4AB5-94B9-6E98659B12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648075"/>
            <a:ext cx="4953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875" b="1">
                <a:solidFill>
                  <a:srgbClr val="D64826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>
              <a:defRPr sz="1875" b="1">
                <a:solidFill>
                  <a:srgbClr val="D6482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875" b="1">
                <a:solidFill>
                  <a:srgbClr val="D64826"/>
                </a:solidFill>
                <a:latin typeface="Liberation Sans"/>
                <a:ea typeface="Liberation Sans"/>
                <a:cs typeface="Liberation Sans"/>
              </a:rPr>
              <a:t>IA generativa e evolução</a:t>
            </a:r>
          </a:p>
        </p:txBody>
      </p:sp>
      <p:sp>
        <p:nvSpPr>
          <p:cNvPr id="10" name="agenda-body-3">
            <a:extLst xmlns:a="http://schemas.openxmlformats.org/drawingml/2006/main">
              <a:ext uri="{FF2B5EF4-FFF2-40B4-BE49-F238E27FC236}">
                <a16:creationId xmlns:a16="http://schemas.microsoft.com/office/drawing/2014/main" id="{3674736C-96A9-40EA-AE22-E623759D0B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019550"/>
            <a:ext cx="4953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232322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232322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650" b="0">
                <a:solidFill>
                  <a:srgbClr val="232322"/>
                </a:solidFill>
                <a:latin typeface="Liberation Sans"/>
                <a:ea typeface="Liberation Sans"/>
                <a:cs typeface="Liberation Sans"/>
              </a:rPr>
              <a:t>IA, aprendizado de máquina e aprendizado</a:t>
            </a:r>
          </a:p>
          <a:p xmlns:a="http://schemas.openxmlformats.org/drawingml/2006/main">
            <a:pPr>
              <a:defRPr sz="1650" b="0">
                <a:solidFill>
                  <a:srgbClr val="232322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650" b="0">
                <a:solidFill>
                  <a:srgbClr val="232322"/>
                </a:solidFill>
                <a:latin typeface="Liberation Sans"/>
                <a:ea typeface="Liberation Sans"/>
                <a:cs typeface="Liberation Sans"/>
              </a:rPr>
              <a:t>profundo; IA generativa e evolução até 2026.</a:t>
            </a:r>
          </a:p>
        </p:txBody>
      </p:sp>
      <p:sp>
        <p:nvSpPr>
          <p:cNvPr id="11" name="agenda-number-4">
            <a:extLst xmlns:a="http://schemas.openxmlformats.org/drawingml/2006/main">
              <a:ext uri="{FF2B5EF4-FFF2-40B4-BE49-F238E27FC236}">
                <a16:creationId xmlns:a16="http://schemas.microsoft.com/office/drawing/2014/main" id="{F668D0D2-5F29-4B51-97B7-74D8817812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81550"/>
            <a:ext cx="400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875" b="1">
                <a:solidFill>
                  <a:srgbClr val="D64826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>
              <a:defRPr sz="1875" b="1">
                <a:solidFill>
                  <a:srgbClr val="D6482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875" b="1">
                <a:solidFill>
                  <a:srgbClr val="D64826"/>
                </a:solidFill>
                <a:latin typeface="Liberation Sans"/>
                <a:ea typeface="Liberation Sans"/>
                <a:cs typeface="Liberation Sans"/>
              </a:rPr>
              <a:t>04</a:t>
            </a:r>
          </a:p>
        </p:txBody>
      </p:sp>
      <p:sp>
        <p:nvSpPr>
          <p:cNvPr id="12" name="agenda-heading-4">
            <a:extLst xmlns:a="http://schemas.openxmlformats.org/drawingml/2006/main">
              <a:ext uri="{FF2B5EF4-FFF2-40B4-BE49-F238E27FC236}">
                <a16:creationId xmlns:a16="http://schemas.microsoft.com/office/drawing/2014/main" id="{255F4415-34E1-4EEA-A63C-6FA04BCFE4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781550"/>
            <a:ext cx="4953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875" b="1">
                <a:solidFill>
                  <a:srgbClr val="D64826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>
              <a:defRPr sz="1875" b="1">
                <a:solidFill>
                  <a:srgbClr val="D6482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875" b="1">
                <a:solidFill>
                  <a:srgbClr val="D64826"/>
                </a:solidFill>
                <a:latin typeface="Liberation Sans"/>
                <a:ea typeface="Liberation Sans"/>
                <a:cs typeface="Liberation Sans"/>
              </a:rPr>
              <a:t>Agentes: conceito e componentes</a:t>
            </a:r>
          </a:p>
        </p:txBody>
      </p:sp>
      <p:sp>
        <p:nvSpPr>
          <p:cNvPr id="13" name="agenda-body-4">
            <a:extLst xmlns:a="http://schemas.openxmlformats.org/drawingml/2006/main">
              <a:ext uri="{FF2B5EF4-FFF2-40B4-BE49-F238E27FC236}">
                <a16:creationId xmlns:a16="http://schemas.microsoft.com/office/drawing/2014/main" id="{B60AB458-3F13-449C-8A64-A4136A1423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153025"/>
            <a:ext cx="4953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232322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232322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650" b="0">
                <a:solidFill>
                  <a:srgbClr val="232322"/>
                </a:solidFill>
                <a:latin typeface="Liberation Sans"/>
                <a:ea typeface="Liberation Sans"/>
                <a:cs typeface="Liberation Sans"/>
              </a:rPr>
              <a:t>Objetivo, plano, ação e verificação;</a:t>
            </a:r>
          </a:p>
          <a:p xmlns:a="http://schemas.openxmlformats.org/drawingml/2006/main">
            <a:pPr>
              <a:defRPr sz="1650" b="0">
                <a:solidFill>
                  <a:srgbClr val="232322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650" b="0">
                <a:solidFill>
                  <a:srgbClr val="232322"/>
                </a:solidFill>
                <a:latin typeface="Liberation Sans"/>
                <a:ea typeface="Liberation Sans"/>
                <a:cs typeface="Liberation Sans"/>
              </a:rPr>
              <a:t>skills, plugins, conectores, contexto e memória.</a:t>
            </a:r>
          </a:p>
        </p:txBody>
      </p:sp>
      <p:sp>
        <p:nvSpPr>
          <p:cNvPr id="14" name="agenda-number-5">
            <a:extLst xmlns:a="http://schemas.openxmlformats.org/drawingml/2006/main">
              <a:ext uri="{FF2B5EF4-FFF2-40B4-BE49-F238E27FC236}">
                <a16:creationId xmlns:a16="http://schemas.microsoft.com/office/drawing/2014/main" id="{45C89206-0471-4B8F-9B1E-F808CF461F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1381125"/>
            <a:ext cx="400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875" b="1">
                <a:solidFill>
                  <a:srgbClr val="D64826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>
              <a:defRPr sz="1875" b="1">
                <a:solidFill>
                  <a:srgbClr val="D6482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875" b="1">
                <a:solidFill>
                  <a:srgbClr val="D64826"/>
                </a:solidFill>
                <a:latin typeface="Liberation Sans"/>
                <a:ea typeface="Liberation Sans"/>
                <a:cs typeface="Liberation Sans"/>
              </a:rPr>
              <a:t>05</a:t>
            </a:r>
          </a:p>
        </p:txBody>
      </p:sp>
      <p:sp>
        <p:nvSpPr>
          <p:cNvPr id="15" name="agenda-heading-5">
            <a:extLst xmlns:a="http://schemas.openxmlformats.org/drawingml/2006/main">
              <a:ext uri="{FF2B5EF4-FFF2-40B4-BE49-F238E27FC236}">
                <a16:creationId xmlns:a16="http://schemas.microsoft.com/office/drawing/2014/main" id="{BA7F0463-134E-45C8-9897-EADE918123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1381125"/>
            <a:ext cx="4953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875" b="1">
                <a:solidFill>
                  <a:srgbClr val="D64826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>
              <a:defRPr sz="1875" b="1">
                <a:solidFill>
                  <a:srgbClr val="D6482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875" b="1">
                <a:solidFill>
                  <a:srgbClr val="D64826"/>
                </a:solidFill>
                <a:latin typeface="Liberation Sans"/>
                <a:ea typeface="Liberation Sans"/>
                <a:cs typeface="Liberation Sans"/>
              </a:rPr>
              <a:t>Agentes de trabalho</a:t>
            </a:r>
          </a:p>
        </p:txBody>
      </p:sp>
      <p:sp>
        <p:nvSpPr>
          <p:cNvPr id="16" name="agenda-body-5">
            <a:extLst xmlns:a="http://schemas.openxmlformats.org/drawingml/2006/main">
              <a:ext uri="{FF2B5EF4-FFF2-40B4-BE49-F238E27FC236}">
                <a16:creationId xmlns:a16="http://schemas.microsoft.com/office/drawing/2014/main" id="{238A82B6-AC5C-4B93-AC13-03C850259A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1752600"/>
            <a:ext cx="4953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232322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232322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650" b="0">
                <a:solidFill>
                  <a:srgbClr val="232322"/>
                </a:solidFill>
                <a:latin typeface="Liberation Sans"/>
                <a:ea typeface="Liberation Sans"/>
                <a:cs typeface="Liberation Sans"/>
              </a:rPr>
              <a:t>Claude Cowork, ChatGPT Work</a:t>
            </a:r>
          </a:p>
          <a:p xmlns:a="http://schemas.openxmlformats.org/drawingml/2006/main">
            <a:pPr>
              <a:defRPr sz="1650" b="0">
                <a:solidFill>
                  <a:srgbClr val="232322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650" b="0">
                <a:solidFill>
                  <a:srgbClr val="232322"/>
                </a:solidFill>
                <a:latin typeface="Liberation Sans"/>
                <a:ea typeface="Liberation Sans"/>
                <a:cs typeface="Liberation Sans"/>
              </a:rPr>
              <a:t>e Copilot Cowork na rotina.</a:t>
            </a:r>
          </a:p>
        </p:txBody>
      </p:sp>
      <p:sp>
        <p:nvSpPr>
          <p:cNvPr id="17" name="agenda-number-6">
            <a:extLst xmlns:a="http://schemas.openxmlformats.org/drawingml/2006/main">
              <a:ext uri="{FF2B5EF4-FFF2-40B4-BE49-F238E27FC236}">
                <a16:creationId xmlns:a16="http://schemas.microsoft.com/office/drawing/2014/main" id="{FBAEA32E-BB4C-404E-BAF0-A8BB5825C1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514600"/>
            <a:ext cx="400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875" b="1">
                <a:solidFill>
                  <a:srgbClr val="D64826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>
              <a:defRPr sz="1875" b="1">
                <a:solidFill>
                  <a:srgbClr val="D6482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875" b="1">
                <a:solidFill>
                  <a:srgbClr val="D64826"/>
                </a:solidFill>
                <a:latin typeface="Liberation Sans"/>
                <a:ea typeface="Liberation Sans"/>
                <a:cs typeface="Liberation Sans"/>
              </a:rPr>
              <a:t>06</a:t>
            </a:r>
          </a:p>
        </p:txBody>
      </p:sp>
      <p:sp>
        <p:nvSpPr>
          <p:cNvPr id="18" name="agenda-heading-6">
            <a:extLst xmlns:a="http://schemas.openxmlformats.org/drawingml/2006/main">
              <a:ext uri="{FF2B5EF4-FFF2-40B4-BE49-F238E27FC236}">
                <a16:creationId xmlns:a16="http://schemas.microsoft.com/office/drawing/2014/main" id="{08165022-6D8F-418A-B6C9-CEFCE03E82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2514600"/>
            <a:ext cx="4953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875" b="1">
                <a:solidFill>
                  <a:srgbClr val="D64826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>
              <a:defRPr sz="1875" b="1">
                <a:solidFill>
                  <a:srgbClr val="D6482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875" b="1">
                <a:solidFill>
                  <a:srgbClr val="D64826"/>
                </a:solidFill>
                <a:latin typeface="Liberation Sans"/>
                <a:ea typeface="Liberation Sans"/>
                <a:cs typeface="Liberation Sans"/>
              </a:rPr>
              <a:t>Assistentes de IA e continuidade</a:t>
            </a:r>
          </a:p>
        </p:txBody>
      </p:sp>
      <p:sp>
        <p:nvSpPr>
          <p:cNvPr id="19" name="agenda-body-6">
            <a:extLst xmlns:a="http://schemas.openxmlformats.org/drawingml/2006/main">
              <a:ext uri="{FF2B5EF4-FFF2-40B4-BE49-F238E27FC236}">
                <a16:creationId xmlns:a16="http://schemas.microsoft.com/office/drawing/2014/main" id="{86A73045-06D4-4BBA-A276-CFF9D82083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2886075"/>
            <a:ext cx="4953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232322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232322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650" b="0">
                <a:solidFill>
                  <a:srgbClr val="232322"/>
                </a:solidFill>
                <a:latin typeface="Liberation Sans"/>
                <a:ea typeface="Liberation Sans"/>
                <a:cs typeface="Liberation Sans"/>
              </a:rPr>
              <a:t>OpenClaw, Hermes, Muse, dots, Grok Bot e Manus;</a:t>
            </a:r>
          </a:p>
          <a:p xmlns:a="http://schemas.openxmlformats.org/drawingml/2006/main">
            <a:pPr>
              <a:defRPr sz="1650" b="0">
                <a:solidFill>
                  <a:srgbClr val="232322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650" b="0">
                <a:solidFill>
                  <a:srgbClr val="232322"/>
                </a:solidFill>
                <a:latin typeface="Liberation Sans"/>
                <a:ea typeface="Liberation Sans"/>
                <a:cs typeface="Liberation Sans"/>
              </a:rPr>
              <a:t>Cowork e assistentes persistentes.</a:t>
            </a:r>
          </a:p>
        </p:txBody>
      </p:sp>
      <p:sp>
        <p:nvSpPr>
          <p:cNvPr id="20" name="agenda-number-7">
            <a:extLst xmlns:a="http://schemas.openxmlformats.org/drawingml/2006/main">
              <a:ext uri="{FF2B5EF4-FFF2-40B4-BE49-F238E27FC236}">
                <a16:creationId xmlns:a16="http://schemas.microsoft.com/office/drawing/2014/main" id="{380A7215-5480-4944-BDDF-BEA23E5C0E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3648075"/>
            <a:ext cx="400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875" b="1">
                <a:solidFill>
                  <a:srgbClr val="D64826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>
              <a:defRPr sz="1875" b="1">
                <a:solidFill>
                  <a:srgbClr val="D6482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875" b="1">
                <a:solidFill>
                  <a:srgbClr val="D64826"/>
                </a:solidFill>
                <a:latin typeface="Liberation Sans"/>
                <a:ea typeface="Liberation Sans"/>
                <a:cs typeface="Liberation Sans"/>
              </a:rPr>
              <a:t>07</a:t>
            </a:r>
          </a:p>
        </p:txBody>
      </p:sp>
      <p:sp>
        <p:nvSpPr>
          <p:cNvPr id="21" name="agenda-heading-7">
            <a:extLst xmlns:a="http://schemas.openxmlformats.org/drawingml/2006/main">
              <a:ext uri="{FF2B5EF4-FFF2-40B4-BE49-F238E27FC236}">
                <a16:creationId xmlns:a16="http://schemas.microsoft.com/office/drawing/2014/main" id="{F0D784BC-D61A-4D8A-BF74-39C199DFDC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3648075"/>
            <a:ext cx="4953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875" b="1">
                <a:solidFill>
                  <a:srgbClr val="D64826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>
              <a:defRPr sz="1875" b="1">
                <a:solidFill>
                  <a:srgbClr val="D6482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875" b="1">
                <a:solidFill>
                  <a:srgbClr val="D64826"/>
                </a:solidFill>
                <a:latin typeface="Liberation Sans"/>
                <a:ea typeface="Liberation Sans"/>
                <a:cs typeface="Liberation Sans"/>
              </a:rPr>
              <a:t>Demonstrações com ChatGPT e Claude</a:t>
            </a:r>
          </a:p>
        </p:txBody>
      </p:sp>
      <p:sp>
        <p:nvSpPr>
          <p:cNvPr id="22" name="agenda-body-7">
            <a:extLst xmlns:a="http://schemas.openxmlformats.org/drawingml/2006/main">
              <a:ext uri="{FF2B5EF4-FFF2-40B4-BE49-F238E27FC236}">
                <a16:creationId xmlns:a16="http://schemas.microsoft.com/office/drawing/2014/main" id="{14F847EF-19B4-4620-A9E0-02608A69BE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4019550"/>
            <a:ext cx="4953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232322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232322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650" b="0">
                <a:solidFill>
                  <a:srgbClr val="232322"/>
                </a:solidFill>
                <a:latin typeface="Liberation Sans"/>
                <a:ea typeface="Liberation Sans"/>
                <a:cs typeface="Liberation Sans"/>
              </a:rPr>
              <a:t>Reuniões, atas e decisões do dia a dia,</a:t>
            </a:r>
          </a:p>
          <a:p xmlns:a="http://schemas.openxmlformats.org/drawingml/2006/main">
            <a:pPr>
              <a:defRPr sz="1650" b="0">
                <a:solidFill>
                  <a:srgbClr val="232322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650" b="0">
                <a:solidFill>
                  <a:srgbClr val="232322"/>
                </a:solidFill>
                <a:latin typeface="Liberation Sans"/>
                <a:ea typeface="Liberation Sans"/>
                <a:cs typeface="Liberation Sans"/>
              </a:rPr>
              <a:t>com dados fictícios.</a:t>
            </a:r>
          </a:p>
        </p:txBody>
      </p:sp>
      <p:sp>
        <p:nvSpPr>
          <p:cNvPr id="23" name="agenda-number-8">
            <a:extLst xmlns:a="http://schemas.openxmlformats.org/drawingml/2006/main">
              <a:ext uri="{FF2B5EF4-FFF2-40B4-BE49-F238E27FC236}">
                <a16:creationId xmlns:a16="http://schemas.microsoft.com/office/drawing/2014/main" id="{C05A5750-215D-472B-99BD-CF5A7F1FDF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4781550"/>
            <a:ext cx="400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875" b="1">
                <a:solidFill>
                  <a:srgbClr val="D64826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>
              <a:defRPr sz="1875" b="1">
                <a:solidFill>
                  <a:srgbClr val="D6482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875" b="1">
                <a:solidFill>
                  <a:srgbClr val="D64826"/>
                </a:solidFill>
                <a:latin typeface="Liberation Sans"/>
                <a:ea typeface="Liberation Sans"/>
                <a:cs typeface="Liberation Sans"/>
              </a:rPr>
              <a:t>08</a:t>
            </a:r>
          </a:p>
        </p:txBody>
      </p:sp>
      <p:sp>
        <p:nvSpPr>
          <p:cNvPr id="24" name="agenda-heading-8">
            <a:extLst xmlns:a="http://schemas.openxmlformats.org/drawingml/2006/main">
              <a:ext uri="{FF2B5EF4-FFF2-40B4-BE49-F238E27FC236}">
                <a16:creationId xmlns:a16="http://schemas.microsoft.com/office/drawing/2014/main" id="{5E9D3455-3795-4A7E-ADE4-F1AFA9E75B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4781550"/>
            <a:ext cx="4953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875" b="1">
                <a:solidFill>
                  <a:srgbClr val="D64826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>
              <a:defRPr sz="1875" b="1">
                <a:solidFill>
                  <a:srgbClr val="D6482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875" b="1">
                <a:solidFill>
                  <a:srgbClr val="D64826"/>
                </a:solidFill>
                <a:latin typeface="Liberation Sans"/>
                <a:ea typeface="Liberation Sans"/>
                <a:cs typeface="Liberation Sans"/>
              </a:rPr>
              <a:t>Jarvis ao vivo e encerramento</a:t>
            </a:r>
          </a:p>
        </p:txBody>
      </p:sp>
      <p:sp>
        <p:nvSpPr>
          <p:cNvPr id="25" name="agenda-body-8">
            <a:extLst xmlns:a="http://schemas.openxmlformats.org/drawingml/2006/main">
              <a:ext uri="{FF2B5EF4-FFF2-40B4-BE49-F238E27FC236}">
                <a16:creationId xmlns:a16="http://schemas.microsoft.com/office/drawing/2014/main" id="{98FFF1C8-96B4-4029-B16F-C3E69A085F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5153025"/>
            <a:ext cx="4953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232322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232322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650" b="0">
                <a:solidFill>
                  <a:srgbClr val="232322"/>
                </a:solidFill>
                <a:latin typeface="Liberation Sans"/>
                <a:ea typeface="Liberation Sans"/>
                <a:cs typeface="Liberation Sans"/>
              </a:rPr>
              <a:t>Apresentação à plateia e envio real,</a:t>
            </a:r>
          </a:p>
          <a:p xmlns:a="http://schemas.openxmlformats.org/drawingml/2006/main">
            <a:pPr>
              <a:defRPr sz="1650" b="0">
                <a:solidFill>
                  <a:srgbClr val="232322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650" b="0">
                <a:solidFill>
                  <a:srgbClr val="232322"/>
                </a:solidFill>
                <a:latin typeface="Liberation Sans"/>
                <a:ea typeface="Liberation Sans"/>
                <a:cs typeface="Liberation Sans"/>
              </a:rPr>
              <a:t>com conferência e autorização humana.</a:t>
            </a:r>
          </a:p>
        </p:txBody>
      </p:sp>
      <p:sp>
        <p:nvSpPr>
          <p:cNvPr id="26" name="agenda-resources-title">
            <a:extLst xmlns:a="http://schemas.openxmlformats.org/drawingml/2006/main">
              <a:ext uri="{FF2B5EF4-FFF2-40B4-BE49-F238E27FC236}">
                <a16:creationId xmlns:a16="http://schemas.microsoft.com/office/drawing/2014/main" id="{7561CD5C-03C8-48CA-B3D2-6A634230A8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00750"/>
            <a:ext cx="2000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575" b="1">
                <a:solidFill>
                  <a:srgbClr val="216476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>
              <a:defRPr sz="1575" b="1">
                <a:solidFill>
                  <a:srgbClr val="21647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575" b="1">
                <a:solidFill>
                  <a:srgbClr val="216476"/>
                </a:solidFill>
                <a:latin typeface="Liberation Sans"/>
                <a:ea typeface="Liberation Sans"/>
                <a:cs typeface="Liberation Sans"/>
              </a:rPr>
              <a:t>Material de apoio</a:t>
            </a:r>
          </a:p>
        </p:txBody>
      </p:sp>
      <p:sp>
        <p:nvSpPr>
          <p:cNvPr id="27" name="agenda-resources-body">
            <a:extLst xmlns:a="http://schemas.openxmlformats.org/drawingml/2006/main">
              <a:ext uri="{FF2B5EF4-FFF2-40B4-BE49-F238E27FC236}">
                <a16:creationId xmlns:a16="http://schemas.microsoft.com/office/drawing/2014/main" id="{463CB3FE-599E-479F-8C3F-52B4FD1610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6000750"/>
            <a:ext cx="9096375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425" b="0">
                <a:solidFill>
                  <a:srgbClr val="666660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>
              <a:defRPr sz="1425" b="0">
                <a:solidFill>
                  <a:srgbClr val="666660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425" b="0">
                <a:solidFill>
                  <a:srgbClr val="666660"/>
                </a:solidFill>
                <a:latin typeface="Liberation Sans"/>
                <a:ea typeface="Liberation Sans"/>
                <a:cs typeface="Liberation Sans"/>
              </a:rPr>
              <a:t>Ferramentas extras, aprendizagem e fontes sobre mercado, Brasil, trabalho,</a:t>
            </a:r>
          </a:p>
          <a:p xmlns:a="http://schemas.openxmlformats.org/drawingml/2006/main">
            <a:pPr>
              <a:defRPr sz="1425" b="0">
                <a:solidFill>
                  <a:srgbClr val="666660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425" b="0">
                <a:solidFill>
                  <a:srgbClr val="666660"/>
                </a:solidFill>
                <a:latin typeface="Liberation Sans"/>
                <a:ea typeface="Liberation Sans"/>
                <a:cs typeface="Liberation Sans"/>
              </a:rPr>
              <a:t>evolução da IA, produtos, superinteligência e riscos.</a:t>
            </a:r>
          </a:p>
        </p:txBody>
      </p:sp>
      <p:sp>
        <p:nvSpPr>
          <p:cNvPr id="28" name="agenda-page">
            <a:extLst xmlns:a="http://schemas.openxmlformats.org/drawingml/2006/main">
              <a:ext uri="{FF2B5EF4-FFF2-40B4-BE49-F238E27FC236}">
                <a16:creationId xmlns:a16="http://schemas.microsoft.com/office/drawing/2014/main" id="{DDD60DB7-F417-4A63-9BBC-DAB9FA339E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515100"/>
            <a:ext cx="3333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050" b="0">
                <a:solidFill>
                  <a:srgbClr val="8A8882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>
              <a:defRPr sz="1050" b="0">
                <a:solidFill>
                  <a:srgbClr val="8A8882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050" b="0">
                <a:solidFill>
                  <a:srgbClr val="8A8882"/>
                </a:solidFill>
                <a:latin typeface="Liberation Sans"/>
                <a:ea typeface="Liberation Sans"/>
                <a:cs typeface="Liberation Sans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135405558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114</TotalTime>
  <Words>14012</Words>
  <Application>Microsoft Office PowerPoint</Application>
  <DocSecurity>0</DocSecurity>
  <PresentationFormat>Widescreen</PresentationFormat>
  <Paragraphs>834</Paragraphs>
  <Slides>24</Slides>
  <Notes>23</Notes>
  <HiddenSlides>1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7" baseType="lpstr">
      <vt:lpstr>Calibri</vt:lpstr>
      <vt:lpstr>Liberation Sans</vt:lpstr>
      <vt:lpstr>ChatGPT</vt:lpstr>
      <vt:lpstr>PowerPoint Presentation</vt:lpstr>
      <vt:lpstr>PowerPoint Presentation</vt:lpstr>
      <vt:lpstr>Agenda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A evolução da IA generativa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Fontes: superinteligência e trabalho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Lawrence Teixeira</cp:lastModifiedBy>
  <cp:revision>1</cp:revision>
  <dcterms:created xsi:type="dcterms:W3CDTF">2026-10-07T15:00:55Z</dcterms:created>
  <dcterms:modified xsi:type="dcterms:W3CDTF">2026-10-15T10:13:02Z</dcterms:modified>
</cp:coreProperties>
</file>